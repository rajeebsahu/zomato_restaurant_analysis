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8300700" cy="10299700"/>
  <p:notesSz cx="18300700" cy="102997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514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2552" y="3192907"/>
            <a:ext cx="15555595" cy="2162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5105" y="5767832"/>
            <a:ext cx="12810490" cy="25749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F2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F2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5035" y="2368931"/>
            <a:ext cx="7960804" cy="67978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24860" y="2368931"/>
            <a:ext cx="7960804" cy="67978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8/21/2024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F2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8/21/2024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8/21/2024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1231" y="204317"/>
            <a:ext cx="2588260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F2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58547" y="2418461"/>
            <a:ext cx="15983605" cy="2844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5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22238" y="9578721"/>
            <a:ext cx="5856224" cy="514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5035" y="9578721"/>
            <a:ext cx="4209161" cy="514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76505" y="9578721"/>
            <a:ext cx="4209161" cy="514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800594" y="0"/>
            <a:ext cx="10488295" cy="10287000"/>
          </a:xfrm>
          <a:custGeom>
            <a:avLst/>
            <a:gdLst/>
            <a:ahLst/>
            <a:cxnLst/>
            <a:rect l="l" t="t" r="r" b="b"/>
            <a:pathLst>
              <a:path w="10488294" h="10287000">
                <a:moveTo>
                  <a:pt x="10487914" y="0"/>
                </a:moveTo>
                <a:lnTo>
                  <a:pt x="0" y="0"/>
                </a:lnTo>
                <a:lnTo>
                  <a:pt x="0" y="10287000"/>
                </a:lnTo>
                <a:lnTo>
                  <a:pt x="10487914" y="10287000"/>
                </a:lnTo>
                <a:lnTo>
                  <a:pt x="1048791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018309" y="2722467"/>
            <a:ext cx="10092690" cy="276733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712085" marR="5080" indent="-2700020">
              <a:lnSpc>
                <a:spcPct val="100600"/>
              </a:lnSpc>
              <a:spcBef>
                <a:spcPts val="75"/>
              </a:spcBef>
            </a:pPr>
            <a:r>
              <a:rPr sz="8950" spc="25" dirty="0">
                <a:solidFill>
                  <a:srgbClr val="FE0000"/>
                </a:solidFill>
                <a:latin typeface="Cambria"/>
                <a:cs typeface="Cambria"/>
              </a:rPr>
              <a:t>Zomato</a:t>
            </a:r>
            <a:r>
              <a:rPr sz="8950" spc="70" dirty="0">
                <a:solidFill>
                  <a:srgbClr val="FE0000"/>
                </a:solidFill>
                <a:latin typeface="Cambria"/>
                <a:cs typeface="Cambria"/>
              </a:rPr>
              <a:t> </a:t>
            </a:r>
            <a:r>
              <a:rPr sz="8950" spc="-15" dirty="0">
                <a:solidFill>
                  <a:srgbClr val="FE0000"/>
                </a:solidFill>
                <a:latin typeface="Cambria"/>
                <a:cs typeface="Cambria"/>
              </a:rPr>
              <a:t>Restaurant </a:t>
            </a:r>
            <a:r>
              <a:rPr sz="8950" spc="-1955" dirty="0">
                <a:solidFill>
                  <a:srgbClr val="FE0000"/>
                </a:solidFill>
                <a:latin typeface="Cambria"/>
                <a:cs typeface="Cambria"/>
              </a:rPr>
              <a:t> </a:t>
            </a:r>
            <a:r>
              <a:rPr sz="8950" spc="5" dirty="0">
                <a:solidFill>
                  <a:srgbClr val="FE0000"/>
                </a:solidFill>
                <a:latin typeface="Cambria"/>
                <a:cs typeface="Cambria"/>
              </a:rPr>
              <a:t>Analysis</a:t>
            </a:r>
            <a:endParaRPr sz="895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48748" y="5727377"/>
            <a:ext cx="5920105" cy="154876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5150" b="1" spc="-65" dirty="0">
                <a:solidFill>
                  <a:srgbClr val="FFFFFF"/>
                </a:solidFill>
                <a:latin typeface="Cambria"/>
                <a:cs typeface="Cambria"/>
              </a:rPr>
              <a:t>Rajeeb</a:t>
            </a:r>
            <a:r>
              <a:rPr sz="5150" b="1" spc="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5150" b="1" spc="5" dirty="0">
                <a:solidFill>
                  <a:srgbClr val="FFFFFF"/>
                </a:solidFill>
                <a:latin typeface="Cambria"/>
                <a:cs typeface="Cambria"/>
              </a:rPr>
              <a:t>Kumar</a:t>
            </a:r>
            <a:r>
              <a:rPr sz="5150" b="1" spc="-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5150" b="1" spc="60" dirty="0">
                <a:solidFill>
                  <a:srgbClr val="FFFFFF"/>
                </a:solidFill>
                <a:latin typeface="Cambria"/>
                <a:cs typeface="Cambria"/>
              </a:rPr>
              <a:t>Sahu</a:t>
            </a:r>
            <a:endParaRPr sz="5150">
              <a:latin typeface="Cambria"/>
              <a:cs typeface="Cambria"/>
            </a:endParaRPr>
          </a:p>
          <a:p>
            <a:pPr marR="665480" algn="ctr">
              <a:lnSpc>
                <a:spcPct val="100000"/>
              </a:lnSpc>
              <a:spcBef>
                <a:spcPts val="445"/>
              </a:spcBef>
            </a:pPr>
            <a:r>
              <a:rPr sz="4000" spc="-750" dirty="0">
                <a:solidFill>
                  <a:srgbClr val="EDE9E9"/>
                </a:solidFill>
                <a:latin typeface="Verdana"/>
                <a:cs typeface="Verdana"/>
              </a:rPr>
              <a:t>1</a:t>
            </a:r>
            <a:r>
              <a:rPr sz="4000" spc="-145" dirty="0">
                <a:solidFill>
                  <a:srgbClr val="EDE9E9"/>
                </a:solidFill>
                <a:latin typeface="Verdana"/>
                <a:cs typeface="Verdana"/>
              </a:rPr>
              <a:t>6</a:t>
            </a:r>
            <a:r>
              <a:rPr sz="4000" spc="-295" dirty="0">
                <a:solidFill>
                  <a:srgbClr val="EDE9E9"/>
                </a:solidFill>
                <a:latin typeface="Verdana"/>
                <a:cs typeface="Verdana"/>
              </a:rPr>
              <a:t> </a:t>
            </a:r>
            <a:r>
              <a:rPr sz="4000" spc="40" dirty="0">
                <a:solidFill>
                  <a:srgbClr val="EDE9E9"/>
                </a:solidFill>
                <a:latin typeface="Verdana"/>
                <a:cs typeface="Verdana"/>
              </a:rPr>
              <a:t>A</a:t>
            </a:r>
            <a:r>
              <a:rPr sz="4000" spc="-55" dirty="0">
                <a:solidFill>
                  <a:srgbClr val="EDE9E9"/>
                </a:solidFill>
                <a:latin typeface="Verdana"/>
                <a:cs typeface="Verdana"/>
              </a:rPr>
              <a:t>u</a:t>
            </a:r>
            <a:r>
              <a:rPr sz="4000" spc="-20" dirty="0">
                <a:solidFill>
                  <a:srgbClr val="EDE9E9"/>
                </a:solidFill>
                <a:latin typeface="Verdana"/>
                <a:cs typeface="Verdana"/>
              </a:rPr>
              <a:t>g</a:t>
            </a:r>
            <a:r>
              <a:rPr sz="4000" spc="-55" dirty="0">
                <a:solidFill>
                  <a:srgbClr val="EDE9E9"/>
                </a:solidFill>
                <a:latin typeface="Verdana"/>
                <a:cs typeface="Verdana"/>
              </a:rPr>
              <a:t>u</a:t>
            </a:r>
            <a:r>
              <a:rPr sz="4000" spc="-330" dirty="0">
                <a:solidFill>
                  <a:srgbClr val="EDE9E9"/>
                </a:solidFill>
                <a:latin typeface="Verdana"/>
                <a:cs typeface="Verdana"/>
              </a:rPr>
              <a:t>s</a:t>
            </a:r>
            <a:r>
              <a:rPr sz="4000" spc="150" dirty="0">
                <a:solidFill>
                  <a:srgbClr val="EDE9E9"/>
                </a:solidFill>
                <a:latin typeface="Verdana"/>
                <a:cs typeface="Verdana"/>
              </a:rPr>
              <a:t>t</a:t>
            </a:r>
            <a:r>
              <a:rPr sz="4000" spc="-365" dirty="0">
                <a:solidFill>
                  <a:srgbClr val="EDE9E9"/>
                </a:solidFill>
                <a:latin typeface="Verdana"/>
                <a:cs typeface="Verdana"/>
              </a:rPr>
              <a:t>,</a:t>
            </a:r>
            <a:r>
              <a:rPr sz="4000" spc="-295" dirty="0">
                <a:solidFill>
                  <a:srgbClr val="EDE9E9"/>
                </a:solidFill>
                <a:latin typeface="Verdana"/>
                <a:cs typeface="Verdana"/>
              </a:rPr>
              <a:t> </a:t>
            </a:r>
            <a:r>
              <a:rPr sz="4000" spc="-180" dirty="0">
                <a:solidFill>
                  <a:srgbClr val="EDE9E9"/>
                </a:solidFill>
                <a:latin typeface="Verdana"/>
                <a:cs typeface="Verdana"/>
              </a:rPr>
              <a:t>2</a:t>
            </a:r>
            <a:r>
              <a:rPr sz="4000" spc="-50" dirty="0">
                <a:solidFill>
                  <a:srgbClr val="EDE9E9"/>
                </a:solidFill>
                <a:latin typeface="Verdana"/>
                <a:cs typeface="Verdana"/>
              </a:rPr>
              <a:t>0</a:t>
            </a:r>
            <a:r>
              <a:rPr sz="4000" spc="-415" dirty="0">
                <a:solidFill>
                  <a:srgbClr val="EDE9E9"/>
                </a:solidFill>
                <a:latin typeface="Verdana"/>
                <a:cs typeface="Verdana"/>
              </a:rPr>
              <a:t>2</a:t>
            </a:r>
            <a:r>
              <a:rPr sz="4000" spc="-20" dirty="0">
                <a:solidFill>
                  <a:srgbClr val="EDE9E9"/>
                </a:solidFill>
                <a:latin typeface="Verdana"/>
                <a:cs typeface="Verdana"/>
              </a:rPr>
              <a:t>4</a:t>
            </a:r>
            <a:endParaRPr sz="4000">
              <a:latin typeface="Verdana"/>
              <a:cs typeface="Verdan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1226" y="2086788"/>
            <a:ext cx="7000875" cy="68580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4449" y="286664"/>
            <a:ext cx="7153275" cy="1638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7756" y="912342"/>
            <a:ext cx="104775" cy="104775"/>
          </a:xfrm>
          <a:custGeom>
            <a:avLst/>
            <a:gdLst/>
            <a:ahLst/>
            <a:cxnLst/>
            <a:rect l="l" t="t" r="r" b="b"/>
            <a:pathLst>
              <a:path w="104775" h="104775">
                <a:moveTo>
                  <a:pt x="55825" y="0"/>
                </a:moveTo>
                <a:lnTo>
                  <a:pt x="48949" y="0"/>
                </a:lnTo>
                <a:lnTo>
                  <a:pt x="45542" y="330"/>
                </a:lnTo>
                <a:lnTo>
                  <a:pt x="10740" y="20421"/>
                </a:lnTo>
                <a:lnTo>
                  <a:pt x="0" y="48945"/>
                </a:lnTo>
                <a:lnTo>
                  <a:pt x="0" y="55816"/>
                </a:lnTo>
                <a:lnTo>
                  <a:pt x="17774" y="91859"/>
                </a:lnTo>
                <a:lnTo>
                  <a:pt x="48949" y="104775"/>
                </a:lnTo>
                <a:lnTo>
                  <a:pt x="55825" y="104775"/>
                </a:lnTo>
                <a:lnTo>
                  <a:pt x="91861" y="86995"/>
                </a:lnTo>
                <a:lnTo>
                  <a:pt x="104775" y="55816"/>
                </a:lnTo>
                <a:lnTo>
                  <a:pt x="104775" y="52387"/>
                </a:lnTo>
                <a:lnTo>
                  <a:pt x="104775" y="48945"/>
                </a:lnTo>
                <a:lnTo>
                  <a:pt x="87000" y="12903"/>
                </a:lnTo>
                <a:lnTo>
                  <a:pt x="59234" y="330"/>
                </a:lnTo>
                <a:lnTo>
                  <a:pt x="558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87756" y="3131667"/>
            <a:ext cx="104775" cy="104775"/>
          </a:xfrm>
          <a:custGeom>
            <a:avLst/>
            <a:gdLst/>
            <a:ahLst/>
            <a:cxnLst/>
            <a:rect l="l" t="t" r="r" b="b"/>
            <a:pathLst>
              <a:path w="104775" h="104775">
                <a:moveTo>
                  <a:pt x="55825" y="0"/>
                </a:moveTo>
                <a:lnTo>
                  <a:pt x="48949" y="0"/>
                </a:lnTo>
                <a:lnTo>
                  <a:pt x="45542" y="330"/>
                </a:lnTo>
                <a:lnTo>
                  <a:pt x="10740" y="20421"/>
                </a:lnTo>
                <a:lnTo>
                  <a:pt x="0" y="48945"/>
                </a:lnTo>
                <a:lnTo>
                  <a:pt x="0" y="55816"/>
                </a:lnTo>
                <a:lnTo>
                  <a:pt x="17774" y="91859"/>
                </a:lnTo>
                <a:lnTo>
                  <a:pt x="48949" y="104775"/>
                </a:lnTo>
                <a:lnTo>
                  <a:pt x="55825" y="104775"/>
                </a:lnTo>
                <a:lnTo>
                  <a:pt x="91861" y="86995"/>
                </a:lnTo>
                <a:lnTo>
                  <a:pt x="104775" y="55816"/>
                </a:lnTo>
                <a:lnTo>
                  <a:pt x="104775" y="52387"/>
                </a:lnTo>
                <a:lnTo>
                  <a:pt x="104775" y="48945"/>
                </a:lnTo>
                <a:lnTo>
                  <a:pt x="87000" y="12903"/>
                </a:lnTo>
                <a:lnTo>
                  <a:pt x="59234" y="330"/>
                </a:lnTo>
                <a:lnTo>
                  <a:pt x="558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87756" y="5446242"/>
            <a:ext cx="104775" cy="104775"/>
          </a:xfrm>
          <a:custGeom>
            <a:avLst/>
            <a:gdLst/>
            <a:ahLst/>
            <a:cxnLst/>
            <a:rect l="l" t="t" r="r" b="b"/>
            <a:pathLst>
              <a:path w="104775" h="104775">
                <a:moveTo>
                  <a:pt x="55825" y="0"/>
                </a:moveTo>
                <a:lnTo>
                  <a:pt x="48949" y="0"/>
                </a:lnTo>
                <a:lnTo>
                  <a:pt x="45542" y="330"/>
                </a:lnTo>
                <a:lnTo>
                  <a:pt x="10740" y="20421"/>
                </a:lnTo>
                <a:lnTo>
                  <a:pt x="0" y="48945"/>
                </a:lnTo>
                <a:lnTo>
                  <a:pt x="0" y="55816"/>
                </a:lnTo>
                <a:lnTo>
                  <a:pt x="17774" y="91859"/>
                </a:lnTo>
                <a:lnTo>
                  <a:pt x="48949" y="104775"/>
                </a:lnTo>
                <a:lnTo>
                  <a:pt x="55825" y="104775"/>
                </a:lnTo>
                <a:lnTo>
                  <a:pt x="91861" y="86995"/>
                </a:lnTo>
                <a:lnTo>
                  <a:pt x="104775" y="55816"/>
                </a:lnTo>
                <a:lnTo>
                  <a:pt x="104775" y="52387"/>
                </a:lnTo>
                <a:lnTo>
                  <a:pt x="104775" y="48945"/>
                </a:lnTo>
                <a:lnTo>
                  <a:pt x="87000" y="12903"/>
                </a:lnTo>
                <a:lnTo>
                  <a:pt x="59234" y="330"/>
                </a:lnTo>
                <a:lnTo>
                  <a:pt x="558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87756" y="7217892"/>
            <a:ext cx="104775" cy="104775"/>
          </a:xfrm>
          <a:custGeom>
            <a:avLst/>
            <a:gdLst/>
            <a:ahLst/>
            <a:cxnLst/>
            <a:rect l="l" t="t" r="r" b="b"/>
            <a:pathLst>
              <a:path w="104775" h="104775">
                <a:moveTo>
                  <a:pt x="55825" y="0"/>
                </a:moveTo>
                <a:lnTo>
                  <a:pt x="48949" y="0"/>
                </a:lnTo>
                <a:lnTo>
                  <a:pt x="45542" y="330"/>
                </a:lnTo>
                <a:lnTo>
                  <a:pt x="10740" y="20421"/>
                </a:lnTo>
                <a:lnTo>
                  <a:pt x="0" y="48945"/>
                </a:lnTo>
                <a:lnTo>
                  <a:pt x="0" y="55816"/>
                </a:lnTo>
                <a:lnTo>
                  <a:pt x="17774" y="91859"/>
                </a:lnTo>
                <a:lnTo>
                  <a:pt x="52387" y="104775"/>
                </a:lnTo>
                <a:lnTo>
                  <a:pt x="55825" y="104762"/>
                </a:lnTo>
                <a:lnTo>
                  <a:pt x="91861" y="86995"/>
                </a:lnTo>
                <a:lnTo>
                  <a:pt x="104775" y="55816"/>
                </a:lnTo>
                <a:lnTo>
                  <a:pt x="104775" y="52387"/>
                </a:lnTo>
                <a:lnTo>
                  <a:pt x="104775" y="48945"/>
                </a:lnTo>
                <a:lnTo>
                  <a:pt x="87000" y="12903"/>
                </a:lnTo>
                <a:lnTo>
                  <a:pt x="59234" y="330"/>
                </a:lnTo>
                <a:lnTo>
                  <a:pt x="558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87756" y="8551392"/>
            <a:ext cx="104775" cy="104775"/>
          </a:xfrm>
          <a:custGeom>
            <a:avLst/>
            <a:gdLst/>
            <a:ahLst/>
            <a:cxnLst/>
            <a:rect l="l" t="t" r="r" b="b"/>
            <a:pathLst>
              <a:path w="104775" h="104775">
                <a:moveTo>
                  <a:pt x="104775" y="48945"/>
                </a:moveTo>
                <a:lnTo>
                  <a:pt x="86995" y="12903"/>
                </a:lnTo>
                <a:lnTo>
                  <a:pt x="55816" y="0"/>
                </a:lnTo>
                <a:lnTo>
                  <a:pt x="48945" y="0"/>
                </a:lnTo>
                <a:lnTo>
                  <a:pt x="12903" y="17767"/>
                </a:lnTo>
                <a:lnTo>
                  <a:pt x="0" y="48945"/>
                </a:lnTo>
                <a:lnTo>
                  <a:pt x="0" y="55816"/>
                </a:lnTo>
                <a:lnTo>
                  <a:pt x="17767" y="91859"/>
                </a:lnTo>
                <a:lnTo>
                  <a:pt x="48945" y="104762"/>
                </a:lnTo>
                <a:lnTo>
                  <a:pt x="55816" y="104762"/>
                </a:lnTo>
                <a:lnTo>
                  <a:pt x="91859" y="86995"/>
                </a:lnTo>
                <a:lnTo>
                  <a:pt x="104775" y="55816"/>
                </a:lnTo>
                <a:lnTo>
                  <a:pt x="104775" y="52387"/>
                </a:lnTo>
                <a:lnTo>
                  <a:pt x="104775" y="489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Int</a:t>
            </a:r>
            <a:r>
              <a:rPr spc="-114" dirty="0"/>
              <a:t>r</a:t>
            </a:r>
            <a:r>
              <a:rPr spc="140" dirty="0"/>
              <a:t>odu</a:t>
            </a:r>
            <a:r>
              <a:rPr spc="135" dirty="0"/>
              <a:t>c</a:t>
            </a:r>
            <a:r>
              <a:rPr spc="-35" dirty="0"/>
              <a:t>tion:</a:t>
            </a:r>
          </a:p>
        </p:txBody>
      </p:sp>
      <p:sp>
        <p:nvSpPr>
          <p:cNvPr id="8" name="object 8"/>
          <p:cNvSpPr/>
          <p:nvPr/>
        </p:nvSpPr>
        <p:spPr>
          <a:xfrm>
            <a:off x="387756" y="912342"/>
            <a:ext cx="104775" cy="104775"/>
          </a:xfrm>
          <a:custGeom>
            <a:avLst/>
            <a:gdLst/>
            <a:ahLst/>
            <a:cxnLst/>
            <a:rect l="l" t="t" r="r" b="b"/>
            <a:pathLst>
              <a:path w="104775" h="104775">
                <a:moveTo>
                  <a:pt x="55825" y="0"/>
                </a:moveTo>
                <a:lnTo>
                  <a:pt x="48949" y="0"/>
                </a:lnTo>
                <a:lnTo>
                  <a:pt x="45542" y="330"/>
                </a:lnTo>
                <a:lnTo>
                  <a:pt x="10740" y="20421"/>
                </a:lnTo>
                <a:lnTo>
                  <a:pt x="0" y="48945"/>
                </a:lnTo>
                <a:lnTo>
                  <a:pt x="0" y="55816"/>
                </a:lnTo>
                <a:lnTo>
                  <a:pt x="17774" y="91859"/>
                </a:lnTo>
                <a:lnTo>
                  <a:pt x="48949" y="104775"/>
                </a:lnTo>
                <a:lnTo>
                  <a:pt x="55825" y="104775"/>
                </a:lnTo>
                <a:lnTo>
                  <a:pt x="91861" y="86995"/>
                </a:lnTo>
                <a:lnTo>
                  <a:pt x="104775" y="55816"/>
                </a:lnTo>
                <a:lnTo>
                  <a:pt x="104775" y="52387"/>
                </a:lnTo>
                <a:lnTo>
                  <a:pt x="104775" y="48945"/>
                </a:lnTo>
                <a:lnTo>
                  <a:pt x="87000" y="12903"/>
                </a:lnTo>
                <a:lnTo>
                  <a:pt x="59234" y="330"/>
                </a:lnTo>
                <a:lnTo>
                  <a:pt x="558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87756" y="3131667"/>
            <a:ext cx="104775" cy="104775"/>
          </a:xfrm>
          <a:custGeom>
            <a:avLst/>
            <a:gdLst/>
            <a:ahLst/>
            <a:cxnLst/>
            <a:rect l="l" t="t" r="r" b="b"/>
            <a:pathLst>
              <a:path w="104775" h="104775">
                <a:moveTo>
                  <a:pt x="55825" y="0"/>
                </a:moveTo>
                <a:lnTo>
                  <a:pt x="48949" y="0"/>
                </a:lnTo>
                <a:lnTo>
                  <a:pt x="45542" y="330"/>
                </a:lnTo>
                <a:lnTo>
                  <a:pt x="10740" y="20421"/>
                </a:lnTo>
                <a:lnTo>
                  <a:pt x="0" y="48945"/>
                </a:lnTo>
                <a:lnTo>
                  <a:pt x="0" y="55816"/>
                </a:lnTo>
                <a:lnTo>
                  <a:pt x="17774" y="91859"/>
                </a:lnTo>
                <a:lnTo>
                  <a:pt x="48949" y="104775"/>
                </a:lnTo>
                <a:lnTo>
                  <a:pt x="55825" y="104775"/>
                </a:lnTo>
                <a:lnTo>
                  <a:pt x="91861" y="86995"/>
                </a:lnTo>
                <a:lnTo>
                  <a:pt x="104775" y="55816"/>
                </a:lnTo>
                <a:lnTo>
                  <a:pt x="104775" y="52387"/>
                </a:lnTo>
                <a:lnTo>
                  <a:pt x="104775" y="48945"/>
                </a:lnTo>
                <a:lnTo>
                  <a:pt x="87000" y="12903"/>
                </a:lnTo>
                <a:lnTo>
                  <a:pt x="59234" y="330"/>
                </a:lnTo>
                <a:lnTo>
                  <a:pt x="558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87756" y="5446242"/>
            <a:ext cx="104775" cy="104775"/>
          </a:xfrm>
          <a:custGeom>
            <a:avLst/>
            <a:gdLst/>
            <a:ahLst/>
            <a:cxnLst/>
            <a:rect l="l" t="t" r="r" b="b"/>
            <a:pathLst>
              <a:path w="104775" h="104775">
                <a:moveTo>
                  <a:pt x="55825" y="0"/>
                </a:moveTo>
                <a:lnTo>
                  <a:pt x="48949" y="0"/>
                </a:lnTo>
                <a:lnTo>
                  <a:pt x="45542" y="330"/>
                </a:lnTo>
                <a:lnTo>
                  <a:pt x="10740" y="20421"/>
                </a:lnTo>
                <a:lnTo>
                  <a:pt x="0" y="48945"/>
                </a:lnTo>
                <a:lnTo>
                  <a:pt x="0" y="55816"/>
                </a:lnTo>
                <a:lnTo>
                  <a:pt x="17774" y="91859"/>
                </a:lnTo>
                <a:lnTo>
                  <a:pt x="48949" y="104775"/>
                </a:lnTo>
                <a:lnTo>
                  <a:pt x="55825" y="104775"/>
                </a:lnTo>
                <a:lnTo>
                  <a:pt x="91861" y="86995"/>
                </a:lnTo>
                <a:lnTo>
                  <a:pt x="104775" y="55816"/>
                </a:lnTo>
                <a:lnTo>
                  <a:pt x="104775" y="52387"/>
                </a:lnTo>
                <a:lnTo>
                  <a:pt x="104775" y="48945"/>
                </a:lnTo>
                <a:lnTo>
                  <a:pt x="87000" y="12903"/>
                </a:lnTo>
                <a:lnTo>
                  <a:pt x="59234" y="330"/>
                </a:lnTo>
                <a:lnTo>
                  <a:pt x="558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87756" y="7217892"/>
            <a:ext cx="104775" cy="104775"/>
          </a:xfrm>
          <a:custGeom>
            <a:avLst/>
            <a:gdLst/>
            <a:ahLst/>
            <a:cxnLst/>
            <a:rect l="l" t="t" r="r" b="b"/>
            <a:pathLst>
              <a:path w="104775" h="104775">
                <a:moveTo>
                  <a:pt x="55825" y="0"/>
                </a:moveTo>
                <a:lnTo>
                  <a:pt x="48949" y="0"/>
                </a:lnTo>
                <a:lnTo>
                  <a:pt x="45542" y="330"/>
                </a:lnTo>
                <a:lnTo>
                  <a:pt x="10740" y="20421"/>
                </a:lnTo>
                <a:lnTo>
                  <a:pt x="0" y="48945"/>
                </a:lnTo>
                <a:lnTo>
                  <a:pt x="0" y="55816"/>
                </a:lnTo>
                <a:lnTo>
                  <a:pt x="17774" y="91859"/>
                </a:lnTo>
                <a:lnTo>
                  <a:pt x="52387" y="104775"/>
                </a:lnTo>
                <a:lnTo>
                  <a:pt x="55825" y="104762"/>
                </a:lnTo>
                <a:lnTo>
                  <a:pt x="91861" y="86995"/>
                </a:lnTo>
                <a:lnTo>
                  <a:pt x="104775" y="55816"/>
                </a:lnTo>
                <a:lnTo>
                  <a:pt x="104775" y="52387"/>
                </a:lnTo>
                <a:lnTo>
                  <a:pt x="104775" y="48945"/>
                </a:lnTo>
                <a:lnTo>
                  <a:pt x="87000" y="12903"/>
                </a:lnTo>
                <a:lnTo>
                  <a:pt x="59234" y="330"/>
                </a:lnTo>
                <a:lnTo>
                  <a:pt x="558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51231" y="657931"/>
            <a:ext cx="8441919" cy="945578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400685" marR="5080" algn="just">
              <a:lnSpc>
                <a:spcPct val="116199"/>
              </a:lnSpc>
              <a:spcBef>
                <a:spcPts val="155"/>
              </a:spcBef>
              <a:tabLst>
                <a:tab pos="1422400" algn="l"/>
                <a:tab pos="2113915" algn="l"/>
                <a:tab pos="2200910" algn="l"/>
                <a:tab pos="2764155" algn="l"/>
                <a:tab pos="2964815" algn="l"/>
                <a:tab pos="3102610" algn="l"/>
                <a:tab pos="4578985" algn="l"/>
                <a:tab pos="4661535" algn="l"/>
                <a:tab pos="4871085" algn="l"/>
                <a:tab pos="5496560" algn="l"/>
                <a:tab pos="6017895" algn="l"/>
                <a:tab pos="6127115" algn="l"/>
                <a:tab pos="6891655" algn="l"/>
                <a:tab pos="7082790" algn="l"/>
              </a:tabLst>
            </a:pPr>
            <a:r>
              <a:rPr sz="2550" b="1" i="1" spc="-120" dirty="0">
                <a:latin typeface="Verdana"/>
                <a:cs typeface="Verdana"/>
              </a:rPr>
              <a:t>H</a:t>
            </a:r>
            <a:r>
              <a:rPr sz="2550" b="1" i="1" spc="-145" dirty="0">
                <a:latin typeface="Verdana"/>
                <a:cs typeface="Verdana"/>
              </a:rPr>
              <a:t>oo</a:t>
            </a:r>
            <a:r>
              <a:rPr sz="2550" b="1" i="1" spc="-130" dirty="0">
                <a:latin typeface="Verdana"/>
                <a:cs typeface="Verdana"/>
              </a:rPr>
              <a:t>k</a:t>
            </a:r>
            <a:r>
              <a:rPr sz="2550" b="1" i="1" spc="-420" dirty="0">
                <a:latin typeface="Verdana"/>
                <a:cs typeface="Verdana"/>
              </a:rPr>
              <a:t>:</a:t>
            </a:r>
            <a:r>
              <a:rPr sz="2550" b="1" i="1" spc="-85" dirty="0">
                <a:latin typeface="Verdana"/>
                <a:cs typeface="Verdana"/>
              </a:rPr>
              <a:t> </a:t>
            </a:r>
            <a:r>
              <a:rPr sz="2500" spc="-225" dirty="0">
                <a:latin typeface="Verdana"/>
                <a:cs typeface="Verdana"/>
              </a:rPr>
              <a:t>"</a:t>
            </a:r>
            <a:r>
              <a:rPr sz="2500" spc="125" dirty="0">
                <a:latin typeface="Verdana"/>
                <a:cs typeface="Verdana"/>
              </a:rPr>
              <a:t>D</a:t>
            </a:r>
            <a:r>
              <a:rPr sz="2500" spc="-20" dirty="0">
                <a:latin typeface="Verdana"/>
                <a:cs typeface="Verdana"/>
              </a:rPr>
              <a:t>i</a:t>
            </a:r>
            <a:r>
              <a:rPr sz="2500" spc="130" dirty="0">
                <a:latin typeface="Verdana"/>
                <a:cs typeface="Verdana"/>
              </a:rPr>
              <a:t>d</a:t>
            </a:r>
            <a:r>
              <a:rPr sz="2500" spc="-95" dirty="0">
                <a:latin typeface="Verdana"/>
                <a:cs typeface="Verdana"/>
              </a:rPr>
              <a:t> </a:t>
            </a:r>
            <a:r>
              <a:rPr sz="2500" spc="-170" dirty="0">
                <a:latin typeface="Verdana"/>
                <a:cs typeface="Verdana"/>
              </a:rPr>
              <a:t>y</a:t>
            </a:r>
            <a:r>
              <a:rPr sz="2500" spc="40" dirty="0">
                <a:latin typeface="Verdana"/>
                <a:cs typeface="Verdana"/>
              </a:rPr>
              <a:t>o</a:t>
            </a:r>
            <a:r>
              <a:rPr sz="2500" spc="90" dirty="0">
                <a:latin typeface="Verdana"/>
                <a:cs typeface="Verdana"/>
              </a:rPr>
              <a:t>u</a:t>
            </a:r>
            <a:r>
              <a:rPr sz="2500" spc="-95" dirty="0">
                <a:latin typeface="Verdana"/>
                <a:cs typeface="Verdana"/>
              </a:rPr>
              <a:t> </a:t>
            </a:r>
            <a:r>
              <a:rPr sz="2500" spc="-5" dirty="0">
                <a:latin typeface="Verdana"/>
                <a:cs typeface="Verdana"/>
              </a:rPr>
              <a:t>k</a:t>
            </a:r>
            <a:r>
              <a:rPr sz="2500" spc="95" dirty="0">
                <a:latin typeface="Verdana"/>
                <a:cs typeface="Verdana"/>
              </a:rPr>
              <a:t>n</a:t>
            </a:r>
            <a:r>
              <a:rPr sz="2500" spc="5" dirty="0">
                <a:latin typeface="Verdana"/>
                <a:cs typeface="Verdana"/>
              </a:rPr>
              <a:t>o</a:t>
            </a:r>
            <a:r>
              <a:rPr sz="2500" spc="145" dirty="0">
                <a:latin typeface="Verdana"/>
                <a:cs typeface="Verdana"/>
              </a:rPr>
              <a:t>w</a:t>
            </a:r>
            <a:r>
              <a:rPr sz="2500" spc="-95" dirty="0">
                <a:latin typeface="Verdana"/>
                <a:cs typeface="Verdana"/>
              </a:rPr>
              <a:t> </a:t>
            </a:r>
            <a:r>
              <a:rPr sz="2500" spc="20" dirty="0">
                <a:latin typeface="Verdana"/>
                <a:cs typeface="Verdana"/>
              </a:rPr>
              <a:t>t</a:t>
            </a:r>
            <a:r>
              <a:rPr sz="2500" spc="95" dirty="0">
                <a:latin typeface="Verdana"/>
                <a:cs typeface="Verdana"/>
              </a:rPr>
              <a:t>h</a:t>
            </a:r>
            <a:r>
              <a:rPr sz="2500" spc="-35" dirty="0">
                <a:latin typeface="Verdana"/>
                <a:cs typeface="Verdana"/>
              </a:rPr>
              <a:t>a</a:t>
            </a:r>
            <a:r>
              <a:rPr sz="2500" spc="25" dirty="0">
                <a:latin typeface="Verdana"/>
                <a:cs typeface="Verdana"/>
              </a:rPr>
              <a:t>t</a:t>
            </a:r>
            <a:r>
              <a:rPr sz="2500" spc="-95" dirty="0">
                <a:latin typeface="Verdana"/>
                <a:cs typeface="Verdana"/>
              </a:rPr>
              <a:t> </a:t>
            </a:r>
            <a:r>
              <a:rPr sz="2500" spc="20" dirty="0">
                <a:latin typeface="Verdana"/>
                <a:cs typeface="Verdana"/>
              </a:rPr>
              <a:t>t</a:t>
            </a:r>
            <a:r>
              <a:rPr sz="2500" spc="95" dirty="0">
                <a:latin typeface="Verdana"/>
                <a:cs typeface="Verdana"/>
              </a:rPr>
              <a:t>h</a:t>
            </a:r>
            <a:r>
              <a:rPr sz="2500" spc="15" dirty="0">
                <a:latin typeface="Verdana"/>
                <a:cs typeface="Verdana"/>
              </a:rPr>
              <a:t>e</a:t>
            </a:r>
            <a:r>
              <a:rPr sz="2500" spc="-95" dirty="0">
                <a:latin typeface="Verdana"/>
                <a:cs typeface="Verdana"/>
              </a:rPr>
              <a:t> </a:t>
            </a:r>
            <a:r>
              <a:rPr sz="2500" spc="145" dirty="0">
                <a:latin typeface="Verdana"/>
                <a:cs typeface="Verdana"/>
              </a:rPr>
              <a:t>g</a:t>
            </a:r>
            <a:r>
              <a:rPr sz="2500" spc="-20" dirty="0">
                <a:latin typeface="Verdana"/>
                <a:cs typeface="Verdana"/>
              </a:rPr>
              <a:t>l</a:t>
            </a:r>
            <a:r>
              <a:rPr sz="2500" spc="40" dirty="0">
                <a:latin typeface="Verdana"/>
                <a:cs typeface="Verdana"/>
              </a:rPr>
              <a:t>o</a:t>
            </a:r>
            <a:r>
              <a:rPr sz="2500" spc="120" dirty="0">
                <a:latin typeface="Verdana"/>
                <a:cs typeface="Verdana"/>
              </a:rPr>
              <a:t>b</a:t>
            </a:r>
            <a:r>
              <a:rPr sz="2500" spc="-35" dirty="0">
                <a:latin typeface="Verdana"/>
                <a:cs typeface="Verdana"/>
              </a:rPr>
              <a:t>a</a:t>
            </a:r>
            <a:r>
              <a:rPr sz="2500" spc="-15" dirty="0">
                <a:latin typeface="Verdana"/>
                <a:cs typeface="Verdana"/>
              </a:rPr>
              <a:t>l</a:t>
            </a:r>
            <a:r>
              <a:rPr sz="2500" spc="-95" dirty="0">
                <a:latin typeface="Verdana"/>
                <a:cs typeface="Verdana"/>
              </a:rPr>
              <a:t> </a:t>
            </a:r>
            <a:r>
              <a:rPr sz="2500" spc="-60" dirty="0">
                <a:latin typeface="Verdana"/>
                <a:cs typeface="Verdana"/>
              </a:rPr>
              <a:t>f</a:t>
            </a:r>
            <a:r>
              <a:rPr sz="2500" spc="40" dirty="0">
                <a:latin typeface="Verdana"/>
                <a:cs typeface="Verdana"/>
              </a:rPr>
              <a:t>oo</a:t>
            </a:r>
            <a:r>
              <a:rPr sz="2500" spc="130" dirty="0">
                <a:latin typeface="Verdana"/>
                <a:cs typeface="Verdana"/>
              </a:rPr>
              <a:t>d</a:t>
            </a:r>
            <a:r>
              <a:rPr sz="2500" spc="-95" dirty="0">
                <a:latin typeface="Verdana"/>
                <a:cs typeface="Verdana"/>
              </a:rPr>
              <a:t> </a:t>
            </a:r>
            <a:r>
              <a:rPr sz="2500" spc="125" dirty="0">
                <a:latin typeface="Verdana"/>
                <a:cs typeface="Verdana"/>
              </a:rPr>
              <a:t>d</a:t>
            </a:r>
            <a:r>
              <a:rPr sz="2500" spc="10" dirty="0">
                <a:latin typeface="Verdana"/>
                <a:cs typeface="Verdana"/>
              </a:rPr>
              <a:t>e</a:t>
            </a:r>
            <a:r>
              <a:rPr sz="2500" spc="-20" dirty="0">
                <a:latin typeface="Verdana"/>
                <a:cs typeface="Verdana"/>
              </a:rPr>
              <a:t>li</a:t>
            </a:r>
            <a:r>
              <a:rPr sz="2500" spc="-170" dirty="0">
                <a:latin typeface="Verdana"/>
                <a:cs typeface="Verdana"/>
              </a:rPr>
              <a:t>v</a:t>
            </a:r>
            <a:r>
              <a:rPr sz="2500" spc="10" dirty="0">
                <a:latin typeface="Verdana"/>
                <a:cs typeface="Verdana"/>
              </a:rPr>
              <a:t>e</a:t>
            </a:r>
            <a:r>
              <a:rPr sz="2500" spc="-35" dirty="0">
                <a:latin typeface="Verdana"/>
                <a:cs typeface="Verdana"/>
              </a:rPr>
              <a:t>r</a:t>
            </a:r>
            <a:r>
              <a:rPr sz="2500" spc="-95" dirty="0">
                <a:latin typeface="Verdana"/>
                <a:cs typeface="Verdana"/>
              </a:rPr>
              <a:t>y</a:t>
            </a:r>
            <a:r>
              <a:rPr lang="en-IN" sz="2500" spc="-95" dirty="0">
                <a:latin typeface="Verdana"/>
                <a:cs typeface="Verdana"/>
              </a:rPr>
              <a:t> </a:t>
            </a:r>
            <a:r>
              <a:rPr sz="2500" spc="15" dirty="0">
                <a:latin typeface="Verdana"/>
                <a:cs typeface="Verdana"/>
              </a:rPr>
              <a:t>market</a:t>
            </a:r>
            <a:r>
              <a:rPr sz="2500" spc="-55" dirty="0">
                <a:latin typeface="Verdana"/>
                <a:cs typeface="Verdana"/>
              </a:rPr>
              <a:t> is </a:t>
            </a:r>
            <a:r>
              <a:rPr sz="2500" spc="15" dirty="0">
                <a:latin typeface="Verdana"/>
                <a:cs typeface="Verdana"/>
              </a:rPr>
              <a:t>projected</a:t>
            </a:r>
            <a:r>
              <a:rPr sz="2500" spc="-55" dirty="0">
                <a:latin typeface="Verdana"/>
                <a:cs typeface="Verdana"/>
              </a:rPr>
              <a:t> </a:t>
            </a:r>
            <a:r>
              <a:rPr sz="2500" spc="10" dirty="0">
                <a:latin typeface="Verdana"/>
                <a:cs typeface="Verdana"/>
              </a:rPr>
              <a:t>to</a:t>
            </a:r>
            <a:r>
              <a:rPr sz="2500" spc="-50" dirty="0">
                <a:latin typeface="Verdana"/>
                <a:cs typeface="Verdana"/>
              </a:rPr>
              <a:t> </a:t>
            </a:r>
            <a:r>
              <a:rPr sz="2500" dirty="0">
                <a:latin typeface="Verdana"/>
                <a:cs typeface="Verdana"/>
              </a:rPr>
              <a:t>reach</a:t>
            </a:r>
            <a:r>
              <a:rPr sz="2500" spc="-55" dirty="0">
                <a:latin typeface="Verdana"/>
                <a:cs typeface="Verdana"/>
              </a:rPr>
              <a:t> </a:t>
            </a:r>
            <a:r>
              <a:rPr sz="2500" spc="-100" dirty="0">
                <a:latin typeface="Verdana"/>
                <a:cs typeface="Verdana"/>
              </a:rPr>
              <a:t>$320</a:t>
            </a:r>
            <a:r>
              <a:rPr sz="2500" spc="-55" dirty="0">
                <a:latin typeface="Verdana"/>
                <a:cs typeface="Verdana"/>
              </a:rPr>
              <a:t> </a:t>
            </a:r>
            <a:r>
              <a:rPr sz="2500" spc="25" dirty="0">
                <a:latin typeface="Verdana"/>
                <a:cs typeface="Verdana"/>
              </a:rPr>
              <a:t>billion</a:t>
            </a:r>
            <a:r>
              <a:rPr sz="2500" spc="-50" dirty="0">
                <a:latin typeface="Verdana"/>
                <a:cs typeface="Verdana"/>
              </a:rPr>
              <a:t> </a:t>
            </a:r>
            <a:r>
              <a:rPr sz="2500" spc="-20" dirty="0">
                <a:latin typeface="Verdana"/>
                <a:cs typeface="Verdana"/>
              </a:rPr>
              <a:t>by</a:t>
            </a:r>
            <a:r>
              <a:rPr sz="2500" spc="-55" dirty="0">
                <a:latin typeface="Verdana"/>
                <a:cs typeface="Verdana"/>
              </a:rPr>
              <a:t> </a:t>
            </a:r>
            <a:r>
              <a:rPr sz="2500" spc="-75" dirty="0">
                <a:latin typeface="Verdana"/>
                <a:cs typeface="Verdana"/>
              </a:rPr>
              <a:t>2029? </a:t>
            </a:r>
            <a:r>
              <a:rPr sz="2500" spc="-865" dirty="0">
                <a:latin typeface="Verdana"/>
                <a:cs typeface="Verdana"/>
              </a:rPr>
              <a:t> </a:t>
            </a:r>
            <a:r>
              <a:rPr sz="2500" spc="85" dirty="0">
                <a:latin typeface="Verdana"/>
                <a:cs typeface="Verdana"/>
              </a:rPr>
              <a:t>With</a:t>
            </a:r>
            <a:r>
              <a:rPr sz="2500" spc="-25" dirty="0">
                <a:latin typeface="Verdana"/>
                <a:cs typeface="Verdana"/>
              </a:rPr>
              <a:t> </a:t>
            </a:r>
            <a:r>
              <a:rPr sz="2500" spc="55" dirty="0">
                <a:latin typeface="Verdana"/>
                <a:cs typeface="Verdana"/>
              </a:rPr>
              <a:t>competition</a:t>
            </a:r>
            <a:r>
              <a:rPr sz="2500" spc="-20" dirty="0">
                <a:latin typeface="Verdana"/>
                <a:cs typeface="Verdana"/>
              </a:rPr>
              <a:t> intensifying, </a:t>
            </a:r>
            <a:r>
              <a:rPr sz="2500" spc="45" dirty="0">
                <a:latin typeface="Verdana"/>
                <a:cs typeface="Verdana"/>
              </a:rPr>
              <a:t>understanding</a:t>
            </a:r>
            <a:r>
              <a:rPr sz="2500" spc="-20" dirty="0">
                <a:latin typeface="Verdana"/>
                <a:cs typeface="Verdana"/>
              </a:rPr>
              <a:t> </a:t>
            </a:r>
            <a:r>
              <a:rPr sz="2500" spc="45" dirty="0">
                <a:latin typeface="Verdana"/>
                <a:cs typeface="Verdana"/>
              </a:rPr>
              <a:t>the </a:t>
            </a:r>
            <a:r>
              <a:rPr sz="2500" spc="-865" dirty="0">
                <a:latin typeface="Verdana"/>
                <a:cs typeface="Verdana"/>
              </a:rPr>
              <a:t> </a:t>
            </a:r>
            <a:r>
              <a:rPr sz="2500" spc="125" dirty="0">
                <a:latin typeface="Verdana"/>
                <a:cs typeface="Verdana"/>
              </a:rPr>
              <a:t>d</a:t>
            </a:r>
            <a:r>
              <a:rPr sz="2500" spc="-135" dirty="0">
                <a:latin typeface="Verdana"/>
                <a:cs typeface="Verdana"/>
              </a:rPr>
              <a:t>y</a:t>
            </a:r>
            <a:r>
              <a:rPr sz="2500" spc="95" dirty="0">
                <a:latin typeface="Verdana"/>
                <a:cs typeface="Verdana"/>
              </a:rPr>
              <a:t>n</a:t>
            </a:r>
            <a:r>
              <a:rPr sz="2500" spc="-35" dirty="0">
                <a:latin typeface="Verdana"/>
                <a:cs typeface="Verdana"/>
              </a:rPr>
              <a:t>a</a:t>
            </a:r>
            <a:r>
              <a:rPr sz="2500" spc="210" dirty="0">
                <a:latin typeface="Verdana"/>
                <a:cs typeface="Verdana"/>
              </a:rPr>
              <a:t>m</a:t>
            </a:r>
            <a:r>
              <a:rPr sz="2500" spc="-20" dirty="0">
                <a:latin typeface="Verdana"/>
                <a:cs typeface="Verdana"/>
              </a:rPr>
              <a:t>i</a:t>
            </a:r>
            <a:r>
              <a:rPr sz="2500" spc="95" dirty="0">
                <a:latin typeface="Verdana"/>
                <a:cs typeface="Verdana"/>
              </a:rPr>
              <a:t>c</a:t>
            </a:r>
            <a:r>
              <a:rPr sz="2500" spc="-85" dirty="0">
                <a:latin typeface="Verdana"/>
                <a:cs typeface="Verdana"/>
              </a:rPr>
              <a:t>s</a:t>
            </a:r>
            <a:r>
              <a:rPr sz="2500" dirty="0">
                <a:latin typeface="Verdana"/>
                <a:cs typeface="Verdana"/>
              </a:rPr>
              <a:t>		</a:t>
            </a:r>
            <a:r>
              <a:rPr sz="2500" spc="40" dirty="0">
                <a:latin typeface="Verdana"/>
                <a:cs typeface="Verdana"/>
              </a:rPr>
              <a:t>o</a:t>
            </a:r>
            <a:r>
              <a:rPr sz="2500" spc="-35" dirty="0">
                <a:latin typeface="Verdana"/>
                <a:cs typeface="Verdana"/>
              </a:rPr>
              <a:t>f</a:t>
            </a:r>
            <a:r>
              <a:rPr sz="2500" dirty="0">
                <a:latin typeface="Verdana"/>
                <a:cs typeface="Verdana"/>
              </a:rPr>
              <a:t>	</a:t>
            </a:r>
            <a:r>
              <a:rPr sz="2500" spc="-105" dirty="0">
                <a:latin typeface="Verdana"/>
                <a:cs typeface="Verdana"/>
              </a:rPr>
              <a:t>r</a:t>
            </a:r>
            <a:r>
              <a:rPr sz="2500" spc="10" dirty="0">
                <a:latin typeface="Verdana"/>
                <a:cs typeface="Verdana"/>
              </a:rPr>
              <a:t>e</a:t>
            </a:r>
            <a:r>
              <a:rPr sz="2500" spc="-90" dirty="0">
                <a:latin typeface="Verdana"/>
                <a:cs typeface="Verdana"/>
              </a:rPr>
              <a:t>s</a:t>
            </a:r>
            <a:r>
              <a:rPr sz="2500" spc="20" dirty="0">
                <a:latin typeface="Verdana"/>
                <a:cs typeface="Verdana"/>
              </a:rPr>
              <a:t>t</a:t>
            </a:r>
            <a:r>
              <a:rPr sz="2500" spc="-35" dirty="0">
                <a:latin typeface="Verdana"/>
                <a:cs typeface="Verdana"/>
              </a:rPr>
              <a:t>a</a:t>
            </a:r>
            <a:r>
              <a:rPr sz="2500" spc="85" dirty="0">
                <a:latin typeface="Verdana"/>
                <a:cs typeface="Verdana"/>
              </a:rPr>
              <a:t>u</a:t>
            </a:r>
            <a:r>
              <a:rPr sz="2500" spc="-190" dirty="0">
                <a:latin typeface="Verdana"/>
                <a:cs typeface="Verdana"/>
              </a:rPr>
              <a:t>r</a:t>
            </a:r>
            <a:r>
              <a:rPr sz="2500" spc="-35" dirty="0">
                <a:latin typeface="Verdana"/>
                <a:cs typeface="Verdana"/>
              </a:rPr>
              <a:t>a</a:t>
            </a:r>
            <a:r>
              <a:rPr sz="2500" spc="95" dirty="0">
                <a:latin typeface="Verdana"/>
                <a:cs typeface="Verdana"/>
              </a:rPr>
              <a:t>n</a:t>
            </a:r>
            <a:r>
              <a:rPr sz="2500" spc="25" dirty="0">
                <a:latin typeface="Verdana"/>
                <a:cs typeface="Verdana"/>
              </a:rPr>
              <a:t>t</a:t>
            </a:r>
            <a:r>
              <a:rPr sz="2500" dirty="0">
                <a:latin typeface="Verdana"/>
                <a:cs typeface="Verdana"/>
              </a:rPr>
              <a:t>		</a:t>
            </a:r>
            <a:r>
              <a:rPr sz="2500" spc="-190" dirty="0">
                <a:latin typeface="Verdana"/>
                <a:cs typeface="Verdana"/>
              </a:rPr>
              <a:t>r</a:t>
            </a:r>
            <a:r>
              <a:rPr sz="2500" spc="-35" dirty="0">
                <a:latin typeface="Verdana"/>
                <a:cs typeface="Verdana"/>
              </a:rPr>
              <a:t>a</a:t>
            </a:r>
            <a:r>
              <a:rPr sz="2500" spc="20" dirty="0">
                <a:latin typeface="Verdana"/>
                <a:cs typeface="Verdana"/>
              </a:rPr>
              <a:t>t</a:t>
            </a:r>
            <a:r>
              <a:rPr sz="2500" spc="-20" dirty="0">
                <a:latin typeface="Verdana"/>
                <a:cs typeface="Verdana"/>
              </a:rPr>
              <a:t>i</a:t>
            </a:r>
            <a:r>
              <a:rPr sz="2500" spc="95" dirty="0">
                <a:latin typeface="Verdana"/>
                <a:cs typeface="Verdana"/>
              </a:rPr>
              <a:t>n</a:t>
            </a:r>
            <a:r>
              <a:rPr sz="2500" spc="145" dirty="0">
                <a:latin typeface="Verdana"/>
                <a:cs typeface="Verdana"/>
              </a:rPr>
              <a:t>g</a:t>
            </a:r>
            <a:r>
              <a:rPr sz="2500" spc="-85" dirty="0">
                <a:latin typeface="Verdana"/>
                <a:cs typeface="Verdana"/>
              </a:rPr>
              <a:t>s</a:t>
            </a:r>
            <a:r>
              <a:rPr sz="2500" dirty="0">
                <a:latin typeface="Verdana"/>
                <a:cs typeface="Verdana"/>
              </a:rPr>
              <a:t>	</a:t>
            </a:r>
            <a:r>
              <a:rPr sz="2500" spc="-35" dirty="0">
                <a:latin typeface="Verdana"/>
                <a:cs typeface="Verdana"/>
              </a:rPr>
              <a:t>a</a:t>
            </a:r>
            <a:r>
              <a:rPr sz="2500" spc="95" dirty="0">
                <a:latin typeface="Verdana"/>
                <a:cs typeface="Verdana"/>
              </a:rPr>
              <a:t>n</a:t>
            </a:r>
            <a:r>
              <a:rPr sz="2500" spc="130" dirty="0">
                <a:latin typeface="Verdana"/>
                <a:cs typeface="Verdana"/>
              </a:rPr>
              <a:t>d</a:t>
            </a:r>
            <a:r>
              <a:rPr sz="2500" dirty="0">
                <a:latin typeface="Verdana"/>
                <a:cs typeface="Verdana"/>
              </a:rPr>
              <a:t>	</a:t>
            </a:r>
            <a:r>
              <a:rPr sz="2500" spc="95" dirty="0">
                <a:latin typeface="Verdana"/>
                <a:cs typeface="Verdana"/>
              </a:rPr>
              <a:t>c</a:t>
            </a:r>
            <a:r>
              <a:rPr sz="2500" spc="85" dirty="0">
                <a:latin typeface="Verdana"/>
                <a:cs typeface="Verdana"/>
              </a:rPr>
              <a:t>u</a:t>
            </a:r>
            <a:r>
              <a:rPr sz="2500" spc="-90" dirty="0">
                <a:latin typeface="Verdana"/>
                <a:cs typeface="Verdana"/>
              </a:rPr>
              <a:t>s</a:t>
            </a:r>
            <a:r>
              <a:rPr sz="2500" spc="-25" dirty="0">
                <a:latin typeface="Verdana"/>
                <a:cs typeface="Verdana"/>
              </a:rPr>
              <a:t>t</a:t>
            </a:r>
            <a:r>
              <a:rPr sz="2500" spc="40" dirty="0">
                <a:latin typeface="Verdana"/>
                <a:cs typeface="Verdana"/>
              </a:rPr>
              <a:t>o</a:t>
            </a:r>
            <a:r>
              <a:rPr sz="2500" spc="210" dirty="0">
                <a:latin typeface="Verdana"/>
                <a:cs typeface="Verdana"/>
              </a:rPr>
              <a:t>m</a:t>
            </a:r>
            <a:r>
              <a:rPr sz="2500" spc="10" dirty="0">
                <a:latin typeface="Verdana"/>
                <a:cs typeface="Verdana"/>
              </a:rPr>
              <a:t>e</a:t>
            </a:r>
            <a:r>
              <a:rPr sz="2500" spc="-60" dirty="0">
                <a:latin typeface="Verdana"/>
                <a:cs typeface="Verdana"/>
              </a:rPr>
              <a:t>r  </a:t>
            </a:r>
            <a:r>
              <a:rPr sz="2500" dirty="0">
                <a:latin typeface="Verdana"/>
                <a:cs typeface="Verdana"/>
              </a:rPr>
              <a:t>preferences </a:t>
            </a:r>
            <a:r>
              <a:rPr sz="2500" spc="-10" dirty="0">
                <a:latin typeface="Verdana"/>
                <a:cs typeface="Verdana"/>
              </a:rPr>
              <a:t>has </a:t>
            </a:r>
            <a:r>
              <a:rPr sz="2500" spc="-30" dirty="0">
                <a:latin typeface="Verdana"/>
                <a:cs typeface="Verdana"/>
              </a:rPr>
              <a:t>never </a:t>
            </a:r>
            <a:r>
              <a:rPr sz="2500" spc="60" dirty="0">
                <a:latin typeface="Verdana"/>
                <a:cs typeface="Verdana"/>
              </a:rPr>
              <a:t>been </a:t>
            </a:r>
            <a:r>
              <a:rPr sz="2500" spc="40" dirty="0">
                <a:latin typeface="Verdana"/>
                <a:cs typeface="Verdana"/>
              </a:rPr>
              <a:t>more </a:t>
            </a:r>
            <a:r>
              <a:rPr sz="2500" spc="-75" dirty="0">
                <a:latin typeface="Verdana"/>
                <a:cs typeface="Verdana"/>
              </a:rPr>
              <a:t>critical." </a:t>
            </a:r>
            <a:r>
              <a:rPr sz="2500" spc="-70" dirty="0">
                <a:latin typeface="Verdana"/>
                <a:cs typeface="Verdana"/>
              </a:rPr>
              <a:t> </a:t>
            </a:r>
            <a:r>
              <a:rPr sz="2550" b="1" i="1" spc="-90" dirty="0">
                <a:latin typeface="Verdana"/>
                <a:cs typeface="Verdana"/>
              </a:rPr>
              <a:t>C</a:t>
            </a:r>
            <a:r>
              <a:rPr sz="2550" b="1" i="1" spc="-145" dirty="0">
                <a:latin typeface="Verdana"/>
                <a:cs typeface="Verdana"/>
              </a:rPr>
              <a:t>o</a:t>
            </a:r>
            <a:r>
              <a:rPr sz="2550" b="1" i="1" spc="-114" dirty="0">
                <a:latin typeface="Verdana"/>
                <a:cs typeface="Verdana"/>
              </a:rPr>
              <a:t>n</a:t>
            </a:r>
            <a:r>
              <a:rPr sz="2550" b="1" i="1" spc="-155" dirty="0">
                <a:latin typeface="Verdana"/>
                <a:cs typeface="Verdana"/>
              </a:rPr>
              <a:t>t</a:t>
            </a:r>
            <a:r>
              <a:rPr sz="2550" b="1" i="1" spc="-185" dirty="0">
                <a:latin typeface="Verdana"/>
                <a:cs typeface="Verdana"/>
              </a:rPr>
              <a:t>e</a:t>
            </a:r>
            <a:r>
              <a:rPr sz="2550" b="1" i="1" spc="-285" dirty="0">
                <a:latin typeface="Verdana"/>
                <a:cs typeface="Verdana"/>
              </a:rPr>
              <a:t>x</a:t>
            </a:r>
            <a:r>
              <a:rPr sz="2550" b="1" i="1" spc="-105" dirty="0">
                <a:latin typeface="Verdana"/>
                <a:cs typeface="Verdana"/>
              </a:rPr>
              <a:t>t</a:t>
            </a:r>
            <a:r>
              <a:rPr sz="2500" b="1" spc="-300" dirty="0">
                <a:latin typeface="Tahoma"/>
                <a:cs typeface="Tahoma"/>
              </a:rPr>
              <a:t>:</a:t>
            </a:r>
            <a:r>
              <a:rPr sz="2500" b="1" dirty="0">
                <a:latin typeface="Tahoma"/>
                <a:cs typeface="Tahoma"/>
              </a:rPr>
              <a:t>	</a:t>
            </a:r>
            <a:r>
              <a:rPr sz="2500" spc="-114" dirty="0">
                <a:latin typeface="Verdana"/>
                <a:cs typeface="Verdana"/>
              </a:rPr>
              <a:t>T</a:t>
            </a:r>
            <a:r>
              <a:rPr sz="2500" spc="95" dirty="0">
                <a:latin typeface="Verdana"/>
                <a:cs typeface="Verdana"/>
              </a:rPr>
              <a:t>h</a:t>
            </a:r>
            <a:r>
              <a:rPr sz="2500" spc="-20" dirty="0">
                <a:latin typeface="Verdana"/>
                <a:cs typeface="Verdana"/>
              </a:rPr>
              <a:t>i</a:t>
            </a:r>
            <a:r>
              <a:rPr sz="2500" spc="-85" dirty="0">
                <a:latin typeface="Verdana"/>
                <a:cs typeface="Verdana"/>
              </a:rPr>
              <a:t>s</a:t>
            </a:r>
            <a:r>
              <a:rPr lang="en-IN" sz="2500" dirty="0">
                <a:latin typeface="Verdana"/>
                <a:cs typeface="Verdana"/>
              </a:rPr>
              <a:t> </a:t>
            </a:r>
            <a:r>
              <a:rPr sz="2500" spc="125" dirty="0">
                <a:latin typeface="Verdana"/>
                <a:cs typeface="Verdana"/>
              </a:rPr>
              <a:t>p</a:t>
            </a:r>
            <a:r>
              <a:rPr sz="2500" spc="-105" dirty="0">
                <a:latin typeface="Verdana"/>
                <a:cs typeface="Verdana"/>
              </a:rPr>
              <a:t>r</a:t>
            </a:r>
            <a:r>
              <a:rPr sz="2500" spc="40" dirty="0">
                <a:latin typeface="Verdana"/>
                <a:cs typeface="Verdana"/>
              </a:rPr>
              <a:t>o</a:t>
            </a:r>
            <a:r>
              <a:rPr sz="2500" spc="-185" dirty="0">
                <a:latin typeface="Verdana"/>
                <a:cs typeface="Verdana"/>
              </a:rPr>
              <a:t>j</a:t>
            </a:r>
            <a:r>
              <a:rPr sz="2500" spc="10" dirty="0">
                <a:latin typeface="Verdana"/>
                <a:cs typeface="Verdana"/>
              </a:rPr>
              <a:t>e</a:t>
            </a:r>
            <a:r>
              <a:rPr sz="2500" spc="110" dirty="0">
                <a:latin typeface="Verdana"/>
                <a:cs typeface="Verdana"/>
              </a:rPr>
              <a:t>c</a:t>
            </a:r>
            <a:r>
              <a:rPr sz="2500" spc="25" dirty="0">
                <a:latin typeface="Verdana"/>
                <a:cs typeface="Verdana"/>
              </a:rPr>
              <a:t>t</a:t>
            </a:r>
            <a:r>
              <a:rPr sz="2500" dirty="0">
                <a:latin typeface="Verdana"/>
                <a:cs typeface="Verdana"/>
              </a:rPr>
              <a:t>	</a:t>
            </a:r>
            <a:r>
              <a:rPr sz="2500" spc="-60" dirty="0">
                <a:latin typeface="Verdana"/>
                <a:cs typeface="Verdana"/>
              </a:rPr>
              <a:t>f</a:t>
            </a:r>
            <a:r>
              <a:rPr sz="2500" spc="40" dirty="0">
                <a:latin typeface="Verdana"/>
                <a:cs typeface="Verdana"/>
              </a:rPr>
              <a:t>o</a:t>
            </a:r>
            <a:r>
              <a:rPr sz="2500" spc="95" dirty="0">
                <a:latin typeface="Verdana"/>
                <a:cs typeface="Verdana"/>
              </a:rPr>
              <a:t>c</a:t>
            </a:r>
            <a:r>
              <a:rPr sz="2500" spc="85" dirty="0">
                <a:latin typeface="Verdana"/>
                <a:cs typeface="Verdana"/>
              </a:rPr>
              <a:t>u</a:t>
            </a:r>
            <a:r>
              <a:rPr sz="2500" spc="-90" dirty="0">
                <a:latin typeface="Verdana"/>
                <a:cs typeface="Verdana"/>
              </a:rPr>
              <a:t>s</a:t>
            </a:r>
            <a:r>
              <a:rPr sz="2500" spc="10" dirty="0">
                <a:latin typeface="Verdana"/>
                <a:cs typeface="Verdana"/>
              </a:rPr>
              <a:t>e</a:t>
            </a:r>
            <a:r>
              <a:rPr sz="2500" spc="-85" dirty="0">
                <a:latin typeface="Verdana"/>
                <a:cs typeface="Verdana"/>
              </a:rPr>
              <a:t>s</a:t>
            </a:r>
            <a:r>
              <a:rPr lang="en-IN" sz="2500" dirty="0">
                <a:latin typeface="Verdana"/>
                <a:cs typeface="Verdana"/>
              </a:rPr>
              <a:t> </a:t>
            </a:r>
            <a:r>
              <a:rPr sz="2500" spc="40" dirty="0">
                <a:latin typeface="Verdana"/>
                <a:cs typeface="Verdana"/>
              </a:rPr>
              <a:t>o</a:t>
            </a:r>
            <a:r>
              <a:rPr sz="2500" spc="100" dirty="0">
                <a:latin typeface="Verdana"/>
                <a:cs typeface="Verdana"/>
              </a:rPr>
              <a:t>n</a:t>
            </a:r>
            <a:r>
              <a:rPr lang="en-IN" sz="2500" dirty="0">
                <a:latin typeface="Verdana"/>
                <a:cs typeface="Verdana"/>
              </a:rPr>
              <a:t> </a:t>
            </a:r>
            <a:r>
              <a:rPr sz="2500" spc="-35" dirty="0">
                <a:latin typeface="Verdana"/>
                <a:cs typeface="Verdana"/>
              </a:rPr>
              <a:t>a</a:t>
            </a:r>
            <a:r>
              <a:rPr sz="2500" spc="95" dirty="0">
                <a:latin typeface="Verdana"/>
                <a:cs typeface="Verdana"/>
              </a:rPr>
              <a:t>n</a:t>
            </a:r>
            <a:r>
              <a:rPr sz="2500" spc="-35" dirty="0">
                <a:latin typeface="Verdana"/>
                <a:cs typeface="Verdana"/>
              </a:rPr>
              <a:t>a</a:t>
            </a:r>
            <a:r>
              <a:rPr sz="2500" spc="-20" dirty="0">
                <a:latin typeface="Verdana"/>
                <a:cs typeface="Verdana"/>
              </a:rPr>
              <a:t>l</a:t>
            </a:r>
            <a:r>
              <a:rPr sz="2500" spc="-160" dirty="0">
                <a:latin typeface="Verdana"/>
                <a:cs typeface="Verdana"/>
              </a:rPr>
              <a:t>y</a:t>
            </a:r>
            <a:r>
              <a:rPr sz="2500" spc="-45" dirty="0">
                <a:latin typeface="Verdana"/>
                <a:cs typeface="Verdana"/>
              </a:rPr>
              <a:t>z</a:t>
            </a:r>
            <a:r>
              <a:rPr sz="2500" spc="-20" dirty="0">
                <a:latin typeface="Verdana"/>
                <a:cs typeface="Verdana"/>
              </a:rPr>
              <a:t>i</a:t>
            </a:r>
            <a:r>
              <a:rPr sz="2500" spc="95" dirty="0">
                <a:latin typeface="Verdana"/>
                <a:cs typeface="Verdana"/>
              </a:rPr>
              <a:t>n</a:t>
            </a:r>
            <a:r>
              <a:rPr sz="2500" spc="105" dirty="0">
                <a:latin typeface="Verdana"/>
                <a:cs typeface="Verdana"/>
              </a:rPr>
              <a:t>g</a:t>
            </a:r>
            <a:r>
              <a:rPr lang="en-IN" sz="2500" spc="105" dirty="0">
                <a:latin typeface="Verdana"/>
                <a:cs typeface="Verdana"/>
              </a:rPr>
              <a:t> </a:t>
            </a:r>
            <a:r>
              <a:rPr sz="2500" spc="-20" dirty="0">
                <a:latin typeface="Verdana"/>
                <a:cs typeface="Verdana"/>
              </a:rPr>
              <a:t>restaurant</a:t>
            </a:r>
            <a:r>
              <a:rPr sz="2500" spc="180" dirty="0">
                <a:latin typeface="Verdana"/>
                <a:cs typeface="Verdana"/>
              </a:rPr>
              <a:t> </a:t>
            </a:r>
            <a:r>
              <a:rPr sz="2500" spc="20" dirty="0">
                <a:latin typeface="Verdana"/>
                <a:cs typeface="Verdana"/>
              </a:rPr>
              <a:t>data</a:t>
            </a:r>
            <a:r>
              <a:rPr sz="2500" spc="180" dirty="0">
                <a:latin typeface="Verdana"/>
                <a:cs typeface="Verdana"/>
              </a:rPr>
              <a:t> </a:t>
            </a:r>
            <a:r>
              <a:rPr sz="2500" spc="25" dirty="0">
                <a:latin typeface="Verdana"/>
                <a:cs typeface="Verdana"/>
              </a:rPr>
              <a:t>from</a:t>
            </a:r>
            <a:r>
              <a:rPr sz="2500" spc="180" dirty="0">
                <a:latin typeface="Verdana"/>
                <a:cs typeface="Verdana"/>
              </a:rPr>
              <a:t> </a:t>
            </a:r>
            <a:r>
              <a:rPr sz="2500" spc="-45" dirty="0">
                <a:latin typeface="Verdana"/>
                <a:cs typeface="Verdana"/>
              </a:rPr>
              <a:t>Zomato,</a:t>
            </a:r>
            <a:r>
              <a:rPr sz="2500" spc="185" dirty="0">
                <a:latin typeface="Verdana"/>
                <a:cs typeface="Verdana"/>
              </a:rPr>
              <a:t> </a:t>
            </a:r>
            <a:r>
              <a:rPr sz="2500" spc="50" dirty="0">
                <a:latin typeface="Verdana"/>
                <a:cs typeface="Verdana"/>
              </a:rPr>
              <a:t>one</a:t>
            </a:r>
            <a:r>
              <a:rPr sz="2500" spc="180" dirty="0">
                <a:latin typeface="Verdana"/>
                <a:cs typeface="Verdana"/>
              </a:rPr>
              <a:t> </a:t>
            </a:r>
            <a:r>
              <a:rPr sz="2500" dirty="0">
                <a:latin typeface="Verdana"/>
                <a:cs typeface="Verdana"/>
              </a:rPr>
              <a:t>of</a:t>
            </a:r>
            <a:r>
              <a:rPr sz="2500" spc="180" dirty="0">
                <a:latin typeface="Verdana"/>
                <a:cs typeface="Verdana"/>
              </a:rPr>
              <a:t> </a:t>
            </a:r>
            <a:r>
              <a:rPr sz="2500" spc="45" dirty="0">
                <a:latin typeface="Verdana"/>
                <a:cs typeface="Verdana"/>
              </a:rPr>
              <a:t>the</a:t>
            </a:r>
            <a:r>
              <a:rPr sz="2500" spc="180" dirty="0">
                <a:latin typeface="Verdana"/>
                <a:cs typeface="Verdana"/>
              </a:rPr>
              <a:t> </a:t>
            </a:r>
            <a:r>
              <a:rPr sz="2500" spc="40" dirty="0">
                <a:latin typeface="Verdana"/>
                <a:cs typeface="Verdana"/>
              </a:rPr>
              <a:t>leading</a:t>
            </a:r>
            <a:r>
              <a:rPr lang="en-IN" sz="2500" spc="40" dirty="0">
                <a:latin typeface="Verdana"/>
                <a:cs typeface="Verdana"/>
              </a:rPr>
              <a:t> </a:t>
            </a:r>
            <a:r>
              <a:rPr sz="2500" spc="-60" dirty="0">
                <a:latin typeface="Verdana"/>
                <a:cs typeface="Verdana"/>
              </a:rPr>
              <a:t>f</a:t>
            </a:r>
            <a:r>
              <a:rPr sz="2500" spc="40" dirty="0">
                <a:latin typeface="Verdana"/>
                <a:cs typeface="Verdana"/>
              </a:rPr>
              <a:t>oo</a:t>
            </a:r>
            <a:r>
              <a:rPr sz="2500" spc="130" dirty="0">
                <a:latin typeface="Verdana"/>
                <a:cs typeface="Verdana"/>
              </a:rPr>
              <a:t>d</a:t>
            </a:r>
            <a:r>
              <a:rPr sz="2500" dirty="0">
                <a:latin typeface="Verdana"/>
                <a:cs typeface="Verdana"/>
              </a:rPr>
              <a:t>	</a:t>
            </a:r>
            <a:r>
              <a:rPr sz="2500" spc="125" dirty="0">
                <a:latin typeface="Verdana"/>
                <a:cs typeface="Verdana"/>
              </a:rPr>
              <a:t>d</a:t>
            </a:r>
            <a:r>
              <a:rPr sz="2500" spc="10" dirty="0">
                <a:latin typeface="Verdana"/>
                <a:cs typeface="Verdana"/>
              </a:rPr>
              <a:t>e</a:t>
            </a:r>
            <a:r>
              <a:rPr sz="2500" spc="-20" dirty="0">
                <a:latin typeface="Verdana"/>
                <a:cs typeface="Verdana"/>
              </a:rPr>
              <a:t>li</a:t>
            </a:r>
            <a:r>
              <a:rPr sz="2500" spc="-170" dirty="0">
                <a:latin typeface="Verdana"/>
                <a:cs typeface="Verdana"/>
              </a:rPr>
              <a:t>v</a:t>
            </a:r>
            <a:r>
              <a:rPr sz="2500" spc="10" dirty="0">
                <a:latin typeface="Verdana"/>
                <a:cs typeface="Verdana"/>
              </a:rPr>
              <a:t>e</a:t>
            </a:r>
            <a:r>
              <a:rPr sz="2500" spc="-35" dirty="0">
                <a:latin typeface="Verdana"/>
                <a:cs typeface="Verdana"/>
              </a:rPr>
              <a:t>r</a:t>
            </a:r>
            <a:r>
              <a:rPr sz="2500" spc="-130" dirty="0">
                <a:latin typeface="Verdana"/>
                <a:cs typeface="Verdana"/>
              </a:rPr>
              <a:t>y</a:t>
            </a:r>
            <a:r>
              <a:rPr lang="en-IN" sz="2500" dirty="0">
                <a:latin typeface="Verdana"/>
                <a:cs typeface="Verdana"/>
              </a:rPr>
              <a:t> </a:t>
            </a:r>
            <a:r>
              <a:rPr sz="2500" spc="125" dirty="0">
                <a:latin typeface="Verdana"/>
                <a:cs typeface="Verdana"/>
              </a:rPr>
              <a:t>p</a:t>
            </a:r>
            <a:r>
              <a:rPr sz="2500" spc="-20" dirty="0">
                <a:latin typeface="Verdana"/>
                <a:cs typeface="Verdana"/>
              </a:rPr>
              <a:t>l</a:t>
            </a:r>
            <a:r>
              <a:rPr sz="2500" spc="-35" dirty="0">
                <a:latin typeface="Verdana"/>
                <a:cs typeface="Verdana"/>
              </a:rPr>
              <a:t>a</a:t>
            </a:r>
            <a:r>
              <a:rPr sz="2500" spc="20" dirty="0">
                <a:latin typeface="Verdana"/>
                <a:cs typeface="Verdana"/>
              </a:rPr>
              <a:t>t</a:t>
            </a:r>
            <a:r>
              <a:rPr sz="2500" spc="-60" dirty="0">
                <a:latin typeface="Verdana"/>
                <a:cs typeface="Verdana"/>
              </a:rPr>
              <a:t>f</a:t>
            </a:r>
            <a:r>
              <a:rPr sz="2500" spc="40" dirty="0">
                <a:latin typeface="Verdana"/>
                <a:cs typeface="Verdana"/>
              </a:rPr>
              <a:t>o</a:t>
            </a:r>
            <a:r>
              <a:rPr sz="2500" spc="-95" dirty="0">
                <a:latin typeface="Verdana"/>
                <a:cs typeface="Verdana"/>
              </a:rPr>
              <a:t>r</a:t>
            </a:r>
            <a:r>
              <a:rPr sz="2500" spc="210" dirty="0">
                <a:latin typeface="Verdana"/>
                <a:cs typeface="Verdana"/>
              </a:rPr>
              <a:t>m</a:t>
            </a:r>
            <a:r>
              <a:rPr sz="2500" spc="-90" dirty="0">
                <a:latin typeface="Verdana"/>
                <a:cs typeface="Verdana"/>
              </a:rPr>
              <a:t>s</a:t>
            </a:r>
            <a:r>
              <a:rPr sz="2500" spc="-385" dirty="0">
                <a:latin typeface="Verdana"/>
                <a:cs typeface="Verdana"/>
              </a:rPr>
              <a:t>,</a:t>
            </a:r>
            <a:r>
              <a:rPr sz="2500" dirty="0">
                <a:latin typeface="Verdana"/>
                <a:cs typeface="Verdana"/>
              </a:rPr>
              <a:t>			</a:t>
            </a:r>
            <a:r>
              <a:rPr sz="2500" spc="-25" dirty="0">
                <a:latin typeface="Verdana"/>
                <a:cs typeface="Verdana"/>
              </a:rPr>
              <a:t>t</a:t>
            </a:r>
            <a:r>
              <a:rPr sz="2500" spc="45" dirty="0">
                <a:latin typeface="Verdana"/>
                <a:cs typeface="Verdana"/>
              </a:rPr>
              <a:t>o</a:t>
            </a:r>
            <a:r>
              <a:rPr sz="2500" dirty="0">
                <a:latin typeface="Verdana"/>
                <a:cs typeface="Verdana"/>
              </a:rPr>
              <a:t>	</a:t>
            </a:r>
            <a:r>
              <a:rPr sz="2500" spc="85" dirty="0">
                <a:latin typeface="Verdana"/>
                <a:cs typeface="Verdana"/>
              </a:rPr>
              <a:t>u</a:t>
            </a:r>
            <a:r>
              <a:rPr sz="2500" spc="95" dirty="0">
                <a:latin typeface="Verdana"/>
                <a:cs typeface="Verdana"/>
              </a:rPr>
              <a:t>n</a:t>
            </a:r>
            <a:r>
              <a:rPr sz="2500" spc="75" dirty="0">
                <a:latin typeface="Verdana"/>
                <a:cs typeface="Verdana"/>
              </a:rPr>
              <a:t>c</a:t>
            </a:r>
            <a:r>
              <a:rPr sz="2500" spc="5" dirty="0">
                <a:latin typeface="Verdana"/>
                <a:cs typeface="Verdana"/>
              </a:rPr>
              <a:t>o</a:t>
            </a:r>
            <a:r>
              <a:rPr sz="2500" spc="-170" dirty="0">
                <a:latin typeface="Verdana"/>
                <a:cs typeface="Verdana"/>
              </a:rPr>
              <a:t>v</a:t>
            </a:r>
            <a:r>
              <a:rPr sz="2500" spc="10" dirty="0">
                <a:latin typeface="Verdana"/>
                <a:cs typeface="Verdana"/>
              </a:rPr>
              <a:t>e</a:t>
            </a:r>
            <a:r>
              <a:rPr sz="2500" spc="-70" dirty="0">
                <a:latin typeface="Verdana"/>
                <a:cs typeface="Verdana"/>
              </a:rPr>
              <a:t>r</a:t>
            </a:r>
            <a:r>
              <a:rPr lang="en-IN" sz="2500" dirty="0">
                <a:latin typeface="Verdana"/>
                <a:cs typeface="Verdana"/>
              </a:rPr>
              <a:t> </a:t>
            </a:r>
            <a:r>
              <a:rPr sz="2500" spc="-175" dirty="0">
                <a:latin typeface="Verdana"/>
                <a:cs typeface="Verdana"/>
              </a:rPr>
              <a:t>v</a:t>
            </a:r>
            <a:r>
              <a:rPr sz="2500" spc="-35" dirty="0">
                <a:latin typeface="Verdana"/>
                <a:cs typeface="Verdana"/>
              </a:rPr>
              <a:t>a</a:t>
            </a:r>
            <a:r>
              <a:rPr sz="2500" spc="-20" dirty="0">
                <a:latin typeface="Verdana"/>
                <a:cs typeface="Verdana"/>
              </a:rPr>
              <a:t>l</a:t>
            </a:r>
            <a:r>
              <a:rPr sz="2500" spc="85" dirty="0">
                <a:latin typeface="Verdana"/>
                <a:cs typeface="Verdana"/>
              </a:rPr>
              <a:t>u</a:t>
            </a:r>
            <a:r>
              <a:rPr sz="2500" spc="-35" dirty="0">
                <a:latin typeface="Verdana"/>
                <a:cs typeface="Verdana"/>
              </a:rPr>
              <a:t>a</a:t>
            </a:r>
            <a:r>
              <a:rPr sz="2500" spc="125" dirty="0">
                <a:latin typeface="Verdana"/>
                <a:cs typeface="Verdana"/>
              </a:rPr>
              <a:t>b</a:t>
            </a:r>
            <a:r>
              <a:rPr sz="2500" spc="-20" dirty="0">
                <a:latin typeface="Verdana"/>
                <a:cs typeface="Verdana"/>
              </a:rPr>
              <a:t>l</a:t>
            </a:r>
            <a:r>
              <a:rPr sz="2500" spc="10" dirty="0">
                <a:latin typeface="Verdana"/>
                <a:cs typeface="Verdana"/>
              </a:rPr>
              <a:t>e</a:t>
            </a:r>
            <a:r>
              <a:rPr lang="en-IN" sz="2500" spc="10" dirty="0">
                <a:latin typeface="Verdana"/>
                <a:cs typeface="Verdana"/>
              </a:rPr>
              <a:t> </a:t>
            </a:r>
            <a:r>
              <a:rPr sz="2500" spc="-20" dirty="0">
                <a:latin typeface="Verdana"/>
                <a:cs typeface="Verdana"/>
              </a:rPr>
              <a:t>i</a:t>
            </a:r>
            <a:r>
              <a:rPr sz="2500" spc="95" dirty="0">
                <a:latin typeface="Verdana"/>
                <a:cs typeface="Verdana"/>
              </a:rPr>
              <a:t>n</a:t>
            </a:r>
            <a:r>
              <a:rPr sz="2500" spc="-90" dirty="0">
                <a:latin typeface="Verdana"/>
                <a:cs typeface="Verdana"/>
              </a:rPr>
              <a:t>s</a:t>
            </a:r>
            <a:r>
              <a:rPr sz="2500" spc="-20" dirty="0">
                <a:latin typeface="Verdana"/>
                <a:cs typeface="Verdana"/>
              </a:rPr>
              <a:t>i</a:t>
            </a:r>
            <a:r>
              <a:rPr sz="2500" spc="145" dirty="0">
                <a:latin typeface="Verdana"/>
                <a:cs typeface="Verdana"/>
              </a:rPr>
              <a:t>g</a:t>
            </a:r>
            <a:r>
              <a:rPr sz="2500" spc="95" dirty="0">
                <a:latin typeface="Verdana"/>
                <a:cs typeface="Verdana"/>
              </a:rPr>
              <a:t>h</a:t>
            </a:r>
            <a:r>
              <a:rPr sz="2500" spc="20" dirty="0">
                <a:latin typeface="Verdana"/>
                <a:cs typeface="Verdana"/>
              </a:rPr>
              <a:t>t</a:t>
            </a:r>
            <a:r>
              <a:rPr sz="2500" spc="-85" dirty="0">
                <a:latin typeface="Verdana"/>
                <a:cs typeface="Verdana"/>
              </a:rPr>
              <a:t>s</a:t>
            </a:r>
            <a:r>
              <a:rPr sz="2500" spc="-229" dirty="0">
                <a:latin typeface="Verdana"/>
                <a:cs typeface="Verdana"/>
              </a:rPr>
              <a:t> </a:t>
            </a:r>
            <a:r>
              <a:rPr sz="2500" spc="20" dirty="0">
                <a:latin typeface="Verdana"/>
                <a:cs typeface="Verdana"/>
              </a:rPr>
              <a:t>t</a:t>
            </a:r>
            <a:r>
              <a:rPr sz="2500" spc="95" dirty="0">
                <a:latin typeface="Verdana"/>
                <a:cs typeface="Verdana"/>
              </a:rPr>
              <a:t>h</a:t>
            </a:r>
            <a:r>
              <a:rPr sz="2500" spc="-35" dirty="0">
                <a:latin typeface="Verdana"/>
                <a:cs typeface="Verdana"/>
              </a:rPr>
              <a:t>a</a:t>
            </a:r>
            <a:r>
              <a:rPr sz="2500" spc="25" dirty="0">
                <a:latin typeface="Verdana"/>
                <a:cs typeface="Verdana"/>
              </a:rPr>
              <a:t>t</a:t>
            </a:r>
            <a:r>
              <a:rPr sz="2500" spc="-229" dirty="0">
                <a:latin typeface="Verdana"/>
                <a:cs typeface="Verdana"/>
              </a:rPr>
              <a:t> </a:t>
            </a:r>
            <a:r>
              <a:rPr sz="2500" spc="95" dirty="0">
                <a:latin typeface="Verdana"/>
                <a:cs typeface="Verdana"/>
              </a:rPr>
              <a:t>c</a:t>
            </a:r>
            <a:r>
              <a:rPr sz="2500" spc="-35" dirty="0">
                <a:latin typeface="Verdana"/>
                <a:cs typeface="Verdana"/>
              </a:rPr>
              <a:t>a</a:t>
            </a:r>
            <a:r>
              <a:rPr sz="2500" spc="100" dirty="0">
                <a:latin typeface="Verdana"/>
                <a:cs typeface="Verdana"/>
              </a:rPr>
              <a:t>n</a:t>
            </a:r>
            <a:r>
              <a:rPr sz="2500" spc="-229" dirty="0">
                <a:latin typeface="Verdana"/>
                <a:cs typeface="Verdana"/>
              </a:rPr>
              <a:t> </a:t>
            </a:r>
            <a:r>
              <a:rPr sz="2500" spc="145" dirty="0">
                <a:latin typeface="Verdana"/>
                <a:cs typeface="Verdana"/>
              </a:rPr>
              <a:t>g</a:t>
            </a:r>
            <a:r>
              <a:rPr sz="2500" spc="85" dirty="0">
                <a:latin typeface="Verdana"/>
                <a:cs typeface="Verdana"/>
              </a:rPr>
              <a:t>u</a:t>
            </a:r>
            <a:r>
              <a:rPr sz="2500" spc="-20" dirty="0">
                <a:latin typeface="Verdana"/>
                <a:cs typeface="Verdana"/>
              </a:rPr>
              <a:t>i</a:t>
            </a:r>
            <a:r>
              <a:rPr sz="2500" spc="125" dirty="0">
                <a:latin typeface="Verdana"/>
                <a:cs typeface="Verdana"/>
              </a:rPr>
              <a:t>d</a:t>
            </a:r>
            <a:r>
              <a:rPr sz="2500" spc="15" dirty="0">
                <a:latin typeface="Verdana"/>
                <a:cs typeface="Verdana"/>
              </a:rPr>
              <a:t>e</a:t>
            </a:r>
            <a:r>
              <a:rPr sz="2500" spc="-229" dirty="0">
                <a:latin typeface="Verdana"/>
                <a:cs typeface="Verdana"/>
              </a:rPr>
              <a:t> </a:t>
            </a:r>
            <a:r>
              <a:rPr sz="2500" spc="-90" dirty="0">
                <a:latin typeface="Verdana"/>
                <a:cs typeface="Verdana"/>
              </a:rPr>
              <a:t>s</a:t>
            </a:r>
            <a:r>
              <a:rPr sz="2500" spc="20" dirty="0">
                <a:latin typeface="Verdana"/>
                <a:cs typeface="Verdana"/>
              </a:rPr>
              <a:t>t</a:t>
            </a:r>
            <a:r>
              <a:rPr sz="2500" spc="-190" dirty="0">
                <a:latin typeface="Verdana"/>
                <a:cs typeface="Verdana"/>
              </a:rPr>
              <a:t>r</a:t>
            </a:r>
            <a:r>
              <a:rPr sz="2500" spc="-35" dirty="0">
                <a:latin typeface="Verdana"/>
                <a:cs typeface="Verdana"/>
              </a:rPr>
              <a:t>a</a:t>
            </a:r>
            <a:r>
              <a:rPr sz="2500" spc="-25" dirty="0">
                <a:latin typeface="Verdana"/>
                <a:cs typeface="Verdana"/>
              </a:rPr>
              <a:t>t</a:t>
            </a:r>
            <a:r>
              <a:rPr sz="2500" spc="10" dirty="0">
                <a:latin typeface="Verdana"/>
                <a:cs typeface="Verdana"/>
              </a:rPr>
              <a:t>e</a:t>
            </a:r>
            <a:r>
              <a:rPr sz="2500" spc="145" dirty="0">
                <a:latin typeface="Verdana"/>
                <a:cs typeface="Verdana"/>
              </a:rPr>
              <a:t>g</a:t>
            </a:r>
            <a:r>
              <a:rPr sz="2500" spc="-20" dirty="0">
                <a:latin typeface="Verdana"/>
                <a:cs typeface="Verdana"/>
              </a:rPr>
              <a:t>i</a:t>
            </a:r>
            <a:r>
              <a:rPr sz="2500" spc="100" dirty="0">
                <a:latin typeface="Verdana"/>
                <a:cs typeface="Verdana"/>
              </a:rPr>
              <a:t>c</a:t>
            </a:r>
            <a:r>
              <a:rPr sz="2500" spc="-229" dirty="0">
                <a:latin typeface="Verdana"/>
                <a:cs typeface="Verdana"/>
              </a:rPr>
              <a:t> </a:t>
            </a:r>
            <a:r>
              <a:rPr sz="2500" spc="125" dirty="0">
                <a:latin typeface="Verdana"/>
                <a:cs typeface="Verdana"/>
              </a:rPr>
              <a:t>d</a:t>
            </a:r>
            <a:r>
              <a:rPr sz="2500" spc="10" dirty="0">
                <a:latin typeface="Verdana"/>
                <a:cs typeface="Verdana"/>
              </a:rPr>
              <a:t>e</a:t>
            </a:r>
            <a:r>
              <a:rPr sz="2500" spc="75" dirty="0">
                <a:latin typeface="Verdana"/>
                <a:cs typeface="Verdana"/>
              </a:rPr>
              <a:t>c</a:t>
            </a:r>
            <a:r>
              <a:rPr sz="2500" spc="-20" dirty="0">
                <a:latin typeface="Verdana"/>
                <a:cs typeface="Verdana"/>
              </a:rPr>
              <a:t>i</a:t>
            </a:r>
            <a:r>
              <a:rPr sz="2500" spc="-90" dirty="0">
                <a:latin typeface="Verdana"/>
                <a:cs typeface="Verdana"/>
              </a:rPr>
              <a:t>s</a:t>
            </a:r>
            <a:r>
              <a:rPr sz="2500" spc="-20" dirty="0">
                <a:latin typeface="Verdana"/>
                <a:cs typeface="Verdana"/>
              </a:rPr>
              <a:t>i</a:t>
            </a:r>
            <a:r>
              <a:rPr sz="2500" spc="40" dirty="0">
                <a:latin typeface="Verdana"/>
                <a:cs typeface="Verdana"/>
              </a:rPr>
              <a:t>o</a:t>
            </a:r>
            <a:r>
              <a:rPr sz="2500" spc="95" dirty="0">
                <a:latin typeface="Verdana"/>
                <a:cs typeface="Verdana"/>
              </a:rPr>
              <a:t>n</a:t>
            </a:r>
            <a:r>
              <a:rPr sz="2500" spc="-190" dirty="0">
                <a:latin typeface="Verdana"/>
                <a:cs typeface="Verdana"/>
              </a:rPr>
              <a:t>-</a:t>
            </a:r>
            <a:r>
              <a:rPr sz="2500" spc="210" dirty="0">
                <a:latin typeface="Verdana"/>
                <a:cs typeface="Verdana"/>
              </a:rPr>
              <a:t>m</a:t>
            </a:r>
            <a:r>
              <a:rPr sz="2500" spc="-35" dirty="0">
                <a:latin typeface="Verdana"/>
                <a:cs typeface="Verdana"/>
              </a:rPr>
              <a:t>a</a:t>
            </a:r>
            <a:r>
              <a:rPr sz="2500" spc="15" dirty="0">
                <a:latin typeface="Verdana"/>
                <a:cs typeface="Verdana"/>
              </a:rPr>
              <a:t>k</a:t>
            </a:r>
            <a:r>
              <a:rPr sz="2500" spc="-20" dirty="0">
                <a:latin typeface="Verdana"/>
                <a:cs typeface="Verdana"/>
              </a:rPr>
              <a:t>i</a:t>
            </a:r>
            <a:r>
              <a:rPr sz="2500" spc="95" dirty="0">
                <a:latin typeface="Verdana"/>
                <a:cs typeface="Verdana"/>
              </a:rPr>
              <a:t>n</a:t>
            </a:r>
            <a:r>
              <a:rPr sz="2500" spc="145" dirty="0">
                <a:latin typeface="Verdana"/>
                <a:cs typeface="Verdana"/>
              </a:rPr>
              <a:t>g</a:t>
            </a:r>
            <a:r>
              <a:rPr sz="2500" spc="-385" dirty="0">
                <a:latin typeface="Verdana"/>
                <a:cs typeface="Verdana"/>
              </a:rPr>
              <a:t>.</a:t>
            </a:r>
            <a:endParaRPr sz="25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3000" b="1" spc="5" dirty="0">
                <a:solidFill>
                  <a:srgbClr val="F20000"/>
                </a:solidFill>
                <a:latin typeface="Tahoma"/>
                <a:cs typeface="Tahoma"/>
              </a:rPr>
              <a:t>Objectives:</a:t>
            </a:r>
            <a:endParaRPr sz="3000" dirty="0">
              <a:latin typeface="Tahoma"/>
              <a:cs typeface="Tahoma"/>
            </a:endParaRPr>
          </a:p>
          <a:p>
            <a:pPr marL="400685" marR="5080" algn="just">
              <a:lnSpc>
                <a:spcPct val="115599"/>
              </a:lnSpc>
              <a:spcBef>
                <a:spcPts val="50"/>
              </a:spcBef>
            </a:pPr>
            <a:r>
              <a:rPr sz="2550" b="1" i="1" spc="-195" dirty="0">
                <a:latin typeface="Verdana"/>
                <a:cs typeface="Verdana"/>
              </a:rPr>
              <a:t>Identify </a:t>
            </a:r>
            <a:r>
              <a:rPr sz="2550" b="1" i="1" spc="-145" dirty="0">
                <a:latin typeface="Verdana"/>
                <a:cs typeface="Verdana"/>
              </a:rPr>
              <a:t>High-Potential </a:t>
            </a:r>
            <a:r>
              <a:rPr sz="2550" b="1" i="1" spc="-235" dirty="0">
                <a:latin typeface="Verdana"/>
                <a:cs typeface="Verdana"/>
              </a:rPr>
              <a:t>Areas: </a:t>
            </a:r>
            <a:r>
              <a:rPr sz="2500" dirty="0">
                <a:latin typeface="Verdana"/>
                <a:cs typeface="Verdana"/>
              </a:rPr>
              <a:t>The </a:t>
            </a:r>
            <a:r>
              <a:rPr sz="2500" spc="5" dirty="0">
                <a:latin typeface="Verdana"/>
                <a:cs typeface="Verdana"/>
              </a:rPr>
              <a:t>primary </a:t>
            </a:r>
            <a:r>
              <a:rPr sz="2500" spc="30" dirty="0">
                <a:latin typeface="Verdana"/>
                <a:cs typeface="Verdana"/>
              </a:rPr>
              <a:t>goal </a:t>
            </a:r>
            <a:r>
              <a:rPr sz="2500" spc="-55" dirty="0">
                <a:latin typeface="Verdana"/>
                <a:cs typeface="Verdana"/>
              </a:rPr>
              <a:t>is</a:t>
            </a:r>
            <a:r>
              <a:rPr lang="en-IN" sz="2500" spc="-55" dirty="0">
                <a:latin typeface="Verdana"/>
                <a:cs typeface="Verdana"/>
              </a:rPr>
              <a:t> </a:t>
            </a:r>
            <a:r>
              <a:rPr sz="2500" spc="10" dirty="0">
                <a:latin typeface="Verdana"/>
                <a:cs typeface="Verdana"/>
              </a:rPr>
              <a:t>to </a:t>
            </a:r>
            <a:r>
              <a:rPr sz="2500" spc="60" dirty="0">
                <a:latin typeface="Verdana"/>
                <a:cs typeface="Verdana"/>
              </a:rPr>
              <a:t>pinpoint </a:t>
            </a:r>
            <a:r>
              <a:rPr sz="2500" spc="-5" dirty="0">
                <a:latin typeface="Verdana"/>
                <a:cs typeface="Verdana"/>
              </a:rPr>
              <a:t>cities </a:t>
            </a:r>
            <a:r>
              <a:rPr sz="2500" spc="65" dirty="0">
                <a:latin typeface="Verdana"/>
                <a:cs typeface="Verdana"/>
              </a:rPr>
              <a:t>and </a:t>
            </a:r>
            <a:r>
              <a:rPr sz="2500" spc="10" dirty="0">
                <a:latin typeface="Verdana"/>
                <a:cs typeface="Verdana"/>
              </a:rPr>
              <a:t>regions </a:t>
            </a:r>
            <a:r>
              <a:rPr sz="2500" spc="60" dirty="0">
                <a:latin typeface="Verdana"/>
                <a:cs typeface="Verdana"/>
              </a:rPr>
              <a:t>with </a:t>
            </a:r>
            <a:r>
              <a:rPr sz="2500" spc="45" dirty="0">
                <a:latin typeface="Verdana"/>
                <a:cs typeface="Verdana"/>
              </a:rPr>
              <a:t>the </a:t>
            </a:r>
            <a:r>
              <a:rPr sz="2500" spc="35" dirty="0">
                <a:latin typeface="Verdana"/>
                <a:cs typeface="Verdana"/>
              </a:rPr>
              <a:t>highest</a:t>
            </a:r>
            <a:r>
              <a:rPr lang="en-IN" sz="2500" spc="35" dirty="0">
                <a:latin typeface="Verdana"/>
                <a:cs typeface="Verdana"/>
              </a:rPr>
              <a:t> </a:t>
            </a:r>
            <a:r>
              <a:rPr sz="2500" spc="20" dirty="0">
                <a:latin typeface="Verdana"/>
                <a:cs typeface="Verdana"/>
              </a:rPr>
              <a:t>potential</a:t>
            </a:r>
            <a:r>
              <a:rPr sz="2500" spc="25" dirty="0">
                <a:latin typeface="Verdana"/>
                <a:cs typeface="Verdana"/>
              </a:rPr>
              <a:t> </a:t>
            </a:r>
            <a:r>
              <a:rPr sz="2500" spc="-30" dirty="0">
                <a:latin typeface="Verdana"/>
                <a:cs typeface="Verdana"/>
              </a:rPr>
              <a:t>for</a:t>
            </a:r>
            <a:r>
              <a:rPr sz="2500" spc="-25" dirty="0">
                <a:latin typeface="Verdana"/>
                <a:cs typeface="Verdana"/>
              </a:rPr>
              <a:t> </a:t>
            </a:r>
            <a:r>
              <a:rPr sz="2500" spc="-20" dirty="0">
                <a:latin typeface="Verdana"/>
                <a:cs typeface="Verdana"/>
              </a:rPr>
              <a:t>restaurant</a:t>
            </a:r>
            <a:r>
              <a:rPr sz="2500" spc="-15" dirty="0">
                <a:latin typeface="Verdana"/>
                <a:cs typeface="Verdana"/>
              </a:rPr>
              <a:t> </a:t>
            </a:r>
            <a:r>
              <a:rPr sz="2500" spc="-35" dirty="0">
                <a:latin typeface="Verdana"/>
                <a:cs typeface="Verdana"/>
              </a:rPr>
              <a:t>expansion,</a:t>
            </a:r>
            <a:r>
              <a:rPr sz="2500" spc="-30" dirty="0">
                <a:latin typeface="Verdana"/>
                <a:cs typeface="Verdana"/>
              </a:rPr>
              <a:t> </a:t>
            </a:r>
            <a:r>
              <a:rPr sz="2500" spc="25" dirty="0">
                <a:latin typeface="Verdana"/>
                <a:cs typeface="Verdana"/>
              </a:rPr>
              <a:t>based</a:t>
            </a:r>
            <a:r>
              <a:rPr sz="2500" spc="30" dirty="0">
                <a:latin typeface="Verdana"/>
                <a:cs typeface="Verdana"/>
              </a:rPr>
              <a:t> </a:t>
            </a:r>
            <a:r>
              <a:rPr sz="2500" spc="70" dirty="0">
                <a:latin typeface="Verdana"/>
                <a:cs typeface="Verdana"/>
              </a:rPr>
              <a:t>on</a:t>
            </a:r>
            <a:r>
              <a:rPr lang="en-IN" sz="2500" spc="70" dirty="0">
                <a:latin typeface="Verdana"/>
                <a:cs typeface="Verdana"/>
              </a:rPr>
              <a:t> </a:t>
            </a:r>
            <a:r>
              <a:rPr sz="2500" spc="95" dirty="0">
                <a:latin typeface="Verdana"/>
                <a:cs typeface="Verdana"/>
              </a:rPr>
              <a:t>c</a:t>
            </a:r>
            <a:r>
              <a:rPr sz="2500" spc="85" dirty="0">
                <a:latin typeface="Verdana"/>
                <a:cs typeface="Verdana"/>
              </a:rPr>
              <a:t>u</a:t>
            </a:r>
            <a:r>
              <a:rPr sz="2500" spc="-90" dirty="0">
                <a:latin typeface="Verdana"/>
                <a:cs typeface="Verdana"/>
              </a:rPr>
              <a:t>s</a:t>
            </a:r>
            <a:r>
              <a:rPr sz="2500" spc="-25" dirty="0">
                <a:latin typeface="Verdana"/>
                <a:cs typeface="Verdana"/>
              </a:rPr>
              <a:t>t</a:t>
            </a:r>
            <a:r>
              <a:rPr sz="2500" spc="40" dirty="0">
                <a:latin typeface="Verdana"/>
                <a:cs typeface="Verdana"/>
              </a:rPr>
              <a:t>o</a:t>
            </a:r>
            <a:r>
              <a:rPr sz="2500" spc="210" dirty="0">
                <a:latin typeface="Verdana"/>
                <a:cs typeface="Verdana"/>
              </a:rPr>
              <a:t>m</a:t>
            </a:r>
            <a:r>
              <a:rPr sz="2500" spc="10" dirty="0">
                <a:latin typeface="Verdana"/>
                <a:cs typeface="Verdana"/>
              </a:rPr>
              <a:t>e</a:t>
            </a:r>
            <a:r>
              <a:rPr sz="2500" spc="-70" dirty="0">
                <a:latin typeface="Verdana"/>
                <a:cs typeface="Verdana"/>
              </a:rPr>
              <a:t>r</a:t>
            </a:r>
            <a:r>
              <a:rPr sz="2500" spc="-229" dirty="0">
                <a:latin typeface="Verdana"/>
                <a:cs typeface="Verdana"/>
              </a:rPr>
              <a:t> </a:t>
            </a:r>
            <a:r>
              <a:rPr sz="2500" spc="-90" dirty="0">
                <a:latin typeface="Verdana"/>
                <a:cs typeface="Verdana"/>
              </a:rPr>
              <a:t>s</a:t>
            </a:r>
            <a:r>
              <a:rPr sz="2500" spc="-35" dirty="0">
                <a:latin typeface="Verdana"/>
                <a:cs typeface="Verdana"/>
              </a:rPr>
              <a:t>a</a:t>
            </a:r>
            <a:r>
              <a:rPr sz="2500" spc="20" dirty="0">
                <a:latin typeface="Verdana"/>
                <a:cs typeface="Verdana"/>
              </a:rPr>
              <a:t>t</a:t>
            </a:r>
            <a:r>
              <a:rPr sz="2500" spc="-20" dirty="0">
                <a:latin typeface="Verdana"/>
                <a:cs typeface="Verdana"/>
              </a:rPr>
              <a:t>i</a:t>
            </a:r>
            <a:r>
              <a:rPr sz="2500" spc="-90" dirty="0">
                <a:latin typeface="Verdana"/>
                <a:cs typeface="Verdana"/>
              </a:rPr>
              <a:t>s</a:t>
            </a:r>
            <a:r>
              <a:rPr sz="2500" spc="-65" dirty="0">
                <a:latin typeface="Verdana"/>
                <a:cs typeface="Verdana"/>
              </a:rPr>
              <a:t>f</a:t>
            </a:r>
            <a:r>
              <a:rPr sz="2500" spc="-35" dirty="0">
                <a:latin typeface="Verdana"/>
                <a:cs typeface="Verdana"/>
              </a:rPr>
              <a:t>a</a:t>
            </a:r>
            <a:r>
              <a:rPr sz="2500" spc="110" dirty="0">
                <a:latin typeface="Verdana"/>
                <a:cs typeface="Verdana"/>
              </a:rPr>
              <a:t>c</a:t>
            </a:r>
            <a:r>
              <a:rPr sz="2500" spc="20" dirty="0">
                <a:latin typeface="Verdana"/>
                <a:cs typeface="Verdana"/>
              </a:rPr>
              <a:t>t</a:t>
            </a:r>
            <a:r>
              <a:rPr sz="2500" spc="-20" dirty="0">
                <a:latin typeface="Verdana"/>
                <a:cs typeface="Verdana"/>
              </a:rPr>
              <a:t>i</a:t>
            </a:r>
            <a:r>
              <a:rPr sz="2500" spc="40" dirty="0">
                <a:latin typeface="Verdana"/>
                <a:cs typeface="Verdana"/>
              </a:rPr>
              <a:t>o</a:t>
            </a:r>
            <a:r>
              <a:rPr sz="2500" spc="100" dirty="0">
                <a:latin typeface="Verdana"/>
                <a:cs typeface="Verdana"/>
              </a:rPr>
              <a:t>n</a:t>
            </a:r>
            <a:r>
              <a:rPr sz="2500" spc="-229" dirty="0">
                <a:latin typeface="Verdana"/>
                <a:cs typeface="Verdana"/>
              </a:rPr>
              <a:t> </a:t>
            </a:r>
            <a:r>
              <a:rPr sz="2500" spc="-35" dirty="0">
                <a:latin typeface="Verdana"/>
                <a:cs typeface="Verdana"/>
              </a:rPr>
              <a:t>a</a:t>
            </a:r>
            <a:r>
              <a:rPr sz="2500" spc="95" dirty="0">
                <a:latin typeface="Verdana"/>
                <a:cs typeface="Verdana"/>
              </a:rPr>
              <a:t>n</a:t>
            </a:r>
            <a:r>
              <a:rPr sz="2500" spc="130" dirty="0">
                <a:latin typeface="Verdana"/>
                <a:cs typeface="Verdana"/>
              </a:rPr>
              <a:t>d</a:t>
            </a:r>
            <a:r>
              <a:rPr sz="2500" spc="-229" dirty="0">
                <a:latin typeface="Verdana"/>
                <a:cs typeface="Verdana"/>
              </a:rPr>
              <a:t> </a:t>
            </a:r>
            <a:r>
              <a:rPr sz="2500" spc="210" dirty="0">
                <a:latin typeface="Verdana"/>
                <a:cs typeface="Verdana"/>
              </a:rPr>
              <a:t>m</a:t>
            </a:r>
            <a:r>
              <a:rPr sz="2500" spc="-35" dirty="0">
                <a:latin typeface="Verdana"/>
                <a:cs typeface="Verdana"/>
              </a:rPr>
              <a:t>a</a:t>
            </a:r>
            <a:r>
              <a:rPr sz="2500" spc="-95" dirty="0">
                <a:latin typeface="Verdana"/>
                <a:cs typeface="Verdana"/>
              </a:rPr>
              <a:t>r</a:t>
            </a:r>
            <a:r>
              <a:rPr sz="2500" spc="-35" dirty="0">
                <a:latin typeface="Verdana"/>
                <a:cs typeface="Verdana"/>
              </a:rPr>
              <a:t>k</a:t>
            </a:r>
            <a:r>
              <a:rPr sz="2500" spc="10" dirty="0">
                <a:latin typeface="Verdana"/>
                <a:cs typeface="Verdana"/>
              </a:rPr>
              <a:t>e</a:t>
            </a:r>
            <a:r>
              <a:rPr sz="2500" spc="25" dirty="0">
                <a:latin typeface="Verdana"/>
                <a:cs typeface="Verdana"/>
              </a:rPr>
              <a:t>t</a:t>
            </a:r>
            <a:r>
              <a:rPr sz="2500" spc="-229" dirty="0">
                <a:latin typeface="Verdana"/>
                <a:cs typeface="Verdana"/>
              </a:rPr>
              <a:t> </a:t>
            </a:r>
            <a:r>
              <a:rPr sz="2500" spc="75" dirty="0">
                <a:latin typeface="Verdana"/>
                <a:cs typeface="Verdana"/>
              </a:rPr>
              <a:t>c</a:t>
            </a:r>
            <a:r>
              <a:rPr sz="2500" spc="40" dirty="0">
                <a:latin typeface="Verdana"/>
                <a:cs typeface="Verdana"/>
              </a:rPr>
              <a:t>o</a:t>
            </a:r>
            <a:r>
              <a:rPr sz="2500" spc="95" dirty="0">
                <a:latin typeface="Verdana"/>
                <a:cs typeface="Verdana"/>
              </a:rPr>
              <a:t>n</a:t>
            </a:r>
            <a:r>
              <a:rPr sz="2500" spc="125" dirty="0">
                <a:latin typeface="Verdana"/>
                <a:cs typeface="Verdana"/>
              </a:rPr>
              <a:t>d</a:t>
            </a:r>
            <a:r>
              <a:rPr sz="2500" spc="-20" dirty="0">
                <a:latin typeface="Verdana"/>
                <a:cs typeface="Verdana"/>
              </a:rPr>
              <a:t>i</a:t>
            </a:r>
            <a:r>
              <a:rPr sz="2500" spc="20" dirty="0">
                <a:latin typeface="Verdana"/>
                <a:cs typeface="Verdana"/>
              </a:rPr>
              <a:t>t</a:t>
            </a:r>
            <a:r>
              <a:rPr sz="2500" spc="-20" dirty="0">
                <a:latin typeface="Verdana"/>
                <a:cs typeface="Verdana"/>
              </a:rPr>
              <a:t>i</a:t>
            </a:r>
            <a:r>
              <a:rPr sz="2500" spc="40" dirty="0">
                <a:latin typeface="Verdana"/>
                <a:cs typeface="Verdana"/>
              </a:rPr>
              <a:t>o</a:t>
            </a:r>
            <a:r>
              <a:rPr sz="2500" spc="95" dirty="0">
                <a:latin typeface="Verdana"/>
                <a:cs typeface="Verdana"/>
              </a:rPr>
              <a:t>n</a:t>
            </a:r>
            <a:r>
              <a:rPr sz="2500" spc="-90" dirty="0">
                <a:latin typeface="Verdana"/>
                <a:cs typeface="Verdana"/>
              </a:rPr>
              <a:t>s</a:t>
            </a:r>
            <a:r>
              <a:rPr sz="2500" spc="-385" dirty="0">
                <a:latin typeface="Verdana"/>
                <a:cs typeface="Verdana"/>
              </a:rPr>
              <a:t>.</a:t>
            </a:r>
            <a:endParaRPr sz="2500" dirty="0">
              <a:latin typeface="Verdana"/>
              <a:cs typeface="Verdana"/>
            </a:endParaRPr>
          </a:p>
          <a:p>
            <a:pPr marL="400685" algn="just">
              <a:lnSpc>
                <a:spcPct val="100000"/>
              </a:lnSpc>
              <a:spcBef>
                <a:spcPts val="475"/>
              </a:spcBef>
            </a:pPr>
            <a:r>
              <a:rPr sz="2550" b="1" i="1" spc="-140" dirty="0">
                <a:latin typeface="Verdana"/>
                <a:cs typeface="Verdana"/>
              </a:rPr>
              <a:t>Understand</a:t>
            </a:r>
            <a:r>
              <a:rPr sz="2550" b="1" i="1" spc="830" dirty="0">
                <a:latin typeface="Verdana"/>
                <a:cs typeface="Verdana"/>
              </a:rPr>
              <a:t> </a:t>
            </a:r>
            <a:r>
              <a:rPr sz="2550" b="1" i="1" spc="-155" dirty="0">
                <a:latin typeface="Verdana"/>
                <a:cs typeface="Verdana"/>
              </a:rPr>
              <a:t>Market</a:t>
            </a:r>
            <a:r>
              <a:rPr sz="2550" b="1" i="1" spc="830" dirty="0">
                <a:latin typeface="Verdana"/>
                <a:cs typeface="Verdana"/>
              </a:rPr>
              <a:t> </a:t>
            </a:r>
            <a:r>
              <a:rPr sz="2550" b="1" i="1" spc="-215" dirty="0">
                <a:latin typeface="Verdana"/>
                <a:cs typeface="Verdana"/>
              </a:rPr>
              <a:t>Trends:</a:t>
            </a:r>
            <a:r>
              <a:rPr sz="2550" b="1" i="1" spc="800" dirty="0">
                <a:latin typeface="Verdana"/>
                <a:cs typeface="Verdana"/>
              </a:rPr>
              <a:t> </a:t>
            </a:r>
            <a:r>
              <a:rPr sz="2500" spc="-15" dirty="0">
                <a:latin typeface="Verdana"/>
                <a:cs typeface="Verdana"/>
              </a:rPr>
              <a:t>Analyze</a:t>
            </a:r>
            <a:r>
              <a:rPr sz="2500" spc="790" dirty="0">
                <a:latin typeface="Verdana"/>
                <a:cs typeface="Verdana"/>
              </a:rPr>
              <a:t> </a:t>
            </a:r>
            <a:r>
              <a:rPr sz="2500" spc="-20" dirty="0">
                <a:latin typeface="Verdana"/>
                <a:cs typeface="Verdana"/>
              </a:rPr>
              <a:t>restaurant</a:t>
            </a:r>
            <a:endParaRPr sz="2500" dirty="0">
              <a:latin typeface="Verdana"/>
              <a:cs typeface="Verdana"/>
            </a:endParaRPr>
          </a:p>
          <a:p>
            <a:pPr marL="400685" marR="5080">
              <a:lnSpc>
                <a:spcPct val="114999"/>
              </a:lnSpc>
              <a:spcBef>
                <a:spcPts val="65"/>
              </a:spcBef>
            </a:pPr>
            <a:r>
              <a:rPr sz="2500" spc="-10" dirty="0">
                <a:latin typeface="Verdana"/>
                <a:cs typeface="Verdana"/>
              </a:rPr>
              <a:t>ratings</a:t>
            </a:r>
            <a:r>
              <a:rPr sz="2500" spc="55" dirty="0">
                <a:latin typeface="Verdana"/>
                <a:cs typeface="Verdana"/>
              </a:rPr>
              <a:t> </a:t>
            </a:r>
            <a:r>
              <a:rPr sz="2500" spc="65" dirty="0">
                <a:latin typeface="Verdana"/>
                <a:cs typeface="Verdana"/>
              </a:rPr>
              <a:t>and</a:t>
            </a:r>
            <a:r>
              <a:rPr sz="2500" spc="60" dirty="0">
                <a:latin typeface="Verdana"/>
                <a:cs typeface="Verdana"/>
              </a:rPr>
              <a:t> </a:t>
            </a:r>
            <a:r>
              <a:rPr sz="2500" spc="50" dirty="0">
                <a:latin typeface="Verdana"/>
                <a:cs typeface="Verdana"/>
              </a:rPr>
              <a:t>openings</a:t>
            </a:r>
            <a:r>
              <a:rPr sz="2500" spc="60" dirty="0">
                <a:latin typeface="Verdana"/>
                <a:cs typeface="Verdana"/>
              </a:rPr>
              <a:t> </a:t>
            </a:r>
            <a:r>
              <a:rPr sz="2500" spc="-55" dirty="0">
                <a:latin typeface="Verdana"/>
                <a:cs typeface="Verdana"/>
              </a:rPr>
              <a:t>over</a:t>
            </a:r>
            <a:r>
              <a:rPr sz="2500" spc="60" dirty="0">
                <a:latin typeface="Verdana"/>
                <a:cs typeface="Verdana"/>
              </a:rPr>
              <a:t> </a:t>
            </a:r>
            <a:r>
              <a:rPr sz="2500" spc="55" dirty="0">
                <a:latin typeface="Verdana"/>
                <a:cs typeface="Verdana"/>
              </a:rPr>
              <a:t>time </a:t>
            </a:r>
            <a:r>
              <a:rPr sz="2500" spc="10" dirty="0">
                <a:latin typeface="Verdana"/>
                <a:cs typeface="Verdana"/>
              </a:rPr>
              <a:t>to</a:t>
            </a:r>
            <a:r>
              <a:rPr sz="2500" spc="60" dirty="0">
                <a:latin typeface="Verdana"/>
                <a:cs typeface="Verdana"/>
              </a:rPr>
              <a:t> </a:t>
            </a:r>
            <a:r>
              <a:rPr sz="2500" spc="10" dirty="0">
                <a:latin typeface="Verdana"/>
                <a:cs typeface="Verdana"/>
              </a:rPr>
              <a:t>identify</a:t>
            </a:r>
            <a:r>
              <a:rPr sz="2500" spc="60" dirty="0">
                <a:latin typeface="Verdana"/>
                <a:cs typeface="Verdana"/>
              </a:rPr>
              <a:t> </a:t>
            </a:r>
            <a:r>
              <a:rPr sz="2500" spc="10" dirty="0">
                <a:latin typeface="Verdana"/>
                <a:cs typeface="Verdana"/>
              </a:rPr>
              <a:t>trends</a:t>
            </a:r>
            <a:r>
              <a:rPr lang="en-IN" sz="2500" spc="10" dirty="0">
                <a:latin typeface="Verdana"/>
                <a:cs typeface="Verdana"/>
              </a:rPr>
              <a:t> </a:t>
            </a:r>
            <a:r>
              <a:rPr sz="2500" spc="65" dirty="0">
                <a:latin typeface="Verdana"/>
                <a:cs typeface="Verdana"/>
              </a:rPr>
              <a:t>and</a:t>
            </a:r>
            <a:r>
              <a:rPr sz="2500" spc="-229" dirty="0">
                <a:latin typeface="Verdana"/>
                <a:cs typeface="Verdana"/>
              </a:rPr>
              <a:t> </a:t>
            </a:r>
            <a:r>
              <a:rPr sz="2500" spc="-20" dirty="0">
                <a:latin typeface="Verdana"/>
                <a:cs typeface="Verdana"/>
              </a:rPr>
              <a:t>shifts</a:t>
            </a:r>
            <a:r>
              <a:rPr sz="2500" spc="-229" dirty="0">
                <a:latin typeface="Verdana"/>
                <a:cs typeface="Verdana"/>
              </a:rPr>
              <a:t> </a:t>
            </a:r>
            <a:r>
              <a:rPr sz="2500" spc="40" dirty="0">
                <a:latin typeface="Verdana"/>
                <a:cs typeface="Verdana"/>
              </a:rPr>
              <a:t>in</a:t>
            </a:r>
            <a:r>
              <a:rPr sz="2500" spc="-229" dirty="0">
                <a:latin typeface="Verdana"/>
                <a:cs typeface="Verdana"/>
              </a:rPr>
              <a:t> </a:t>
            </a:r>
            <a:r>
              <a:rPr sz="2500" spc="30" dirty="0">
                <a:latin typeface="Verdana"/>
                <a:cs typeface="Verdana"/>
              </a:rPr>
              <a:t>customer</a:t>
            </a:r>
            <a:r>
              <a:rPr sz="2500" spc="-229" dirty="0">
                <a:latin typeface="Verdana"/>
                <a:cs typeface="Verdana"/>
              </a:rPr>
              <a:t> </a:t>
            </a:r>
            <a:r>
              <a:rPr sz="2500" spc="-35" dirty="0">
                <a:latin typeface="Verdana"/>
                <a:cs typeface="Verdana"/>
              </a:rPr>
              <a:t>preferences.</a:t>
            </a:r>
            <a:endParaRPr sz="2500" dirty="0">
              <a:latin typeface="Verdana"/>
              <a:cs typeface="Verdana"/>
            </a:endParaRPr>
          </a:p>
          <a:p>
            <a:pPr marL="400685" marR="5080">
              <a:lnSpc>
                <a:spcPct val="114399"/>
              </a:lnSpc>
              <a:spcBef>
                <a:spcPts val="35"/>
              </a:spcBef>
              <a:tabLst>
                <a:tab pos="1641475" algn="l"/>
                <a:tab pos="4834890" algn="l"/>
                <a:tab pos="5400040" algn="l"/>
                <a:tab pos="6954520" algn="l"/>
              </a:tabLst>
            </a:pPr>
            <a:r>
              <a:rPr sz="2550" b="1" i="1" spc="-120" dirty="0">
                <a:latin typeface="Verdana"/>
                <a:cs typeface="Verdana"/>
              </a:rPr>
              <a:t>Enhance</a:t>
            </a:r>
            <a:r>
              <a:rPr sz="2550" b="1" i="1" spc="315" dirty="0">
                <a:latin typeface="Verdana"/>
                <a:cs typeface="Verdana"/>
              </a:rPr>
              <a:t> </a:t>
            </a:r>
            <a:r>
              <a:rPr sz="2550" b="1" i="1" spc="-135" dirty="0">
                <a:latin typeface="Verdana"/>
                <a:cs typeface="Verdana"/>
              </a:rPr>
              <a:t>Competitive</a:t>
            </a:r>
            <a:r>
              <a:rPr sz="2550" b="1" i="1" spc="320" dirty="0">
                <a:latin typeface="Verdana"/>
                <a:cs typeface="Verdana"/>
              </a:rPr>
              <a:t> </a:t>
            </a:r>
            <a:r>
              <a:rPr sz="2550" b="1" i="1" spc="-160" dirty="0">
                <a:latin typeface="Verdana"/>
                <a:cs typeface="Verdana"/>
              </a:rPr>
              <a:t>Positioning:</a:t>
            </a:r>
            <a:r>
              <a:rPr sz="2550" b="1" i="1" spc="290" dirty="0">
                <a:latin typeface="Verdana"/>
                <a:cs typeface="Verdana"/>
              </a:rPr>
              <a:t> </a:t>
            </a:r>
            <a:r>
              <a:rPr sz="2500" spc="15" dirty="0">
                <a:latin typeface="Verdana"/>
                <a:cs typeface="Verdana"/>
              </a:rPr>
              <a:t>Provide</a:t>
            </a:r>
            <a:r>
              <a:rPr sz="2500" spc="280" dirty="0">
                <a:latin typeface="Verdana"/>
                <a:cs typeface="Verdana"/>
              </a:rPr>
              <a:t> </a:t>
            </a:r>
            <a:r>
              <a:rPr lang="en-IN" sz="2500" spc="-20" dirty="0">
                <a:latin typeface="Verdana"/>
                <a:cs typeface="Verdana"/>
              </a:rPr>
              <a:t>data-driven</a:t>
            </a:r>
            <a:r>
              <a:rPr sz="2500" dirty="0">
                <a:latin typeface="Verdana"/>
                <a:cs typeface="Verdana"/>
              </a:rPr>
              <a:t>	</a:t>
            </a:r>
            <a:r>
              <a:rPr sz="2500" spc="-105" dirty="0">
                <a:latin typeface="Verdana"/>
                <a:cs typeface="Verdana"/>
              </a:rPr>
              <a:t>r</a:t>
            </a:r>
            <a:r>
              <a:rPr sz="2500" spc="10" dirty="0">
                <a:latin typeface="Verdana"/>
                <a:cs typeface="Verdana"/>
              </a:rPr>
              <a:t>e</a:t>
            </a:r>
            <a:r>
              <a:rPr sz="2500" spc="75" dirty="0">
                <a:latin typeface="Verdana"/>
                <a:cs typeface="Verdana"/>
              </a:rPr>
              <a:t>c</a:t>
            </a:r>
            <a:r>
              <a:rPr sz="2500" spc="40" dirty="0">
                <a:latin typeface="Verdana"/>
                <a:cs typeface="Verdana"/>
              </a:rPr>
              <a:t>o</a:t>
            </a:r>
            <a:r>
              <a:rPr sz="2500" spc="210" dirty="0">
                <a:latin typeface="Verdana"/>
                <a:cs typeface="Verdana"/>
              </a:rPr>
              <a:t>mm</a:t>
            </a:r>
            <a:r>
              <a:rPr sz="2500" spc="10" dirty="0">
                <a:latin typeface="Verdana"/>
                <a:cs typeface="Verdana"/>
              </a:rPr>
              <a:t>e</a:t>
            </a:r>
            <a:r>
              <a:rPr sz="2500" spc="95" dirty="0">
                <a:latin typeface="Verdana"/>
                <a:cs typeface="Verdana"/>
              </a:rPr>
              <a:t>n</a:t>
            </a:r>
            <a:r>
              <a:rPr sz="2500" spc="125" dirty="0">
                <a:latin typeface="Verdana"/>
                <a:cs typeface="Verdana"/>
              </a:rPr>
              <a:t>d</a:t>
            </a:r>
            <a:r>
              <a:rPr sz="2500" spc="-35" dirty="0">
                <a:latin typeface="Verdana"/>
                <a:cs typeface="Verdana"/>
              </a:rPr>
              <a:t>a</a:t>
            </a:r>
            <a:r>
              <a:rPr sz="2500" spc="20" dirty="0">
                <a:latin typeface="Verdana"/>
                <a:cs typeface="Verdana"/>
              </a:rPr>
              <a:t>t</a:t>
            </a:r>
            <a:r>
              <a:rPr sz="2500" spc="-20" dirty="0">
                <a:latin typeface="Verdana"/>
                <a:cs typeface="Verdana"/>
              </a:rPr>
              <a:t>i</a:t>
            </a:r>
            <a:r>
              <a:rPr sz="2500" spc="40" dirty="0">
                <a:latin typeface="Verdana"/>
                <a:cs typeface="Verdana"/>
              </a:rPr>
              <a:t>o</a:t>
            </a:r>
            <a:r>
              <a:rPr sz="2500" spc="95" dirty="0">
                <a:latin typeface="Verdana"/>
                <a:cs typeface="Verdana"/>
              </a:rPr>
              <a:t>n</a:t>
            </a:r>
            <a:r>
              <a:rPr sz="2500" spc="-85" dirty="0">
                <a:latin typeface="Verdana"/>
                <a:cs typeface="Verdana"/>
              </a:rPr>
              <a:t>s</a:t>
            </a:r>
            <a:r>
              <a:rPr sz="2500" dirty="0">
                <a:latin typeface="Verdana"/>
                <a:cs typeface="Verdana"/>
              </a:rPr>
              <a:t>	</a:t>
            </a:r>
            <a:r>
              <a:rPr sz="2500" spc="-25" dirty="0">
                <a:latin typeface="Verdana"/>
                <a:cs typeface="Verdana"/>
              </a:rPr>
              <a:t>t</a:t>
            </a:r>
            <a:r>
              <a:rPr sz="2500" spc="45" dirty="0">
                <a:latin typeface="Verdana"/>
                <a:cs typeface="Verdana"/>
              </a:rPr>
              <a:t>o</a:t>
            </a:r>
            <a:r>
              <a:rPr sz="2500" dirty="0">
                <a:latin typeface="Verdana"/>
                <a:cs typeface="Verdana"/>
              </a:rPr>
              <a:t>	</a:t>
            </a:r>
            <a:r>
              <a:rPr sz="2500" spc="-20" dirty="0">
                <a:latin typeface="Verdana"/>
                <a:cs typeface="Verdana"/>
              </a:rPr>
              <a:t>i</a:t>
            </a:r>
            <a:r>
              <a:rPr sz="2500" spc="210" dirty="0">
                <a:latin typeface="Verdana"/>
                <a:cs typeface="Verdana"/>
              </a:rPr>
              <a:t>m</a:t>
            </a:r>
            <a:r>
              <a:rPr sz="2500" spc="125" dirty="0">
                <a:latin typeface="Verdana"/>
                <a:cs typeface="Verdana"/>
              </a:rPr>
              <a:t>p</a:t>
            </a:r>
            <a:r>
              <a:rPr sz="2500" spc="-105" dirty="0">
                <a:latin typeface="Verdana"/>
                <a:cs typeface="Verdana"/>
              </a:rPr>
              <a:t>r</a:t>
            </a:r>
            <a:r>
              <a:rPr sz="2500" spc="5" dirty="0">
                <a:latin typeface="Verdana"/>
                <a:cs typeface="Verdana"/>
              </a:rPr>
              <a:t>o</a:t>
            </a:r>
            <a:r>
              <a:rPr sz="2500" spc="-170" dirty="0">
                <a:latin typeface="Verdana"/>
                <a:cs typeface="Verdana"/>
              </a:rPr>
              <a:t>v</a:t>
            </a:r>
            <a:r>
              <a:rPr sz="2500" spc="15" dirty="0">
                <a:latin typeface="Verdana"/>
                <a:cs typeface="Verdana"/>
              </a:rPr>
              <a:t>e</a:t>
            </a:r>
            <a:r>
              <a:rPr sz="2500" dirty="0">
                <a:latin typeface="Verdana"/>
                <a:cs typeface="Verdana"/>
              </a:rPr>
              <a:t>	</a:t>
            </a:r>
            <a:r>
              <a:rPr sz="2500" spc="-130" dirty="0">
                <a:latin typeface="Verdana"/>
                <a:cs typeface="Verdana"/>
              </a:rPr>
              <a:t>Z</a:t>
            </a:r>
            <a:r>
              <a:rPr sz="2500" spc="40" dirty="0">
                <a:latin typeface="Verdana"/>
                <a:cs typeface="Verdana"/>
              </a:rPr>
              <a:t>o</a:t>
            </a:r>
            <a:r>
              <a:rPr sz="2500" spc="210" dirty="0">
                <a:latin typeface="Verdana"/>
                <a:cs typeface="Verdana"/>
              </a:rPr>
              <a:t>m</a:t>
            </a:r>
            <a:r>
              <a:rPr sz="2500" spc="-35" dirty="0">
                <a:latin typeface="Verdana"/>
                <a:cs typeface="Verdana"/>
              </a:rPr>
              <a:t>a</a:t>
            </a:r>
            <a:r>
              <a:rPr sz="2500" spc="-25" dirty="0">
                <a:latin typeface="Verdana"/>
                <a:cs typeface="Verdana"/>
              </a:rPr>
              <a:t>t</a:t>
            </a:r>
            <a:r>
              <a:rPr sz="2500" spc="5" dirty="0">
                <a:latin typeface="Verdana"/>
                <a:cs typeface="Verdana"/>
              </a:rPr>
              <a:t>o</a:t>
            </a:r>
            <a:r>
              <a:rPr sz="2500" spc="-175" dirty="0">
                <a:latin typeface="Verdana"/>
                <a:cs typeface="Verdana"/>
              </a:rPr>
              <a:t>'</a:t>
            </a:r>
            <a:r>
              <a:rPr sz="2500" spc="-85" dirty="0">
                <a:latin typeface="Verdana"/>
                <a:cs typeface="Verdana"/>
              </a:rPr>
              <a:t>s</a:t>
            </a:r>
            <a:endParaRPr sz="2500" dirty="0">
              <a:latin typeface="Verdana"/>
              <a:cs typeface="Verdana"/>
            </a:endParaRPr>
          </a:p>
          <a:p>
            <a:pPr marL="400685" marR="5080">
              <a:lnSpc>
                <a:spcPct val="117500"/>
              </a:lnSpc>
            </a:pPr>
            <a:r>
              <a:rPr sz="2500" spc="15" dirty="0">
                <a:latin typeface="Verdana"/>
                <a:cs typeface="Verdana"/>
              </a:rPr>
              <a:t>market</a:t>
            </a:r>
            <a:r>
              <a:rPr sz="2500" spc="-95" dirty="0">
                <a:latin typeface="Verdana"/>
                <a:cs typeface="Verdana"/>
              </a:rPr>
              <a:t> </a:t>
            </a:r>
            <a:r>
              <a:rPr sz="2500" spc="-25" dirty="0">
                <a:latin typeface="Verdana"/>
                <a:cs typeface="Verdana"/>
              </a:rPr>
              <a:t>share</a:t>
            </a:r>
            <a:r>
              <a:rPr sz="2500" spc="-95" dirty="0">
                <a:latin typeface="Verdana"/>
                <a:cs typeface="Verdana"/>
              </a:rPr>
              <a:t> </a:t>
            </a:r>
            <a:r>
              <a:rPr sz="2500" spc="-20" dirty="0">
                <a:latin typeface="Verdana"/>
                <a:cs typeface="Verdana"/>
              </a:rPr>
              <a:t>by</a:t>
            </a:r>
            <a:r>
              <a:rPr sz="2500" spc="-95" dirty="0">
                <a:latin typeface="Verdana"/>
                <a:cs typeface="Verdana"/>
              </a:rPr>
              <a:t> </a:t>
            </a:r>
            <a:r>
              <a:rPr sz="2500" spc="35" dirty="0">
                <a:latin typeface="Verdana"/>
                <a:cs typeface="Verdana"/>
              </a:rPr>
              <a:t>focusing</a:t>
            </a:r>
            <a:r>
              <a:rPr sz="2500" spc="-95" dirty="0">
                <a:latin typeface="Verdana"/>
                <a:cs typeface="Verdana"/>
              </a:rPr>
              <a:t> </a:t>
            </a:r>
            <a:r>
              <a:rPr sz="2500" spc="70" dirty="0">
                <a:latin typeface="Verdana"/>
                <a:cs typeface="Verdana"/>
              </a:rPr>
              <a:t>on</a:t>
            </a:r>
            <a:r>
              <a:rPr sz="2500" spc="-95" dirty="0">
                <a:latin typeface="Verdana"/>
                <a:cs typeface="Verdana"/>
              </a:rPr>
              <a:t> </a:t>
            </a:r>
            <a:r>
              <a:rPr sz="2500" dirty="0">
                <a:latin typeface="Verdana"/>
                <a:cs typeface="Verdana"/>
              </a:rPr>
              <a:t>high-rated</a:t>
            </a:r>
            <a:r>
              <a:rPr sz="2500" spc="-95" dirty="0">
                <a:latin typeface="Verdana"/>
                <a:cs typeface="Verdana"/>
              </a:rPr>
              <a:t> </a:t>
            </a:r>
            <a:r>
              <a:rPr sz="2500" spc="-60" dirty="0">
                <a:latin typeface="Verdana"/>
                <a:cs typeface="Verdana"/>
              </a:rPr>
              <a:t>areas</a:t>
            </a:r>
            <a:r>
              <a:rPr sz="2500" spc="-95" dirty="0">
                <a:latin typeface="Verdana"/>
                <a:cs typeface="Verdana"/>
              </a:rPr>
              <a:t> </a:t>
            </a:r>
            <a:r>
              <a:rPr sz="2500" spc="65" dirty="0">
                <a:latin typeface="Verdana"/>
                <a:cs typeface="Verdana"/>
              </a:rPr>
              <a:t>and</a:t>
            </a:r>
            <a:r>
              <a:rPr lang="en-IN" sz="2500" spc="65" dirty="0">
                <a:latin typeface="Verdana"/>
                <a:cs typeface="Verdana"/>
              </a:rPr>
              <a:t> </a:t>
            </a:r>
            <a:r>
              <a:rPr sz="2500" spc="-35" dirty="0">
                <a:latin typeface="Verdana"/>
                <a:cs typeface="Verdana"/>
              </a:rPr>
              <a:t>a</a:t>
            </a:r>
            <a:r>
              <a:rPr sz="2500" spc="125" dirty="0">
                <a:latin typeface="Verdana"/>
                <a:cs typeface="Verdana"/>
              </a:rPr>
              <a:t>dd</a:t>
            </a:r>
            <a:r>
              <a:rPr sz="2500" spc="-105" dirty="0">
                <a:latin typeface="Verdana"/>
                <a:cs typeface="Verdana"/>
              </a:rPr>
              <a:t>r</a:t>
            </a:r>
            <a:r>
              <a:rPr sz="2500" spc="10" dirty="0">
                <a:latin typeface="Verdana"/>
                <a:cs typeface="Verdana"/>
              </a:rPr>
              <a:t>e</a:t>
            </a:r>
            <a:r>
              <a:rPr sz="2500" spc="-90" dirty="0">
                <a:latin typeface="Verdana"/>
                <a:cs typeface="Verdana"/>
              </a:rPr>
              <a:t>ss</a:t>
            </a:r>
            <a:r>
              <a:rPr sz="2500" spc="-20" dirty="0">
                <a:latin typeface="Verdana"/>
                <a:cs typeface="Verdana"/>
              </a:rPr>
              <a:t>i</a:t>
            </a:r>
            <a:r>
              <a:rPr sz="2500" spc="95" dirty="0">
                <a:latin typeface="Verdana"/>
                <a:cs typeface="Verdana"/>
              </a:rPr>
              <a:t>n</a:t>
            </a:r>
            <a:r>
              <a:rPr sz="2500" spc="150" dirty="0">
                <a:latin typeface="Verdana"/>
                <a:cs typeface="Verdana"/>
              </a:rPr>
              <a:t>g</a:t>
            </a:r>
            <a:r>
              <a:rPr sz="2500" spc="-229" dirty="0">
                <a:latin typeface="Verdana"/>
                <a:cs typeface="Verdana"/>
              </a:rPr>
              <a:t> </a:t>
            </a:r>
            <a:r>
              <a:rPr sz="2500" spc="105" dirty="0">
                <a:latin typeface="Verdana"/>
                <a:cs typeface="Verdana"/>
              </a:rPr>
              <a:t>w</a:t>
            </a:r>
            <a:r>
              <a:rPr sz="2500" spc="-25" dirty="0">
                <a:latin typeface="Verdana"/>
                <a:cs typeface="Verdana"/>
              </a:rPr>
              <a:t>e</a:t>
            </a:r>
            <a:r>
              <a:rPr sz="2500" spc="-35" dirty="0">
                <a:latin typeface="Verdana"/>
                <a:cs typeface="Verdana"/>
              </a:rPr>
              <a:t>a</a:t>
            </a:r>
            <a:r>
              <a:rPr sz="2500" spc="-5" dirty="0">
                <a:latin typeface="Verdana"/>
                <a:cs typeface="Verdana"/>
              </a:rPr>
              <a:t>k</a:t>
            </a:r>
            <a:r>
              <a:rPr sz="2500" spc="95" dirty="0">
                <a:latin typeface="Verdana"/>
                <a:cs typeface="Verdana"/>
              </a:rPr>
              <a:t>n</a:t>
            </a:r>
            <a:r>
              <a:rPr sz="2500" spc="10" dirty="0">
                <a:latin typeface="Verdana"/>
                <a:cs typeface="Verdana"/>
              </a:rPr>
              <a:t>e</a:t>
            </a:r>
            <a:r>
              <a:rPr sz="2500" spc="-90" dirty="0">
                <a:latin typeface="Verdana"/>
                <a:cs typeface="Verdana"/>
              </a:rPr>
              <a:t>ss</a:t>
            </a:r>
            <a:r>
              <a:rPr sz="2500" spc="10" dirty="0">
                <a:latin typeface="Verdana"/>
                <a:cs typeface="Verdana"/>
              </a:rPr>
              <a:t>e</a:t>
            </a:r>
            <a:r>
              <a:rPr sz="2500" spc="-85" dirty="0">
                <a:latin typeface="Verdana"/>
                <a:cs typeface="Verdana"/>
              </a:rPr>
              <a:t>s</a:t>
            </a:r>
            <a:r>
              <a:rPr sz="2500" spc="-229" dirty="0">
                <a:latin typeface="Verdana"/>
                <a:cs typeface="Verdana"/>
              </a:rPr>
              <a:t> </a:t>
            </a:r>
            <a:r>
              <a:rPr sz="2500" spc="-20" dirty="0">
                <a:latin typeface="Verdana"/>
                <a:cs typeface="Verdana"/>
              </a:rPr>
              <a:t>i</a:t>
            </a:r>
            <a:r>
              <a:rPr sz="2500" spc="100" dirty="0">
                <a:latin typeface="Verdana"/>
                <a:cs typeface="Verdana"/>
              </a:rPr>
              <a:t>n</a:t>
            </a:r>
            <a:r>
              <a:rPr sz="2500" spc="-229" dirty="0">
                <a:latin typeface="Verdana"/>
                <a:cs typeface="Verdana"/>
              </a:rPr>
              <a:t> </a:t>
            </a:r>
            <a:r>
              <a:rPr sz="2500" spc="-20" dirty="0">
                <a:latin typeface="Verdana"/>
                <a:cs typeface="Verdana"/>
              </a:rPr>
              <a:t>l</a:t>
            </a:r>
            <a:r>
              <a:rPr sz="2500" spc="5" dirty="0">
                <a:latin typeface="Verdana"/>
                <a:cs typeface="Verdana"/>
              </a:rPr>
              <a:t>o</a:t>
            </a:r>
            <a:r>
              <a:rPr sz="2500" spc="105" dirty="0">
                <a:latin typeface="Verdana"/>
                <a:cs typeface="Verdana"/>
              </a:rPr>
              <a:t>w</a:t>
            </a:r>
            <a:r>
              <a:rPr sz="2500" spc="10" dirty="0">
                <a:latin typeface="Verdana"/>
                <a:cs typeface="Verdana"/>
              </a:rPr>
              <a:t>e</a:t>
            </a:r>
            <a:r>
              <a:rPr sz="2500" spc="-100" dirty="0">
                <a:latin typeface="Verdana"/>
                <a:cs typeface="Verdana"/>
              </a:rPr>
              <a:t>r</a:t>
            </a:r>
            <a:r>
              <a:rPr sz="2500" spc="-190" dirty="0">
                <a:latin typeface="Verdana"/>
                <a:cs typeface="Verdana"/>
              </a:rPr>
              <a:t>-r</a:t>
            </a:r>
            <a:r>
              <a:rPr sz="2500" spc="-35" dirty="0">
                <a:latin typeface="Verdana"/>
                <a:cs typeface="Verdana"/>
              </a:rPr>
              <a:t>a</a:t>
            </a:r>
            <a:r>
              <a:rPr sz="2500" spc="-25" dirty="0">
                <a:latin typeface="Verdana"/>
                <a:cs typeface="Verdana"/>
              </a:rPr>
              <a:t>t</a:t>
            </a:r>
            <a:r>
              <a:rPr sz="2500" spc="10" dirty="0">
                <a:latin typeface="Verdana"/>
                <a:cs typeface="Verdana"/>
              </a:rPr>
              <a:t>e</a:t>
            </a:r>
            <a:r>
              <a:rPr sz="2500" spc="130" dirty="0">
                <a:latin typeface="Verdana"/>
                <a:cs typeface="Verdana"/>
              </a:rPr>
              <a:t>d</a:t>
            </a:r>
            <a:r>
              <a:rPr sz="2500" spc="-229" dirty="0">
                <a:latin typeface="Verdana"/>
                <a:cs typeface="Verdana"/>
              </a:rPr>
              <a:t> </a:t>
            </a:r>
            <a:r>
              <a:rPr sz="2500" spc="-105" dirty="0">
                <a:latin typeface="Verdana"/>
                <a:cs typeface="Verdana"/>
              </a:rPr>
              <a:t>r</a:t>
            </a:r>
            <a:r>
              <a:rPr sz="2500" spc="10" dirty="0">
                <a:latin typeface="Verdana"/>
                <a:cs typeface="Verdana"/>
              </a:rPr>
              <a:t>e</a:t>
            </a:r>
            <a:r>
              <a:rPr sz="2500" spc="145" dirty="0">
                <a:latin typeface="Verdana"/>
                <a:cs typeface="Verdana"/>
              </a:rPr>
              <a:t>g</a:t>
            </a:r>
            <a:r>
              <a:rPr sz="2500" spc="-20" dirty="0">
                <a:latin typeface="Verdana"/>
                <a:cs typeface="Verdana"/>
              </a:rPr>
              <a:t>i</a:t>
            </a:r>
            <a:r>
              <a:rPr sz="2500" spc="40" dirty="0">
                <a:latin typeface="Verdana"/>
                <a:cs typeface="Verdana"/>
              </a:rPr>
              <a:t>o</a:t>
            </a:r>
            <a:r>
              <a:rPr sz="2500" spc="95" dirty="0">
                <a:latin typeface="Verdana"/>
                <a:cs typeface="Verdana"/>
              </a:rPr>
              <a:t>n</a:t>
            </a:r>
            <a:r>
              <a:rPr sz="2500" spc="-90" dirty="0">
                <a:latin typeface="Verdana"/>
                <a:cs typeface="Verdana"/>
              </a:rPr>
              <a:t>s</a:t>
            </a:r>
            <a:r>
              <a:rPr sz="2500" spc="-385" dirty="0">
                <a:latin typeface="Verdana"/>
                <a:cs typeface="Verdana"/>
              </a:rPr>
              <a:t>.</a:t>
            </a:r>
            <a:endParaRPr sz="2500" dirty="0">
              <a:latin typeface="Verdana"/>
              <a:cs typeface="Verdan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1"/>
            <a:ext cx="9143847" cy="1028684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144000" y="0"/>
            <a:ext cx="9144000" cy="10287000"/>
            <a:chOff x="9144000" y="0"/>
            <a:chExt cx="9144000" cy="10287000"/>
          </a:xfrm>
        </p:grpSpPr>
        <p:sp>
          <p:nvSpPr>
            <p:cNvPr id="3" name="object 3"/>
            <p:cNvSpPr/>
            <p:nvPr/>
          </p:nvSpPr>
          <p:spPr>
            <a:xfrm>
              <a:off x="9144000" y="0"/>
              <a:ext cx="9144000" cy="10287000"/>
            </a:xfrm>
            <a:custGeom>
              <a:avLst/>
              <a:gdLst/>
              <a:ahLst/>
              <a:cxnLst/>
              <a:rect l="l" t="t" r="r" b="b"/>
              <a:pathLst>
                <a:path w="9144000" h="10287000">
                  <a:moveTo>
                    <a:pt x="9144000" y="0"/>
                  </a:moveTo>
                  <a:lnTo>
                    <a:pt x="0" y="0"/>
                  </a:lnTo>
                  <a:lnTo>
                    <a:pt x="0" y="10287000"/>
                  </a:lnTo>
                  <a:lnTo>
                    <a:pt x="9144000" y="102870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53192" y="1142997"/>
              <a:ext cx="6496049" cy="79629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351011" y="1045947"/>
            <a:ext cx="4048125" cy="9740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200" spc="80" dirty="0">
                <a:solidFill>
                  <a:srgbClr val="000000"/>
                </a:solidFill>
                <a:latin typeface="Cambria"/>
                <a:cs typeface="Cambria"/>
              </a:rPr>
              <a:t>Object</a:t>
            </a:r>
            <a:r>
              <a:rPr sz="6200" spc="25" dirty="0">
                <a:solidFill>
                  <a:srgbClr val="000000"/>
                </a:solidFill>
                <a:latin typeface="Cambria"/>
                <a:cs typeface="Cambria"/>
              </a:rPr>
              <a:t>i</a:t>
            </a:r>
            <a:r>
              <a:rPr sz="6200" spc="-225" dirty="0">
                <a:solidFill>
                  <a:srgbClr val="000000"/>
                </a:solidFill>
                <a:latin typeface="Cambria"/>
                <a:cs typeface="Cambria"/>
              </a:rPr>
              <a:t>v</a:t>
            </a:r>
            <a:r>
              <a:rPr sz="6200" spc="-20" dirty="0">
                <a:solidFill>
                  <a:srgbClr val="000000"/>
                </a:solidFill>
                <a:latin typeface="Cambria"/>
                <a:cs typeface="Cambria"/>
              </a:rPr>
              <a:t>es:</a:t>
            </a:r>
            <a:endParaRPr sz="6200">
              <a:latin typeface="Cambria"/>
              <a:cs typeface="Cambri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473212" y="2518219"/>
            <a:ext cx="104775" cy="104775"/>
          </a:xfrm>
          <a:custGeom>
            <a:avLst/>
            <a:gdLst/>
            <a:ahLst/>
            <a:cxnLst/>
            <a:rect l="l" t="t" r="r" b="b"/>
            <a:pathLst>
              <a:path w="104775" h="104775">
                <a:moveTo>
                  <a:pt x="104775" y="48945"/>
                </a:moveTo>
                <a:lnTo>
                  <a:pt x="86995" y="12903"/>
                </a:lnTo>
                <a:lnTo>
                  <a:pt x="55816" y="0"/>
                </a:lnTo>
                <a:lnTo>
                  <a:pt x="48945" y="0"/>
                </a:lnTo>
                <a:lnTo>
                  <a:pt x="12903" y="17767"/>
                </a:lnTo>
                <a:lnTo>
                  <a:pt x="0" y="48945"/>
                </a:lnTo>
                <a:lnTo>
                  <a:pt x="0" y="55816"/>
                </a:lnTo>
                <a:lnTo>
                  <a:pt x="17767" y="91859"/>
                </a:lnTo>
                <a:lnTo>
                  <a:pt x="48945" y="104775"/>
                </a:lnTo>
                <a:lnTo>
                  <a:pt x="55816" y="104775"/>
                </a:lnTo>
                <a:lnTo>
                  <a:pt x="91846" y="86995"/>
                </a:lnTo>
                <a:lnTo>
                  <a:pt x="104775" y="55816"/>
                </a:lnTo>
                <a:lnTo>
                  <a:pt x="104775" y="52387"/>
                </a:lnTo>
                <a:lnTo>
                  <a:pt x="104775" y="489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473212" y="4718494"/>
            <a:ext cx="104775" cy="104775"/>
          </a:xfrm>
          <a:custGeom>
            <a:avLst/>
            <a:gdLst/>
            <a:ahLst/>
            <a:cxnLst/>
            <a:rect l="l" t="t" r="r" b="b"/>
            <a:pathLst>
              <a:path w="104775" h="104775">
                <a:moveTo>
                  <a:pt x="104775" y="48945"/>
                </a:moveTo>
                <a:lnTo>
                  <a:pt x="86995" y="12903"/>
                </a:lnTo>
                <a:lnTo>
                  <a:pt x="55816" y="0"/>
                </a:lnTo>
                <a:lnTo>
                  <a:pt x="48945" y="0"/>
                </a:lnTo>
                <a:lnTo>
                  <a:pt x="12903" y="17767"/>
                </a:lnTo>
                <a:lnTo>
                  <a:pt x="0" y="48945"/>
                </a:lnTo>
                <a:lnTo>
                  <a:pt x="0" y="55816"/>
                </a:lnTo>
                <a:lnTo>
                  <a:pt x="17767" y="91859"/>
                </a:lnTo>
                <a:lnTo>
                  <a:pt x="48945" y="104775"/>
                </a:lnTo>
                <a:lnTo>
                  <a:pt x="55816" y="104775"/>
                </a:lnTo>
                <a:lnTo>
                  <a:pt x="91846" y="86995"/>
                </a:lnTo>
                <a:lnTo>
                  <a:pt x="104775" y="55816"/>
                </a:lnTo>
                <a:lnTo>
                  <a:pt x="104775" y="52387"/>
                </a:lnTo>
                <a:lnTo>
                  <a:pt x="104775" y="489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473212" y="6042469"/>
            <a:ext cx="104775" cy="104775"/>
          </a:xfrm>
          <a:custGeom>
            <a:avLst/>
            <a:gdLst/>
            <a:ahLst/>
            <a:cxnLst/>
            <a:rect l="l" t="t" r="r" b="b"/>
            <a:pathLst>
              <a:path w="104775" h="104775">
                <a:moveTo>
                  <a:pt x="104775" y="48945"/>
                </a:moveTo>
                <a:lnTo>
                  <a:pt x="86995" y="12903"/>
                </a:lnTo>
                <a:lnTo>
                  <a:pt x="55816" y="0"/>
                </a:lnTo>
                <a:lnTo>
                  <a:pt x="48945" y="0"/>
                </a:lnTo>
                <a:lnTo>
                  <a:pt x="12903" y="17767"/>
                </a:lnTo>
                <a:lnTo>
                  <a:pt x="0" y="48945"/>
                </a:lnTo>
                <a:lnTo>
                  <a:pt x="0" y="55816"/>
                </a:lnTo>
                <a:lnTo>
                  <a:pt x="17767" y="91859"/>
                </a:lnTo>
                <a:lnTo>
                  <a:pt x="48945" y="104775"/>
                </a:lnTo>
                <a:lnTo>
                  <a:pt x="55816" y="104775"/>
                </a:lnTo>
                <a:lnTo>
                  <a:pt x="91846" y="86995"/>
                </a:lnTo>
                <a:lnTo>
                  <a:pt x="104775" y="55816"/>
                </a:lnTo>
                <a:lnTo>
                  <a:pt x="104775" y="52387"/>
                </a:lnTo>
                <a:lnTo>
                  <a:pt x="104775" y="489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723339" y="2282634"/>
            <a:ext cx="5840730" cy="574040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22225" algn="just">
              <a:lnSpc>
                <a:spcPct val="118000"/>
              </a:lnSpc>
              <a:spcBef>
                <a:spcPts val="75"/>
              </a:spcBef>
            </a:pPr>
            <a:r>
              <a:rPr sz="2450" b="1" spc="-5" dirty="0">
                <a:latin typeface="Tahoma"/>
                <a:cs typeface="Tahoma"/>
              </a:rPr>
              <a:t>Identify </a:t>
            </a:r>
            <a:r>
              <a:rPr sz="2450" b="1" spc="50" dirty="0">
                <a:latin typeface="Tahoma"/>
                <a:cs typeface="Tahoma"/>
              </a:rPr>
              <a:t>Potential </a:t>
            </a:r>
            <a:r>
              <a:rPr sz="2450" b="1" spc="40" dirty="0">
                <a:latin typeface="Tahoma"/>
                <a:cs typeface="Tahoma"/>
              </a:rPr>
              <a:t>Areas </a:t>
            </a:r>
            <a:r>
              <a:rPr sz="2450" b="1" spc="5" dirty="0">
                <a:latin typeface="Tahoma"/>
                <a:cs typeface="Tahoma"/>
              </a:rPr>
              <a:t>for </a:t>
            </a:r>
            <a:r>
              <a:rPr sz="2450" b="1" spc="10" dirty="0">
                <a:latin typeface="Tahoma"/>
                <a:cs typeface="Tahoma"/>
              </a:rPr>
              <a:t> </a:t>
            </a:r>
            <a:r>
              <a:rPr sz="2450" b="1" spc="125" dirty="0">
                <a:latin typeface="Tahoma"/>
                <a:cs typeface="Tahoma"/>
              </a:rPr>
              <a:t>E</a:t>
            </a:r>
            <a:r>
              <a:rPr sz="2450" b="1" spc="45" dirty="0">
                <a:latin typeface="Tahoma"/>
                <a:cs typeface="Tahoma"/>
              </a:rPr>
              <a:t>x</a:t>
            </a:r>
            <a:r>
              <a:rPr sz="2450" b="1" spc="25" dirty="0">
                <a:latin typeface="Tahoma"/>
                <a:cs typeface="Tahoma"/>
              </a:rPr>
              <a:t>p</a:t>
            </a:r>
            <a:r>
              <a:rPr sz="2450" b="1" spc="10" dirty="0">
                <a:latin typeface="Tahoma"/>
                <a:cs typeface="Tahoma"/>
              </a:rPr>
              <a:t>ansion:</a:t>
            </a:r>
            <a:r>
              <a:rPr sz="2450" b="1" spc="-70" dirty="0">
                <a:latin typeface="Tahoma"/>
                <a:cs typeface="Tahoma"/>
              </a:rPr>
              <a:t> </a:t>
            </a:r>
            <a:r>
              <a:rPr sz="2450" spc="145" dirty="0">
                <a:latin typeface="Verdana"/>
                <a:cs typeface="Verdana"/>
              </a:rPr>
              <a:t>Un</a:t>
            </a:r>
            <a:r>
              <a:rPr sz="2450" spc="85" dirty="0">
                <a:latin typeface="Verdana"/>
                <a:cs typeface="Verdana"/>
              </a:rPr>
              <a:t>c</a:t>
            </a:r>
            <a:r>
              <a:rPr sz="2450" spc="20" dirty="0">
                <a:latin typeface="Verdana"/>
                <a:cs typeface="Verdana"/>
              </a:rPr>
              <a:t>o</a:t>
            </a:r>
            <a:r>
              <a:rPr sz="2450" spc="-150" dirty="0">
                <a:latin typeface="Verdana"/>
                <a:cs typeface="Verdana"/>
              </a:rPr>
              <a:t>v</a:t>
            </a:r>
            <a:r>
              <a:rPr sz="2450" spc="-10" dirty="0">
                <a:latin typeface="Verdana"/>
                <a:cs typeface="Verdana"/>
              </a:rPr>
              <a:t>er</a:t>
            </a:r>
            <a:r>
              <a:rPr sz="2450" spc="-215" dirty="0">
                <a:latin typeface="Verdana"/>
                <a:cs typeface="Verdana"/>
              </a:rPr>
              <a:t> </a:t>
            </a:r>
            <a:r>
              <a:rPr sz="2450" spc="-90" dirty="0">
                <a:latin typeface="Verdana"/>
                <a:cs typeface="Verdana"/>
              </a:rPr>
              <a:t>r</a:t>
            </a:r>
            <a:r>
              <a:rPr sz="2450" spc="50" dirty="0">
                <a:latin typeface="Verdana"/>
                <a:cs typeface="Verdana"/>
              </a:rPr>
              <a:t>egions</a:t>
            </a:r>
            <a:r>
              <a:rPr sz="2450" spc="-215" dirty="0">
                <a:latin typeface="Verdana"/>
                <a:cs typeface="Verdana"/>
              </a:rPr>
              <a:t> </a:t>
            </a:r>
            <a:r>
              <a:rPr sz="2450" spc="70" dirty="0">
                <a:latin typeface="Verdana"/>
                <a:cs typeface="Verdana"/>
              </a:rPr>
              <a:t>with</a:t>
            </a:r>
            <a:r>
              <a:rPr lang="en-IN" sz="2450" spc="70" dirty="0">
                <a:latin typeface="Verdana"/>
                <a:cs typeface="Verdana"/>
              </a:rPr>
              <a:t> </a:t>
            </a:r>
            <a:r>
              <a:rPr sz="2450" spc="100" dirty="0">
                <a:latin typeface="Verdana"/>
                <a:cs typeface="Verdana"/>
              </a:rPr>
              <a:t>high</a:t>
            </a:r>
            <a:r>
              <a:rPr sz="2450" spc="-215" dirty="0">
                <a:latin typeface="Verdana"/>
                <a:cs typeface="Verdana"/>
              </a:rPr>
              <a:t> </a:t>
            </a:r>
            <a:r>
              <a:rPr sz="2450" spc="50" dirty="0">
                <a:latin typeface="Verdana"/>
                <a:cs typeface="Verdana"/>
              </a:rPr>
              <a:t>cus</a:t>
            </a:r>
            <a:r>
              <a:rPr sz="2450" spc="-15" dirty="0">
                <a:latin typeface="Verdana"/>
                <a:cs typeface="Verdana"/>
              </a:rPr>
              <a:t>t</a:t>
            </a:r>
            <a:r>
              <a:rPr sz="2450" spc="70" dirty="0">
                <a:latin typeface="Verdana"/>
                <a:cs typeface="Verdana"/>
              </a:rPr>
              <a:t>omer</a:t>
            </a:r>
            <a:r>
              <a:rPr sz="2450" spc="-215" dirty="0">
                <a:latin typeface="Verdana"/>
                <a:cs typeface="Verdana"/>
              </a:rPr>
              <a:t> </a:t>
            </a:r>
            <a:r>
              <a:rPr sz="2450" spc="114" dirty="0">
                <a:latin typeface="Verdana"/>
                <a:cs typeface="Verdana"/>
              </a:rPr>
              <a:t>demand</a:t>
            </a:r>
            <a:r>
              <a:rPr sz="2450" spc="-215" dirty="0">
                <a:latin typeface="Verdana"/>
                <a:cs typeface="Verdana"/>
              </a:rPr>
              <a:t> </a:t>
            </a:r>
            <a:r>
              <a:rPr sz="2450" spc="100" dirty="0">
                <a:latin typeface="Verdana"/>
                <a:cs typeface="Verdana"/>
              </a:rPr>
              <a:t>but</a:t>
            </a:r>
            <a:r>
              <a:rPr sz="2450" spc="-215" dirty="0">
                <a:latin typeface="Verdana"/>
                <a:cs typeface="Verdana"/>
              </a:rPr>
              <a:t> </a:t>
            </a:r>
            <a:r>
              <a:rPr sz="2450" spc="15" dirty="0">
                <a:latin typeface="Verdana"/>
                <a:cs typeface="Verdana"/>
              </a:rPr>
              <a:t>l</a:t>
            </a:r>
            <a:r>
              <a:rPr sz="2450" dirty="0">
                <a:latin typeface="Verdana"/>
                <a:cs typeface="Verdana"/>
              </a:rPr>
              <a:t>o</a:t>
            </a:r>
            <a:r>
              <a:rPr sz="2450" spc="105" dirty="0">
                <a:latin typeface="Verdana"/>
                <a:cs typeface="Verdana"/>
              </a:rPr>
              <a:t>w</a:t>
            </a:r>
            <a:r>
              <a:rPr lang="en-IN" sz="2450" spc="105" dirty="0">
                <a:latin typeface="Verdana"/>
                <a:cs typeface="Verdana"/>
              </a:rPr>
              <a:t> </a:t>
            </a:r>
            <a:r>
              <a:rPr sz="2450" spc="-90" dirty="0">
                <a:latin typeface="Verdana"/>
                <a:cs typeface="Verdana"/>
              </a:rPr>
              <a:t>r</a:t>
            </a:r>
            <a:r>
              <a:rPr sz="2450" spc="20" dirty="0">
                <a:latin typeface="Verdana"/>
                <a:cs typeface="Verdana"/>
              </a:rPr>
              <a:t>estau</a:t>
            </a:r>
            <a:r>
              <a:rPr sz="2450" spc="-175" dirty="0">
                <a:latin typeface="Verdana"/>
                <a:cs typeface="Verdana"/>
              </a:rPr>
              <a:t>r</a:t>
            </a:r>
            <a:r>
              <a:rPr sz="2450" spc="50" dirty="0">
                <a:latin typeface="Verdana"/>
                <a:cs typeface="Verdana"/>
              </a:rPr>
              <a:t>ant</a:t>
            </a:r>
            <a:r>
              <a:rPr sz="2450" spc="-215" dirty="0">
                <a:latin typeface="Verdana"/>
                <a:cs typeface="Verdana"/>
              </a:rPr>
              <a:t> </a:t>
            </a:r>
            <a:r>
              <a:rPr sz="2450" spc="35" dirty="0">
                <a:latin typeface="Verdana"/>
                <a:cs typeface="Verdana"/>
              </a:rPr>
              <a:t>suppl</a:t>
            </a:r>
            <a:r>
              <a:rPr sz="2450" spc="-45" dirty="0">
                <a:latin typeface="Verdana"/>
                <a:cs typeface="Verdana"/>
              </a:rPr>
              <a:t>y</a:t>
            </a:r>
            <a:r>
              <a:rPr sz="2450" spc="-370" dirty="0">
                <a:latin typeface="Verdana"/>
                <a:cs typeface="Verdana"/>
              </a:rPr>
              <a:t>,</a:t>
            </a:r>
            <a:r>
              <a:rPr sz="2450" spc="-215" dirty="0">
                <a:latin typeface="Verdana"/>
                <a:cs typeface="Verdana"/>
              </a:rPr>
              <a:t> </a:t>
            </a:r>
            <a:r>
              <a:rPr sz="2450" spc="140" dirty="0">
                <a:latin typeface="Verdana"/>
                <a:cs typeface="Verdana"/>
              </a:rPr>
              <a:t>p</a:t>
            </a:r>
            <a:r>
              <a:rPr sz="2450" spc="-40" dirty="0">
                <a:latin typeface="Verdana"/>
                <a:cs typeface="Verdana"/>
              </a:rPr>
              <a:t>a</a:t>
            </a:r>
            <a:r>
              <a:rPr sz="2450" spc="40" dirty="0">
                <a:latin typeface="Verdana"/>
                <a:cs typeface="Verdana"/>
              </a:rPr>
              <a:t>ving</a:t>
            </a:r>
            <a:r>
              <a:rPr sz="2450" spc="-215" dirty="0">
                <a:latin typeface="Verdana"/>
                <a:cs typeface="Verdana"/>
              </a:rPr>
              <a:t> </a:t>
            </a:r>
            <a:r>
              <a:rPr sz="2450" spc="65" dirty="0">
                <a:latin typeface="Verdana"/>
                <a:cs typeface="Verdana"/>
              </a:rPr>
              <a:t>the</a:t>
            </a:r>
            <a:r>
              <a:rPr sz="2450" spc="-215" dirty="0">
                <a:latin typeface="Verdana"/>
                <a:cs typeface="Verdana"/>
              </a:rPr>
              <a:t> </a:t>
            </a:r>
            <a:r>
              <a:rPr sz="2450" spc="130" dirty="0">
                <a:latin typeface="Verdana"/>
                <a:cs typeface="Verdana"/>
              </a:rPr>
              <a:t>w</a:t>
            </a:r>
            <a:r>
              <a:rPr sz="2450" spc="-40" dirty="0">
                <a:latin typeface="Verdana"/>
                <a:cs typeface="Verdana"/>
              </a:rPr>
              <a:t>a</a:t>
            </a:r>
            <a:r>
              <a:rPr sz="2450" spc="-110" dirty="0">
                <a:latin typeface="Verdana"/>
                <a:cs typeface="Verdana"/>
              </a:rPr>
              <a:t>y</a:t>
            </a:r>
            <a:r>
              <a:rPr sz="2450" spc="-215" dirty="0">
                <a:latin typeface="Verdana"/>
                <a:cs typeface="Verdana"/>
              </a:rPr>
              <a:t> </a:t>
            </a:r>
            <a:r>
              <a:rPr sz="2450" spc="-50" dirty="0">
                <a:latin typeface="Verdana"/>
                <a:cs typeface="Verdana"/>
              </a:rPr>
              <a:t>f</a:t>
            </a:r>
            <a:r>
              <a:rPr sz="2450" dirty="0">
                <a:latin typeface="Verdana"/>
                <a:cs typeface="Verdana"/>
              </a:rPr>
              <a:t>or</a:t>
            </a:r>
            <a:r>
              <a:rPr lang="en-IN" sz="2450" dirty="0">
                <a:latin typeface="Verdana"/>
                <a:cs typeface="Verdana"/>
              </a:rPr>
              <a:t> </a:t>
            </a:r>
            <a:r>
              <a:rPr sz="2450" spc="-15" dirty="0">
                <a:latin typeface="Verdana"/>
                <a:cs typeface="Verdana"/>
              </a:rPr>
              <a:t>st</a:t>
            </a:r>
            <a:r>
              <a:rPr sz="2450" spc="-175" dirty="0">
                <a:latin typeface="Verdana"/>
                <a:cs typeface="Verdana"/>
              </a:rPr>
              <a:t>r</a:t>
            </a:r>
            <a:r>
              <a:rPr sz="2450" spc="15" dirty="0">
                <a:latin typeface="Verdana"/>
                <a:cs typeface="Verdana"/>
              </a:rPr>
              <a:t>a</a:t>
            </a:r>
            <a:r>
              <a:rPr sz="2450" spc="-40" dirty="0">
                <a:latin typeface="Verdana"/>
                <a:cs typeface="Verdana"/>
              </a:rPr>
              <a:t>t</a:t>
            </a:r>
            <a:r>
              <a:rPr sz="2450" spc="75" dirty="0">
                <a:latin typeface="Verdana"/>
                <a:cs typeface="Verdana"/>
              </a:rPr>
              <a:t>egic</a:t>
            </a:r>
            <a:r>
              <a:rPr sz="2450" spc="-215" dirty="0">
                <a:latin typeface="Verdana"/>
                <a:cs typeface="Verdana"/>
              </a:rPr>
              <a:t> </a:t>
            </a:r>
            <a:r>
              <a:rPr sz="2450" spc="65" dirty="0">
                <a:latin typeface="Verdana"/>
                <a:cs typeface="Verdana"/>
              </a:rPr>
              <a:t>g</a:t>
            </a:r>
            <a:r>
              <a:rPr sz="2450" spc="10" dirty="0">
                <a:latin typeface="Verdana"/>
                <a:cs typeface="Verdana"/>
              </a:rPr>
              <a:t>r</a:t>
            </a:r>
            <a:r>
              <a:rPr sz="2450" spc="20" dirty="0">
                <a:latin typeface="Verdana"/>
                <a:cs typeface="Verdana"/>
              </a:rPr>
              <a:t>o</a:t>
            </a:r>
            <a:r>
              <a:rPr sz="2450" spc="204" dirty="0">
                <a:latin typeface="Verdana"/>
                <a:cs typeface="Verdana"/>
              </a:rPr>
              <a:t>w</a:t>
            </a:r>
            <a:r>
              <a:rPr sz="2450" spc="-70" dirty="0">
                <a:latin typeface="Verdana"/>
                <a:cs typeface="Verdana"/>
              </a:rPr>
              <a:t>th.</a:t>
            </a:r>
            <a:endParaRPr sz="2450" dirty="0">
              <a:latin typeface="Verdana"/>
              <a:cs typeface="Verdana"/>
            </a:endParaRPr>
          </a:p>
          <a:p>
            <a:pPr marL="12700" marR="5080" algn="just">
              <a:lnSpc>
                <a:spcPct val="117300"/>
              </a:lnSpc>
            </a:pPr>
            <a:r>
              <a:rPr sz="2450" b="1" spc="85" dirty="0">
                <a:latin typeface="Tahoma"/>
                <a:cs typeface="Tahoma"/>
              </a:rPr>
              <a:t>Understand </a:t>
            </a:r>
            <a:r>
              <a:rPr sz="2450" b="1" spc="55" dirty="0">
                <a:latin typeface="Tahoma"/>
                <a:cs typeface="Tahoma"/>
              </a:rPr>
              <a:t>Market </a:t>
            </a:r>
            <a:r>
              <a:rPr sz="2450" b="1" dirty="0">
                <a:latin typeface="Tahoma"/>
                <a:cs typeface="Tahoma"/>
              </a:rPr>
              <a:t>Trends: </a:t>
            </a:r>
            <a:r>
              <a:rPr sz="2450" spc="5" dirty="0">
                <a:latin typeface="Verdana"/>
                <a:cs typeface="Verdana"/>
              </a:rPr>
              <a:t>Analyze</a:t>
            </a:r>
            <a:r>
              <a:rPr lang="en-IN" sz="2450" spc="5" dirty="0">
                <a:latin typeface="Verdana"/>
                <a:cs typeface="Verdana"/>
              </a:rPr>
              <a:t> </a:t>
            </a:r>
            <a:r>
              <a:rPr sz="2450" spc="50" dirty="0">
                <a:latin typeface="Verdana"/>
                <a:cs typeface="Verdana"/>
              </a:rPr>
              <a:t>cus</a:t>
            </a:r>
            <a:r>
              <a:rPr sz="2450" spc="-15" dirty="0">
                <a:latin typeface="Verdana"/>
                <a:cs typeface="Verdana"/>
              </a:rPr>
              <a:t>t</a:t>
            </a:r>
            <a:r>
              <a:rPr sz="2450" spc="70" dirty="0">
                <a:latin typeface="Verdana"/>
                <a:cs typeface="Verdana"/>
              </a:rPr>
              <a:t>omer</a:t>
            </a:r>
            <a:r>
              <a:rPr sz="2450" spc="-215" dirty="0">
                <a:latin typeface="Verdana"/>
                <a:cs typeface="Verdana"/>
              </a:rPr>
              <a:t> </a:t>
            </a:r>
            <a:r>
              <a:rPr sz="2450" spc="75" dirty="0">
                <a:latin typeface="Verdana"/>
                <a:cs typeface="Verdana"/>
              </a:rPr>
              <a:t>beh</a:t>
            </a:r>
            <a:r>
              <a:rPr sz="2450" spc="45" dirty="0">
                <a:latin typeface="Verdana"/>
                <a:cs typeface="Verdana"/>
              </a:rPr>
              <a:t>a</a:t>
            </a:r>
            <a:r>
              <a:rPr sz="2450" dirty="0">
                <a:latin typeface="Verdana"/>
                <a:cs typeface="Verdana"/>
              </a:rPr>
              <a:t>viour</a:t>
            </a:r>
            <a:r>
              <a:rPr sz="2450" spc="-215" dirty="0">
                <a:latin typeface="Verdana"/>
                <a:cs typeface="Verdana"/>
              </a:rPr>
              <a:t> </a:t>
            </a:r>
            <a:r>
              <a:rPr sz="2450" spc="85" dirty="0">
                <a:latin typeface="Verdana"/>
                <a:cs typeface="Verdana"/>
              </a:rPr>
              <a:t>and</a:t>
            </a:r>
            <a:r>
              <a:rPr sz="2450" spc="-215" dirty="0">
                <a:latin typeface="Verdana"/>
                <a:cs typeface="Verdana"/>
              </a:rPr>
              <a:t> </a:t>
            </a:r>
            <a:r>
              <a:rPr sz="2450" spc="55" dirty="0">
                <a:latin typeface="Verdana"/>
                <a:cs typeface="Verdana"/>
              </a:rPr>
              <a:t>p</a:t>
            </a:r>
            <a:r>
              <a:rPr sz="2450" spc="5" dirty="0">
                <a:latin typeface="Verdana"/>
                <a:cs typeface="Verdana"/>
              </a:rPr>
              <a:t>re</a:t>
            </a:r>
            <a:r>
              <a:rPr sz="2450" spc="-25" dirty="0">
                <a:latin typeface="Verdana"/>
                <a:cs typeface="Verdana"/>
              </a:rPr>
              <a:t>f</a:t>
            </a:r>
            <a:r>
              <a:rPr sz="2450" spc="-15" dirty="0">
                <a:latin typeface="Verdana"/>
                <a:cs typeface="Verdana"/>
              </a:rPr>
              <a:t>e</a:t>
            </a:r>
            <a:r>
              <a:rPr sz="2450" spc="-45" dirty="0">
                <a:latin typeface="Verdana"/>
                <a:cs typeface="Verdana"/>
              </a:rPr>
              <a:t>r</a:t>
            </a:r>
            <a:r>
              <a:rPr sz="2450" spc="95" dirty="0">
                <a:latin typeface="Verdana"/>
                <a:cs typeface="Verdana"/>
              </a:rPr>
              <a:t>en</a:t>
            </a:r>
            <a:r>
              <a:rPr sz="2450" spc="55" dirty="0">
                <a:latin typeface="Verdana"/>
                <a:cs typeface="Verdana"/>
              </a:rPr>
              <a:t>c</a:t>
            </a:r>
            <a:r>
              <a:rPr sz="2450" spc="-15" dirty="0">
                <a:latin typeface="Verdana"/>
                <a:cs typeface="Verdana"/>
              </a:rPr>
              <a:t>es</a:t>
            </a:r>
            <a:r>
              <a:rPr lang="en-IN" sz="2450" spc="-15" dirty="0">
                <a:latin typeface="Verdana"/>
                <a:cs typeface="Verdana"/>
              </a:rPr>
              <a:t> </a:t>
            </a:r>
            <a:r>
              <a:rPr sz="2450" spc="-15" dirty="0">
                <a:latin typeface="Verdana"/>
                <a:cs typeface="Verdana"/>
              </a:rPr>
              <a:t>t</a:t>
            </a:r>
            <a:r>
              <a:rPr sz="2450" spc="60" dirty="0">
                <a:latin typeface="Verdana"/>
                <a:cs typeface="Verdana"/>
              </a:rPr>
              <a:t>o</a:t>
            </a:r>
            <a:r>
              <a:rPr sz="2450" spc="-215" dirty="0">
                <a:latin typeface="Verdana"/>
                <a:cs typeface="Verdana"/>
              </a:rPr>
              <a:t> </a:t>
            </a:r>
            <a:r>
              <a:rPr sz="2450" spc="55" dirty="0">
                <a:latin typeface="Verdana"/>
                <a:cs typeface="Verdana"/>
              </a:rPr>
              <a:t>p</a:t>
            </a:r>
            <a:r>
              <a:rPr sz="2450" spc="5" dirty="0">
                <a:latin typeface="Verdana"/>
                <a:cs typeface="Verdana"/>
              </a:rPr>
              <a:t>r</a:t>
            </a:r>
            <a:r>
              <a:rPr sz="2450" spc="70" dirty="0">
                <a:latin typeface="Verdana"/>
                <a:cs typeface="Verdana"/>
              </a:rPr>
              <a:t>edi</a:t>
            </a:r>
            <a:r>
              <a:rPr sz="2450" spc="85" dirty="0">
                <a:latin typeface="Verdana"/>
                <a:cs typeface="Verdana"/>
              </a:rPr>
              <a:t>c</a:t>
            </a:r>
            <a:r>
              <a:rPr sz="2450" spc="35" dirty="0">
                <a:latin typeface="Verdana"/>
                <a:cs typeface="Verdana"/>
              </a:rPr>
              <a:t>t</a:t>
            </a:r>
            <a:r>
              <a:rPr sz="2450" spc="-215" dirty="0">
                <a:latin typeface="Verdana"/>
                <a:cs typeface="Verdana"/>
              </a:rPr>
              <a:t> </a:t>
            </a:r>
            <a:r>
              <a:rPr sz="2450" spc="70" dirty="0">
                <a:latin typeface="Verdana"/>
                <a:cs typeface="Verdana"/>
              </a:rPr>
              <a:t>eme</a:t>
            </a:r>
            <a:r>
              <a:rPr sz="2450" spc="5" dirty="0">
                <a:latin typeface="Verdana"/>
                <a:cs typeface="Verdana"/>
              </a:rPr>
              <a:t>r</a:t>
            </a:r>
            <a:r>
              <a:rPr sz="2450" spc="110" dirty="0">
                <a:latin typeface="Verdana"/>
                <a:cs typeface="Verdana"/>
              </a:rPr>
              <a:t>ging</a:t>
            </a:r>
            <a:r>
              <a:rPr sz="2450" spc="-215" dirty="0">
                <a:latin typeface="Verdana"/>
                <a:cs typeface="Verdana"/>
              </a:rPr>
              <a:t> </a:t>
            </a:r>
            <a:r>
              <a:rPr sz="2450" spc="90" dirty="0">
                <a:latin typeface="Verdana"/>
                <a:cs typeface="Verdana"/>
              </a:rPr>
              <a:t>dining</a:t>
            </a:r>
            <a:r>
              <a:rPr sz="2450" spc="-215" dirty="0">
                <a:latin typeface="Verdana"/>
                <a:cs typeface="Verdana"/>
              </a:rPr>
              <a:t> </a:t>
            </a:r>
            <a:r>
              <a:rPr sz="2450" spc="-10" dirty="0">
                <a:latin typeface="Verdana"/>
                <a:cs typeface="Verdana"/>
              </a:rPr>
              <a:t>t</a:t>
            </a:r>
            <a:r>
              <a:rPr sz="2450" spc="-45" dirty="0">
                <a:latin typeface="Verdana"/>
                <a:cs typeface="Verdana"/>
              </a:rPr>
              <a:t>r</a:t>
            </a:r>
            <a:r>
              <a:rPr sz="2450" spc="-30" dirty="0">
                <a:latin typeface="Verdana"/>
                <a:cs typeface="Verdana"/>
              </a:rPr>
              <a:t>ends.</a:t>
            </a:r>
            <a:endParaRPr sz="2450" dirty="0">
              <a:latin typeface="Verdana"/>
              <a:cs typeface="Verdana"/>
            </a:endParaRPr>
          </a:p>
          <a:p>
            <a:pPr marL="12700" marR="170180">
              <a:lnSpc>
                <a:spcPct val="117300"/>
              </a:lnSpc>
              <a:spcBef>
                <a:spcPts val="75"/>
              </a:spcBef>
            </a:pPr>
            <a:r>
              <a:rPr sz="2450" b="1" spc="40" dirty="0">
                <a:latin typeface="Tahoma"/>
                <a:cs typeface="Tahoma"/>
              </a:rPr>
              <a:t>Evaluate </a:t>
            </a:r>
            <a:r>
              <a:rPr sz="2450" b="1" spc="70" dirty="0">
                <a:latin typeface="Tahoma"/>
                <a:cs typeface="Tahoma"/>
              </a:rPr>
              <a:t>Competitive </a:t>
            </a:r>
            <a:r>
              <a:rPr sz="2450" b="1" spc="15" dirty="0">
                <a:latin typeface="Tahoma"/>
                <a:cs typeface="Tahoma"/>
              </a:rPr>
              <a:t>Position: </a:t>
            </a:r>
            <a:r>
              <a:rPr sz="2450" b="1" spc="20" dirty="0">
                <a:latin typeface="Tahoma"/>
                <a:cs typeface="Tahoma"/>
              </a:rPr>
              <a:t> </a:t>
            </a:r>
            <a:r>
              <a:rPr sz="2450" spc="-30" dirty="0">
                <a:latin typeface="Verdana"/>
                <a:cs typeface="Verdana"/>
              </a:rPr>
              <a:t>Assess</a:t>
            </a:r>
            <a:r>
              <a:rPr sz="2450" spc="-215" dirty="0">
                <a:latin typeface="Verdana"/>
                <a:cs typeface="Verdana"/>
              </a:rPr>
              <a:t> </a:t>
            </a:r>
            <a:r>
              <a:rPr sz="2450" spc="-5" dirty="0">
                <a:latin typeface="Verdana"/>
                <a:cs typeface="Verdana"/>
              </a:rPr>
              <a:t>Zomato’s</a:t>
            </a:r>
            <a:r>
              <a:rPr sz="2450" spc="-210" dirty="0">
                <a:latin typeface="Verdana"/>
                <a:cs typeface="Verdana"/>
              </a:rPr>
              <a:t> </a:t>
            </a:r>
            <a:r>
              <a:rPr sz="2450" spc="35" dirty="0">
                <a:latin typeface="Verdana"/>
                <a:cs typeface="Verdana"/>
              </a:rPr>
              <a:t>market</a:t>
            </a:r>
            <a:r>
              <a:rPr sz="2450" spc="-210" dirty="0">
                <a:latin typeface="Verdana"/>
                <a:cs typeface="Verdana"/>
              </a:rPr>
              <a:t> </a:t>
            </a:r>
            <a:r>
              <a:rPr sz="2450" spc="60" dirty="0">
                <a:latin typeface="Verdana"/>
                <a:cs typeface="Verdana"/>
              </a:rPr>
              <a:t>standing</a:t>
            </a:r>
            <a:r>
              <a:rPr sz="2450" spc="-215" dirty="0">
                <a:latin typeface="Verdana"/>
                <a:cs typeface="Verdana"/>
              </a:rPr>
              <a:t> </a:t>
            </a:r>
            <a:r>
              <a:rPr sz="2450" spc="55" dirty="0">
                <a:latin typeface="Verdana"/>
                <a:cs typeface="Verdana"/>
              </a:rPr>
              <a:t>in</a:t>
            </a:r>
            <a:r>
              <a:rPr lang="en-IN" sz="2450" spc="55" dirty="0">
                <a:latin typeface="Verdana"/>
                <a:cs typeface="Verdana"/>
              </a:rPr>
              <a:t> </a:t>
            </a:r>
            <a:r>
              <a:rPr sz="2450" spc="-150" dirty="0">
                <a:latin typeface="Verdana"/>
                <a:cs typeface="Verdana"/>
              </a:rPr>
              <a:t>v</a:t>
            </a:r>
            <a:r>
              <a:rPr sz="2450" spc="-40" dirty="0">
                <a:latin typeface="Verdana"/>
                <a:cs typeface="Verdana"/>
              </a:rPr>
              <a:t>a</a:t>
            </a:r>
            <a:r>
              <a:rPr sz="2450" spc="-50" dirty="0">
                <a:latin typeface="Verdana"/>
                <a:cs typeface="Verdana"/>
              </a:rPr>
              <a:t>r</a:t>
            </a:r>
            <a:r>
              <a:rPr sz="2450" spc="25" dirty="0">
                <a:latin typeface="Verdana"/>
                <a:cs typeface="Verdana"/>
              </a:rPr>
              <a:t>ious</a:t>
            </a:r>
            <a:r>
              <a:rPr sz="2450" spc="-215" dirty="0">
                <a:latin typeface="Verdana"/>
                <a:cs typeface="Verdana"/>
              </a:rPr>
              <a:t> </a:t>
            </a:r>
            <a:r>
              <a:rPr sz="2450" spc="-90" dirty="0">
                <a:latin typeface="Verdana"/>
                <a:cs typeface="Verdana"/>
              </a:rPr>
              <a:t>r</a:t>
            </a:r>
            <a:r>
              <a:rPr sz="2450" spc="-10" dirty="0">
                <a:latin typeface="Verdana"/>
                <a:cs typeface="Verdana"/>
              </a:rPr>
              <a:t>egions,</a:t>
            </a:r>
            <a:r>
              <a:rPr sz="2450" spc="-215" dirty="0">
                <a:latin typeface="Verdana"/>
                <a:cs typeface="Verdana"/>
              </a:rPr>
              <a:t> </a:t>
            </a:r>
            <a:r>
              <a:rPr sz="2450" spc="45" dirty="0">
                <a:latin typeface="Verdana"/>
                <a:cs typeface="Verdana"/>
              </a:rPr>
              <a:t>identi</a:t>
            </a:r>
            <a:r>
              <a:rPr sz="2450" spc="55" dirty="0">
                <a:latin typeface="Verdana"/>
                <a:cs typeface="Verdana"/>
              </a:rPr>
              <a:t>f</a:t>
            </a:r>
            <a:r>
              <a:rPr sz="2450" spc="40" dirty="0">
                <a:latin typeface="Verdana"/>
                <a:cs typeface="Verdana"/>
              </a:rPr>
              <a:t>ying</a:t>
            </a:r>
            <a:r>
              <a:rPr sz="2450" spc="-215" dirty="0">
                <a:latin typeface="Verdana"/>
                <a:cs typeface="Verdana"/>
              </a:rPr>
              <a:t> </a:t>
            </a:r>
            <a:r>
              <a:rPr sz="2450" spc="-20" dirty="0">
                <a:latin typeface="Verdana"/>
                <a:cs typeface="Verdana"/>
              </a:rPr>
              <a:t>k</a:t>
            </a:r>
            <a:r>
              <a:rPr sz="2450" spc="10" dirty="0">
                <a:latin typeface="Verdana"/>
                <a:cs typeface="Verdana"/>
              </a:rPr>
              <a:t>e</a:t>
            </a:r>
            <a:r>
              <a:rPr sz="2450" spc="-80" dirty="0">
                <a:latin typeface="Verdana"/>
                <a:cs typeface="Verdana"/>
              </a:rPr>
              <a:t>y</a:t>
            </a:r>
            <a:r>
              <a:rPr lang="en-IN" sz="2450" spc="-80" dirty="0">
                <a:latin typeface="Verdana"/>
                <a:cs typeface="Verdana"/>
              </a:rPr>
              <a:t> </a:t>
            </a:r>
            <a:r>
              <a:rPr sz="2450" spc="-30" dirty="0">
                <a:latin typeface="Verdana"/>
                <a:cs typeface="Verdana"/>
              </a:rPr>
              <a:t>st</a:t>
            </a:r>
            <a:r>
              <a:rPr sz="2450" spc="-65" dirty="0">
                <a:latin typeface="Verdana"/>
                <a:cs typeface="Verdana"/>
              </a:rPr>
              <a:t>r</a:t>
            </a:r>
            <a:r>
              <a:rPr sz="2450" spc="70" dirty="0">
                <a:latin typeface="Verdana"/>
                <a:cs typeface="Verdana"/>
              </a:rPr>
              <a:t>engths</a:t>
            </a:r>
            <a:r>
              <a:rPr sz="2450" spc="-215" dirty="0">
                <a:latin typeface="Verdana"/>
                <a:cs typeface="Verdana"/>
              </a:rPr>
              <a:t> </a:t>
            </a:r>
            <a:r>
              <a:rPr sz="2450" spc="85" dirty="0">
                <a:latin typeface="Verdana"/>
                <a:cs typeface="Verdana"/>
              </a:rPr>
              <a:t>and</a:t>
            </a:r>
            <a:r>
              <a:rPr sz="2450" spc="-215" dirty="0">
                <a:latin typeface="Verdana"/>
                <a:cs typeface="Verdana"/>
              </a:rPr>
              <a:t> </a:t>
            </a:r>
            <a:r>
              <a:rPr sz="2450" spc="95" dirty="0">
                <a:latin typeface="Verdana"/>
                <a:cs typeface="Verdana"/>
              </a:rPr>
              <a:t>po</a:t>
            </a:r>
            <a:r>
              <a:rPr sz="2450" spc="10" dirty="0">
                <a:latin typeface="Verdana"/>
                <a:cs typeface="Verdana"/>
              </a:rPr>
              <a:t>t</a:t>
            </a:r>
            <a:r>
              <a:rPr sz="2450" spc="25" dirty="0">
                <a:latin typeface="Verdana"/>
                <a:cs typeface="Verdana"/>
              </a:rPr>
              <a:t>ential</a:t>
            </a:r>
            <a:r>
              <a:rPr sz="2450" spc="-215" dirty="0">
                <a:latin typeface="Verdana"/>
                <a:cs typeface="Verdana"/>
              </a:rPr>
              <a:t> </a:t>
            </a:r>
            <a:r>
              <a:rPr sz="2450" spc="-40" dirty="0">
                <a:latin typeface="Verdana"/>
                <a:cs typeface="Verdana"/>
              </a:rPr>
              <a:t>a</a:t>
            </a:r>
            <a:r>
              <a:rPr sz="2450" spc="-65" dirty="0">
                <a:latin typeface="Verdana"/>
                <a:cs typeface="Verdana"/>
              </a:rPr>
              <a:t>r</a:t>
            </a:r>
            <a:r>
              <a:rPr sz="2450" spc="-5" dirty="0">
                <a:latin typeface="Verdana"/>
                <a:cs typeface="Verdana"/>
              </a:rPr>
              <a:t>e</a:t>
            </a:r>
            <a:r>
              <a:rPr sz="2450" spc="-40" dirty="0">
                <a:latin typeface="Verdana"/>
                <a:cs typeface="Verdana"/>
              </a:rPr>
              <a:t>as</a:t>
            </a:r>
            <a:r>
              <a:rPr sz="2450" spc="-215" dirty="0">
                <a:latin typeface="Verdana"/>
                <a:cs typeface="Verdana"/>
              </a:rPr>
              <a:t> </a:t>
            </a:r>
            <a:r>
              <a:rPr sz="2450" spc="-50" dirty="0">
                <a:latin typeface="Verdana"/>
                <a:cs typeface="Verdana"/>
              </a:rPr>
              <a:t>f</a:t>
            </a:r>
            <a:r>
              <a:rPr sz="2450" dirty="0">
                <a:latin typeface="Verdana"/>
                <a:cs typeface="Verdana"/>
              </a:rPr>
              <a:t>or</a:t>
            </a:r>
            <a:r>
              <a:rPr lang="en-IN" sz="2450" dirty="0">
                <a:latin typeface="Verdana"/>
                <a:cs typeface="Verdana"/>
              </a:rPr>
              <a:t> </a:t>
            </a:r>
            <a:r>
              <a:rPr sz="2450" spc="25" dirty="0">
                <a:latin typeface="Verdana"/>
                <a:cs typeface="Verdana"/>
              </a:rPr>
              <a:t>improvement.</a:t>
            </a:r>
            <a:endParaRPr sz="245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850570" y="1047100"/>
            <a:ext cx="8048360" cy="6270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200"/>
              </a:lnSpc>
              <a:spcBef>
                <a:spcPts val="90"/>
              </a:spcBef>
            </a:pPr>
            <a:r>
              <a:rPr sz="4000" spc="60" dirty="0">
                <a:solidFill>
                  <a:srgbClr val="FFFFFF"/>
                </a:solidFill>
                <a:latin typeface="Cambria"/>
                <a:cs typeface="Cambria"/>
              </a:rPr>
              <a:t>Content:</a:t>
            </a:r>
            <a:r>
              <a:rPr sz="4000" spc="-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000" spc="65" dirty="0">
                <a:solidFill>
                  <a:srgbClr val="FFFFFF"/>
                </a:solidFill>
                <a:latin typeface="Cambria"/>
                <a:cs typeface="Cambria"/>
              </a:rPr>
              <a:t>Summary </a:t>
            </a:r>
            <a:r>
              <a:rPr sz="4000" spc="-11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000" spc="55" dirty="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sz="4000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000" spc="-55" dirty="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sz="4000" spc="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000" spc="-15" dirty="0">
                <a:solidFill>
                  <a:srgbClr val="FFFFFF"/>
                </a:solidFill>
                <a:latin typeface="Cambria"/>
                <a:cs typeface="Cambria"/>
              </a:rPr>
              <a:t>Dataset</a:t>
            </a:r>
            <a:endParaRPr sz="4000" dirty="0">
              <a:latin typeface="Cambria"/>
              <a:cs typeface="Cambri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102869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3ED8996-7E3A-C7BE-711F-836047619B70}"/>
              </a:ext>
            </a:extLst>
          </p:cNvPr>
          <p:cNvSpPr txBox="1"/>
          <p:nvPr/>
        </p:nvSpPr>
        <p:spPr>
          <a:xfrm>
            <a:off x="10369550" y="2482850"/>
            <a:ext cx="7010400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000" b="1" dirty="0">
                <a:solidFill>
                  <a:schemeClr val="bg1"/>
                </a:solidFill>
              </a:rPr>
              <a:t>Total Records</a:t>
            </a:r>
            <a:r>
              <a:rPr lang="en-US" sz="3000" b="1" dirty="0">
                <a:solidFill>
                  <a:schemeClr val="bg1">
                    <a:lumMod val="75000"/>
                  </a:schemeClr>
                </a:solidFill>
              </a:rPr>
              <a:t>:</a:t>
            </a:r>
            <a:r>
              <a:rPr lang="en-US" sz="3000" dirty="0">
                <a:solidFill>
                  <a:schemeClr val="bg1">
                    <a:lumMod val="75000"/>
                  </a:schemeClr>
                </a:solidFill>
              </a:rPr>
              <a:t> 9,551 restaurant entries.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000" b="1" dirty="0">
                <a:solidFill>
                  <a:schemeClr val="bg1"/>
                </a:solidFill>
              </a:rPr>
              <a:t>Data Points:</a:t>
            </a:r>
            <a:r>
              <a:rPr lang="en-US" sz="3000" dirty="0">
                <a:solidFill>
                  <a:schemeClr val="bg1"/>
                </a:solidFill>
              </a:rPr>
              <a:t> </a:t>
            </a:r>
            <a:r>
              <a:rPr lang="en-US" sz="3000" dirty="0">
                <a:solidFill>
                  <a:schemeClr val="bg1">
                    <a:lumMod val="75000"/>
                  </a:schemeClr>
                </a:solidFill>
              </a:rPr>
              <a:t>23 columns, including key details like: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000" b="1" dirty="0">
                <a:solidFill>
                  <a:schemeClr val="bg1"/>
                </a:solidFill>
              </a:rPr>
              <a:t>Restaurant Information:</a:t>
            </a:r>
            <a:r>
              <a:rPr lang="en-US" sz="3000" dirty="0">
                <a:solidFill>
                  <a:schemeClr val="bg1"/>
                </a:solidFill>
              </a:rPr>
              <a:t> </a:t>
            </a:r>
            <a:r>
              <a:rPr lang="en-US" sz="3000" dirty="0">
                <a:solidFill>
                  <a:schemeClr val="bg1">
                    <a:lumMod val="75000"/>
                  </a:schemeClr>
                </a:solidFill>
              </a:rPr>
              <a:t>ID, Name, Location (City, Address, Locality).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000" b="1" dirty="0">
                <a:solidFill>
                  <a:schemeClr val="bg1"/>
                </a:solidFill>
              </a:rPr>
              <a:t>Geographical Data:</a:t>
            </a:r>
            <a:r>
              <a:rPr lang="en-US" sz="3000" dirty="0">
                <a:solidFill>
                  <a:schemeClr val="bg1"/>
                </a:solidFill>
              </a:rPr>
              <a:t> </a:t>
            </a:r>
            <a:r>
              <a:rPr lang="en-US" sz="3000" dirty="0">
                <a:solidFill>
                  <a:schemeClr val="bg1">
                    <a:lumMod val="75000"/>
                  </a:schemeClr>
                </a:solidFill>
              </a:rPr>
              <a:t>Longitude, Latitude.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000" b="1" dirty="0">
                <a:solidFill>
                  <a:schemeClr val="bg1"/>
                </a:solidFill>
              </a:rPr>
              <a:t>Operational Details:</a:t>
            </a:r>
            <a:r>
              <a:rPr lang="en-US" sz="3000" dirty="0">
                <a:solidFill>
                  <a:schemeClr val="bg1"/>
                </a:solidFill>
              </a:rPr>
              <a:t> </a:t>
            </a:r>
            <a:r>
              <a:rPr lang="en-US" sz="3000" dirty="0">
                <a:solidFill>
                  <a:schemeClr val="bg1">
                    <a:lumMod val="75000"/>
                  </a:schemeClr>
                </a:solidFill>
              </a:rPr>
              <a:t>Whether the restaurant offers table booking, online delivery, or current delivery status.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000" b="1" dirty="0">
                <a:solidFill>
                  <a:schemeClr val="bg1"/>
                </a:solidFill>
              </a:rPr>
              <a:t>Financial Information:</a:t>
            </a:r>
            <a:r>
              <a:rPr lang="en-US" sz="3000" dirty="0">
                <a:solidFill>
                  <a:schemeClr val="bg1"/>
                </a:solidFill>
              </a:rPr>
              <a:t> </a:t>
            </a:r>
            <a:r>
              <a:rPr lang="en-US" sz="3000" dirty="0">
                <a:solidFill>
                  <a:schemeClr val="bg1">
                    <a:lumMod val="75000"/>
                  </a:schemeClr>
                </a:solidFill>
              </a:rPr>
              <a:t>Price range, Average cost for two, Currency.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000" b="1" dirty="0">
                <a:solidFill>
                  <a:schemeClr val="bg1">
                    <a:lumMod val="75000"/>
                  </a:schemeClr>
                </a:solidFill>
              </a:rPr>
              <a:t>Customer Interaction:</a:t>
            </a:r>
            <a:r>
              <a:rPr lang="en-US" sz="3000" dirty="0">
                <a:solidFill>
                  <a:schemeClr val="bg1">
                    <a:lumMod val="75000"/>
                  </a:schemeClr>
                </a:solidFill>
              </a:rPr>
              <a:t> Votes, Rating.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000" b="1" dirty="0">
                <a:solidFill>
                  <a:schemeClr val="bg1"/>
                </a:solidFill>
              </a:rPr>
              <a:t>Timeline:</a:t>
            </a:r>
            <a:r>
              <a:rPr lang="en-US" sz="3000" dirty="0">
                <a:solidFill>
                  <a:schemeClr val="bg1"/>
                </a:solidFill>
              </a:rPr>
              <a:t> </a:t>
            </a:r>
            <a:r>
              <a:rPr lang="en-US" sz="3000" dirty="0">
                <a:solidFill>
                  <a:schemeClr val="bg1">
                    <a:lumMod val="75000"/>
                  </a:schemeClr>
                </a:solidFill>
              </a:rPr>
              <a:t>Opening date, Year, and Month of record creation.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7178" y="1180338"/>
            <a:ext cx="7529772" cy="63158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25" dirty="0">
                <a:solidFill>
                  <a:srgbClr val="000000"/>
                </a:solidFill>
                <a:latin typeface="Cambria"/>
                <a:cs typeface="Cambria"/>
              </a:rPr>
              <a:t>Data</a:t>
            </a:r>
            <a:r>
              <a:rPr sz="4000" spc="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4000" spc="70" dirty="0">
                <a:solidFill>
                  <a:srgbClr val="000000"/>
                </a:solidFill>
                <a:latin typeface="Cambria"/>
                <a:cs typeface="Cambria"/>
              </a:rPr>
              <a:t>Cleaning</a:t>
            </a:r>
            <a:r>
              <a:rPr sz="4000" spc="2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4000" spc="600" dirty="0">
                <a:solidFill>
                  <a:srgbClr val="000000"/>
                </a:solidFill>
                <a:latin typeface="Cambria"/>
                <a:cs typeface="Cambria"/>
              </a:rPr>
              <a:t>&amp;</a:t>
            </a:r>
            <a:r>
              <a:rPr sz="4000" spc="3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4000" spc="20" dirty="0">
                <a:solidFill>
                  <a:srgbClr val="000000"/>
                </a:solidFill>
                <a:latin typeface="Cambria"/>
                <a:cs typeface="Cambria"/>
              </a:rPr>
              <a:t>Preprocessing:</a:t>
            </a:r>
            <a:endParaRPr sz="4000" dirty="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255153" y="2720873"/>
            <a:ext cx="114935" cy="114300"/>
          </a:xfrm>
          <a:custGeom>
            <a:avLst/>
            <a:gdLst/>
            <a:ahLst/>
            <a:cxnLst/>
            <a:rect l="l" t="t" r="r" b="b"/>
            <a:pathLst>
              <a:path w="114934" h="114300">
                <a:moveTo>
                  <a:pt x="114312" y="53390"/>
                </a:moveTo>
                <a:lnTo>
                  <a:pt x="94919" y="14084"/>
                </a:lnTo>
                <a:lnTo>
                  <a:pt x="60909" y="0"/>
                </a:lnTo>
                <a:lnTo>
                  <a:pt x="53390" y="0"/>
                </a:lnTo>
                <a:lnTo>
                  <a:pt x="14084" y="19392"/>
                </a:lnTo>
                <a:lnTo>
                  <a:pt x="0" y="53390"/>
                </a:lnTo>
                <a:lnTo>
                  <a:pt x="0" y="60896"/>
                </a:lnTo>
                <a:lnTo>
                  <a:pt x="19405" y="100215"/>
                </a:lnTo>
                <a:lnTo>
                  <a:pt x="53390" y="114300"/>
                </a:lnTo>
                <a:lnTo>
                  <a:pt x="60909" y="114300"/>
                </a:lnTo>
                <a:lnTo>
                  <a:pt x="100228" y="94907"/>
                </a:lnTo>
                <a:lnTo>
                  <a:pt x="114312" y="60896"/>
                </a:lnTo>
                <a:lnTo>
                  <a:pt x="114312" y="57150"/>
                </a:lnTo>
                <a:lnTo>
                  <a:pt x="114312" y="533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55153" y="4711598"/>
            <a:ext cx="114935" cy="114300"/>
          </a:xfrm>
          <a:custGeom>
            <a:avLst/>
            <a:gdLst/>
            <a:ahLst/>
            <a:cxnLst/>
            <a:rect l="l" t="t" r="r" b="b"/>
            <a:pathLst>
              <a:path w="114934" h="114300">
                <a:moveTo>
                  <a:pt x="114312" y="53390"/>
                </a:moveTo>
                <a:lnTo>
                  <a:pt x="94919" y="14084"/>
                </a:lnTo>
                <a:lnTo>
                  <a:pt x="60909" y="0"/>
                </a:lnTo>
                <a:lnTo>
                  <a:pt x="53390" y="0"/>
                </a:lnTo>
                <a:lnTo>
                  <a:pt x="14084" y="19392"/>
                </a:lnTo>
                <a:lnTo>
                  <a:pt x="0" y="53390"/>
                </a:lnTo>
                <a:lnTo>
                  <a:pt x="0" y="60909"/>
                </a:lnTo>
                <a:lnTo>
                  <a:pt x="19405" y="100215"/>
                </a:lnTo>
                <a:lnTo>
                  <a:pt x="53390" y="114300"/>
                </a:lnTo>
                <a:lnTo>
                  <a:pt x="60909" y="114300"/>
                </a:lnTo>
                <a:lnTo>
                  <a:pt x="100228" y="94907"/>
                </a:lnTo>
                <a:lnTo>
                  <a:pt x="114312" y="60909"/>
                </a:lnTo>
                <a:lnTo>
                  <a:pt x="114312" y="57150"/>
                </a:lnTo>
                <a:lnTo>
                  <a:pt x="114312" y="533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55153" y="6711848"/>
            <a:ext cx="114935" cy="114300"/>
          </a:xfrm>
          <a:custGeom>
            <a:avLst/>
            <a:gdLst/>
            <a:ahLst/>
            <a:cxnLst/>
            <a:rect l="l" t="t" r="r" b="b"/>
            <a:pathLst>
              <a:path w="114934" h="114300">
                <a:moveTo>
                  <a:pt x="114312" y="53390"/>
                </a:moveTo>
                <a:lnTo>
                  <a:pt x="94919" y="14084"/>
                </a:lnTo>
                <a:lnTo>
                  <a:pt x="60909" y="0"/>
                </a:lnTo>
                <a:lnTo>
                  <a:pt x="53390" y="0"/>
                </a:lnTo>
                <a:lnTo>
                  <a:pt x="14084" y="19392"/>
                </a:lnTo>
                <a:lnTo>
                  <a:pt x="0" y="53390"/>
                </a:lnTo>
                <a:lnTo>
                  <a:pt x="0" y="60896"/>
                </a:lnTo>
                <a:lnTo>
                  <a:pt x="19405" y="100215"/>
                </a:lnTo>
                <a:lnTo>
                  <a:pt x="53390" y="114300"/>
                </a:lnTo>
                <a:lnTo>
                  <a:pt x="60909" y="114300"/>
                </a:lnTo>
                <a:lnTo>
                  <a:pt x="100228" y="94907"/>
                </a:lnTo>
                <a:lnTo>
                  <a:pt x="114312" y="60896"/>
                </a:lnTo>
                <a:lnTo>
                  <a:pt x="114312" y="57150"/>
                </a:lnTo>
                <a:lnTo>
                  <a:pt x="114312" y="533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536700" y="2455589"/>
            <a:ext cx="6430645" cy="600710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indent="93345" algn="just">
              <a:lnSpc>
                <a:spcPct val="116799"/>
              </a:lnSpc>
              <a:spcBef>
                <a:spcPts val="75"/>
              </a:spcBef>
            </a:pPr>
            <a:r>
              <a:rPr sz="2800" b="1" spc="35" dirty="0">
                <a:latin typeface="Tahoma"/>
                <a:cs typeface="Tahoma"/>
              </a:rPr>
              <a:t>Null </a:t>
            </a:r>
            <a:r>
              <a:rPr sz="2800" b="1" spc="25" dirty="0">
                <a:latin typeface="Tahoma"/>
                <a:cs typeface="Tahoma"/>
              </a:rPr>
              <a:t>Values </a:t>
            </a:r>
            <a:r>
              <a:rPr sz="2800" b="1" spc="-5" dirty="0">
                <a:latin typeface="Tahoma"/>
                <a:cs typeface="Tahoma"/>
              </a:rPr>
              <a:t>Handling</a:t>
            </a:r>
            <a:r>
              <a:rPr sz="2800" spc="-5" dirty="0">
                <a:latin typeface="Verdana"/>
                <a:cs typeface="Verdana"/>
              </a:rPr>
              <a:t>: </a:t>
            </a:r>
            <a:r>
              <a:rPr sz="2800" spc="40" dirty="0">
                <a:latin typeface="Verdana"/>
                <a:cs typeface="Verdana"/>
              </a:rPr>
              <a:t>Ensured</a:t>
            </a:r>
            <a:r>
              <a:rPr lang="en-IN" sz="2800" spc="40" dirty="0">
                <a:latin typeface="Verdana"/>
                <a:cs typeface="Verdana"/>
              </a:rPr>
              <a:t> </a:t>
            </a:r>
            <a:r>
              <a:rPr sz="2800" spc="245" dirty="0">
                <a:latin typeface="Verdana"/>
                <a:cs typeface="Verdana"/>
              </a:rPr>
              <a:t>m</a:t>
            </a:r>
            <a:r>
              <a:rPr sz="2800" spc="-20" dirty="0">
                <a:latin typeface="Verdana"/>
                <a:cs typeface="Verdana"/>
              </a:rPr>
              <a:t>i</a:t>
            </a:r>
            <a:r>
              <a:rPr sz="2800" spc="114" dirty="0">
                <a:latin typeface="Verdana"/>
                <a:cs typeface="Verdana"/>
              </a:rPr>
              <a:t>n</a:t>
            </a:r>
            <a:r>
              <a:rPr sz="2800" spc="-20" dirty="0">
                <a:latin typeface="Verdana"/>
                <a:cs typeface="Verdana"/>
              </a:rPr>
              <a:t>i</a:t>
            </a:r>
            <a:r>
              <a:rPr sz="2800" spc="245" dirty="0">
                <a:latin typeface="Verdana"/>
                <a:cs typeface="Verdana"/>
              </a:rPr>
              <a:t>m</a:t>
            </a:r>
            <a:r>
              <a:rPr sz="2800" spc="-35" dirty="0">
                <a:latin typeface="Verdana"/>
                <a:cs typeface="Verdana"/>
              </a:rPr>
              <a:t>a</a:t>
            </a:r>
            <a:r>
              <a:rPr sz="2800" spc="-15" dirty="0">
                <a:latin typeface="Verdana"/>
                <a:cs typeface="Verdana"/>
              </a:rPr>
              <a:t>l</a:t>
            </a:r>
            <a:r>
              <a:rPr sz="2800" spc="-250" dirty="0">
                <a:latin typeface="Verdana"/>
                <a:cs typeface="Verdana"/>
              </a:rPr>
              <a:t> </a:t>
            </a:r>
            <a:r>
              <a:rPr sz="2800" spc="245" dirty="0">
                <a:latin typeface="Verdana"/>
                <a:cs typeface="Verdana"/>
              </a:rPr>
              <a:t>m</a:t>
            </a:r>
            <a:r>
              <a:rPr sz="2800" spc="-20" dirty="0">
                <a:latin typeface="Verdana"/>
                <a:cs typeface="Verdana"/>
              </a:rPr>
              <a:t>i</a:t>
            </a:r>
            <a:r>
              <a:rPr sz="2800" spc="-95" dirty="0">
                <a:latin typeface="Verdana"/>
                <a:cs typeface="Verdana"/>
              </a:rPr>
              <a:t>ss</a:t>
            </a:r>
            <a:r>
              <a:rPr sz="2800" spc="-20" dirty="0">
                <a:latin typeface="Verdana"/>
                <a:cs typeface="Verdana"/>
              </a:rPr>
              <a:t>i</a:t>
            </a:r>
            <a:r>
              <a:rPr sz="2800" spc="114" dirty="0">
                <a:latin typeface="Verdana"/>
                <a:cs typeface="Verdana"/>
              </a:rPr>
              <a:t>n</a:t>
            </a:r>
            <a:r>
              <a:rPr sz="2800" spc="175" dirty="0">
                <a:latin typeface="Verdana"/>
                <a:cs typeface="Verdana"/>
              </a:rPr>
              <a:t>g</a:t>
            </a:r>
            <a:r>
              <a:rPr sz="2800" spc="-250" dirty="0">
                <a:latin typeface="Verdana"/>
                <a:cs typeface="Verdana"/>
              </a:rPr>
              <a:t> </a:t>
            </a:r>
            <a:r>
              <a:rPr sz="2800" spc="-190" dirty="0">
                <a:latin typeface="Verdana"/>
                <a:cs typeface="Verdana"/>
              </a:rPr>
              <a:t>v</a:t>
            </a:r>
            <a:r>
              <a:rPr sz="2800" spc="-35" dirty="0">
                <a:latin typeface="Verdana"/>
                <a:cs typeface="Verdana"/>
              </a:rPr>
              <a:t>a</a:t>
            </a:r>
            <a:r>
              <a:rPr sz="2800" spc="-20" dirty="0">
                <a:latin typeface="Verdana"/>
                <a:cs typeface="Verdana"/>
              </a:rPr>
              <a:t>l</a:t>
            </a:r>
            <a:r>
              <a:rPr sz="2800" spc="105" dirty="0">
                <a:latin typeface="Verdana"/>
                <a:cs typeface="Verdana"/>
              </a:rPr>
              <a:t>u</a:t>
            </a:r>
            <a:r>
              <a:rPr sz="2800" spc="20" dirty="0">
                <a:latin typeface="Verdana"/>
                <a:cs typeface="Verdana"/>
              </a:rPr>
              <a:t>e</a:t>
            </a:r>
            <a:r>
              <a:rPr sz="2800" spc="-95" dirty="0">
                <a:latin typeface="Verdana"/>
                <a:cs typeface="Verdana"/>
              </a:rPr>
              <a:t>s</a:t>
            </a:r>
            <a:r>
              <a:rPr sz="2800" spc="-425" dirty="0">
                <a:latin typeface="Verdana"/>
                <a:cs typeface="Verdana"/>
              </a:rPr>
              <a:t>,</a:t>
            </a:r>
            <a:r>
              <a:rPr sz="2800" spc="-250" dirty="0">
                <a:latin typeface="Verdana"/>
                <a:cs typeface="Verdana"/>
              </a:rPr>
              <a:t> </a:t>
            </a:r>
            <a:r>
              <a:rPr sz="2800" spc="150" dirty="0">
                <a:latin typeface="Verdana"/>
                <a:cs typeface="Verdana"/>
              </a:rPr>
              <a:t>p</a:t>
            </a:r>
            <a:r>
              <a:rPr sz="2800" spc="-95" dirty="0">
                <a:latin typeface="Verdana"/>
                <a:cs typeface="Verdana"/>
              </a:rPr>
              <a:t>r</a:t>
            </a:r>
            <a:r>
              <a:rPr sz="2800" spc="-20" dirty="0">
                <a:latin typeface="Verdana"/>
                <a:cs typeface="Verdana"/>
              </a:rPr>
              <a:t>i</a:t>
            </a:r>
            <a:r>
              <a:rPr sz="2800" spc="245" dirty="0">
                <a:latin typeface="Verdana"/>
                <a:cs typeface="Verdana"/>
              </a:rPr>
              <a:t>m</a:t>
            </a:r>
            <a:r>
              <a:rPr sz="2800" spc="-35" dirty="0">
                <a:latin typeface="Verdana"/>
                <a:cs typeface="Verdana"/>
              </a:rPr>
              <a:t>a</a:t>
            </a:r>
            <a:r>
              <a:rPr sz="2800" spc="-95" dirty="0">
                <a:latin typeface="Verdana"/>
                <a:cs typeface="Verdana"/>
              </a:rPr>
              <a:t>r</a:t>
            </a:r>
            <a:r>
              <a:rPr sz="2800" spc="-20" dirty="0">
                <a:latin typeface="Verdana"/>
                <a:cs typeface="Verdana"/>
              </a:rPr>
              <a:t>il</a:t>
            </a:r>
            <a:r>
              <a:rPr sz="2800" spc="-100" dirty="0">
                <a:latin typeface="Verdana"/>
                <a:cs typeface="Verdana"/>
              </a:rPr>
              <a:t>y</a:t>
            </a:r>
            <a:r>
              <a:rPr lang="en-IN" sz="2800" spc="-100" dirty="0">
                <a:latin typeface="Verdana"/>
                <a:cs typeface="Verdana"/>
              </a:rPr>
              <a:t> </a:t>
            </a:r>
            <a:r>
              <a:rPr sz="2800" spc="-65" dirty="0">
                <a:latin typeface="Verdana"/>
                <a:cs typeface="Verdana"/>
              </a:rPr>
              <a:t>f</a:t>
            </a:r>
            <a:r>
              <a:rPr sz="2800" spc="50" dirty="0">
                <a:latin typeface="Verdana"/>
                <a:cs typeface="Verdana"/>
              </a:rPr>
              <a:t>o</a:t>
            </a:r>
            <a:r>
              <a:rPr sz="2800" spc="114" dirty="0">
                <a:latin typeface="Verdana"/>
                <a:cs typeface="Verdana"/>
              </a:rPr>
              <a:t>c</a:t>
            </a:r>
            <a:r>
              <a:rPr sz="2800" spc="105" dirty="0">
                <a:latin typeface="Verdana"/>
                <a:cs typeface="Verdana"/>
              </a:rPr>
              <a:t>u</a:t>
            </a:r>
            <a:r>
              <a:rPr sz="2800" spc="-95" dirty="0">
                <a:latin typeface="Verdana"/>
                <a:cs typeface="Verdana"/>
              </a:rPr>
              <a:t>s</a:t>
            </a:r>
            <a:r>
              <a:rPr sz="2800" spc="-20" dirty="0">
                <a:latin typeface="Verdana"/>
                <a:cs typeface="Verdana"/>
              </a:rPr>
              <a:t>i</a:t>
            </a:r>
            <a:r>
              <a:rPr sz="2800" spc="114" dirty="0">
                <a:latin typeface="Verdana"/>
                <a:cs typeface="Verdana"/>
              </a:rPr>
              <a:t>n</a:t>
            </a:r>
            <a:r>
              <a:rPr sz="2800" spc="175" dirty="0">
                <a:latin typeface="Verdana"/>
                <a:cs typeface="Verdana"/>
              </a:rPr>
              <a:t>g</a:t>
            </a:r>
            <a:r>
              <a:rPr sz="2800" spc="-250" dirty="0">
                <a:latin typeface="Verdana"/>
                <a:cs typeface="Verdana"/>
              </a:rPr>
              <a:t> </a:t>
            </a:r>
            <a:r>
              <a:rPr sz="2800" spc="50" dirty="0">
                <a:latin typeface="Verdana"/>
                <a:cs typeface="Verdana"/>
              </a:rPr>
              <a:t>o</a:t>
            </a:r>
            <a:r>
              <a:rPr sz="2800" spc="120" dirty="0">
                <a:latin typeface="Verdana"/>
                <a:cs typeface="Verdana"/>
              </a:rPr>
              <a:t>n</a:t>
            </a:r>
            <a:r>
              <a:rPr sz="2800" spc="-250" dirty="0">
                <a:latin typeface="Verdana"/>
                <a:cs typeface="Verdana"/>
              </a:rPr>
              <a:t> </a:t>
            </a:r>
            <a:r>
              <a:rPr sz="2800" spc="30" dirty="0">
                <a:latin typeface="Verdana"/>
                <a:cs typeface="Verdana"/>
              </a:rPr>
              <a:t>t</a:t>
            </a:r>
            <a:r>
              <a:rPr sz="2800" spc="114" dirty="0">
                <a:latin typeface="Verdana"/>
                <a:cs typeface="Verdana"/>
              </a:rPr>
              <a:t>h</a:t>
            </a:r>
            <a:r>
              <a:rPr sz="2800" spc="25" dirty="0">
                <a:latin typeface="Verdana"/>
                <a:cs typeface="Verdana"/>
              </a:rPr>
              <a:t>e</a:t>
            </a:r>
            <a:r>
              <a:rPr sz="2800" spc="-250" dirty="0">
                <a:latin typeface="Verdana"/>
                <a:cs typeface="Verdana"/>
              </a:rPr>
              <a:t> </a:t>
            </a:r>
            <a:r>
              <a:rPr sz="2800" spc="-195" dirty="0">
                <a:latin typeface="Verdana"/>
                <a:cs typeface="Verdana"/>
              </a:rPr>
              <a:t>'</a:t>
            </a:r>
            <a:r>
              <a:rPr sz="2800" spc="5" dirty="0">
                <a:latin typeface="Verdana"/>
                <a:cs typeface="Verdana"/>
              </a:rPr>
              <a:t>C</a:t>
            </a:r>
            <a:r>
              <a:rPr sz="2800" spc="105" dirty="0">
                <a:latin typeface="Verdana"/>
                <a:cs typeface="Verdana"/>
              </a:rPr>
              <a:t>u</a:t>
            </a:r>
            <a:r>
              <a:rPr sz="2800" spc="-20" dirty="0">
                <a:latin typeface="Verdana"/>
                <a:cs typeface="Verdana"/>
              </a:rPr>
              <a:t>i</a:t>
            </a:r>
            <a:r>
              <a:rPr sz="2800" spc="-95" dirty="0">
                <a:latin typeface="Verdana"/>
                <a:cs typeface="Verdana"/>
              </a:rPr>
              <a:t>s</a:t>
            </a:r>
            <a:r>
              <a:rPr sz="2800" spc="-20" dirty="0">
                <a:latin typeface="Verdana"/>
                <a:cs typeface="Verdana"/>
              </a:rPr>
              <a:t>i</a:t>
            </a:r>
            <a:r>
              <a:rPr sz="2800" spc="114" dirty="0">
                <a:latin typeface="Verdana"/>
                <a:cs typeface="Verdana"/>
              </a:rPr>
              <a:t>n</a:t>
            </a:r>
            <a:r>
              <a:rPr sz="2800" spc="20" dirty="0">
                <a:latin typeface="Verdana"/>
                <a:cs typeface="Verdana"/>
              </a:rPr>
              <a:t>e</a:t>
            </a:r>
            <a:r>
              <a:rPr sz="2800" spc="-95" dirty="0">
                <a:latin typeface="Verdana"/>
                <a:cs typeface="Verdana"/>
              </a:rPr>
              <a:t>s</a:t>
            </a:r>
            <a:r>
              <a:rPr sz="2800" spc="-190" dirty="0">
                <a:latin typeface="Verdana"/>
                <a:cs typeface="Verdana"/>
              </a:rPr>
              <a:t>'</a:t>
            </a:r>
            <a:r>
              <a:rPr sz="2800" spc="-250" dirty="0">
                <a:latin typeface="Verdana"/>
                <a:cs typeface="Verdana"/>
              </a:rPr>
              <a:t> </a:t>
            </a:r>
            <a:r>
              <a:rPr sz="2800" spc="90" dirty="0">
                <a:latin typeface="Verdana"/>
                <a:cs typeface="Verdana"/>
              </a:rPr>
              <a:t>c</a:t>
            </a:r>
            <a:r>
              <a:rPr sz="2800" spc="50" dirty="0">
                <a:latin typeface="Verdana"/>
                <a:cs typeface="Verdana"/>
              </a:rPr>
              <a:t>o</a:t>
            </a:r>
            <a:r>
              <a:rPr sz="2800" spc="-20" dirty="0">
                <a:latin typeface="Verdana"/>
                <a:cs typeface="Verdana"/>
              </a:rPr>
              <a:t>l</a:t>
            </a:r>
            <a:r>
              <a:rPr sz="2800" spc="105" dirty="0">
                <a:latin typeface="Verdana"/>
                <a:cs typeface="Verdana"/>
              </a:rPr>
              <a:t>u</a:t>
            </a:r>
            <a:r>
              <a:rPr sz="2800" spc="245" dirty="0">
                <a:latin typeface="Verdana"/>
                <a:cs typeface="Verdana"/>
              </a:rPr>
              <a:t>m</a:t>
            </a:r>
            <a:r>
              <a:rPr sz="2800" spc="120" dirty="0">
                <a:latin typeface="Verdana"/>
                <a:cs typeface="Verdana"/>
              </a:rPr>
              <a:t>n</a:t>
            </a:r>
            <a:r>
              <a:rPr sz="2800" spc="-250" dirty="0">
                <a:latin typeface="Verdana"/>
                <a:cs typeface="Verdana"/>
              </a:rPr>
              <a:t> </a:t>
            </a:r>
            <a:r>
              <a:rPr sz="2800" spc="-355" dirty="0">
                <a:latin typeface="Verdana"/>
                <a:cs typeface="Verdana"/>
              </a:rPr>
              <a:t>(</a:t>
            </a:r>
            <a:r>
              <a:rPr sz="2800" spc="-55" dirty="0">
                <a:latin typeface="Verdana"/>
                <a:cs typeface="Verdana"/>
              </a:rPr>
              <a:t>9  </a:t>
            </a:r>
            <a:r>
              <a:rPr sz="2800" spc="245" dirty="0">
                <a:latin typeface="Verdana"/>
                <a:cs typeface="Verdana"/>
              </a:rPr>
              <a:t>m</a:t>
            </a:r>
            <a:r>
              <a:rPr sz="2800" spc="-20" dirty="0">
                <a:latin typeface="Verdana"/>
                <a:cs typeface="Verdana"/>
              </a:rPr>
              <a:t>i</a:t>
            </a:r>
            <a:r>
              <a:rPr sz="2800" spc="-95" dirty="0">
                <a:latin typeface="Verdana"/>
                <a:cs typeface="Verdana"/>
              </a:rPr>
              <a:t>ss</a:t>
            </a:r>
            <a:r>
              <a:rPr sz="2800" spc="-20" dirty="0">
                <a:latin typeface="Verdana"/>
                <a:cs typeface="Verdana"/>
              </a:rPr>
              <a:t>i</a:t>
            </a:r>
            <a:r>
              <a:rPr sz="2800" spc="114" dirty="0">
                <a:latin typeface="Verdana"/>
                <a:cs typeface="Verdana"/>
              </a:rPr>
              <a:t>n</a:t>
            </a:r>
            <a:r>
              <a:rPr sz="2800" spc="175" dirty="0">
                <a:latin typeface="Verdana"/>
                <a:cs typeface="Verdana"/>
              </a:rPr>
              <a:t>g</a:t>
            </a:r>
            <a:r>
              <a:rPr sz="2800" spc="-250" dirty="0">
                <a:latin typeface="Verdana"/>
                <a:cs typeface="Verdana"/>
              </a:rPr>
              <a:t> </a:t>
            </a:r>
            <a:r>
              <a:rPr sz="2800" spc="20" dirty="0">
                <a:latin typeface="Verdana"/>
                <a:cs typeface="Verdana"/>
              </a:rPr>
              <a:t>e</a:t>
            </a:r>
            <a:r>
              <a:rPr sz="2800" spc="114" dirty="0">
                <a:latin typeface="Verdana"/>
                <a:cs typeface="Verdana"/>
              </a:rPr>
              <a:t>n</a:t>
            </a:r>
            <a:r>
              <a:rPr sz="2800" spc="30" dirty="0">
                <a:latin typeface="Verdana"/>
                <a:cs typeface="Verdana"/>
              </a:rPr>
              <a:t>t</a:t>
            </a:r>
            <a:r>
              <a:rPr sz="2800" spc="-95" dirty="0">
                <a:latin typeface="Verdana"/>
                <a:cs typeface="Verdana"/>
              </a:rPr>
              <a:t>r</a:t>
            </a:r>
            <a:r>
              <a:rPr sz="2800" spc="-20" dirty="0">
                <a:latin typeface="Verdana"/>
                <a:cs typeface="Verdana"/>
              </a:rPr>
              <a:t>i</a:t>
            </a:r>
            <a:r>
              <a:rPr sz="2800" spc="20" dirty="0">
                <a:latin typeface="Verdana"/>
                <a:cs typeface="Verdana"/>
              </a:rPr>
              <a:t>e</a:t>
            </a:r>
            <a:r>
              <a:rPr sz="2800" spc="-95" dirty="0">
                <a:latin typeface="Verdana"/>
                <a:cs typeface="Verdana"/>
              </a:rPr>
              <a:t>s</a:t>
            </a:r>
            <a:r>
              <a:rPr sz="2800" spc="-355" dirty="0">
                <a:latin typeface="Verdana"/>
                <a:cs typeface="Verdana"/>
              </a:rPr>
              <a:t>)</a:t>
            </a:r>
            <a:r>
              <a:rPr sz="2800" spc="-425" dirty="0">
                <a:latin typeface="Verdana"/>
                <a:cs typeface="Verdana"/>
              </a:rPr>
              <a:t>.</a:t>
            </a:r>
            <a:endParaRPr sz="2800" dirty="0">
              <a:latin typeface="Verdana"/>
              <a:cs typeface="Verdana"/>
            </a:endParaRPr>
          </a:p>
          <a:p>
            <a:pPr marL="12700" marR="656590" algn="just">
              <a:lnSpc>
                <a:spcPct val="116100"/>
              </a:lnSpc>
            </a:pPr>
            <a:r>
              <a:rPr sz="2800" b="1" spc="65" dirty="0">
                <a:latin typeface="Tahoma"/>
                <a:cs typeface="Tahoma"/>
              </a:rPr>
              <a:t>Data</a:t>
            </a:r>
            <a:r>
              <a:rPr sz="2800" b="1" spc="-85" dirty="0">
                <a:latin typeface="Tahoma"/>
                <a:cs typeface="Tahoma"/>
              </a:rPr>
              <a:t> </a:t>
            </a:r>
            <a:r>
              <a:rPr sz="2800" b="1" spc="20" dirty="0">
                <a:latin typeface="Tahoma"/>
                <a:cs typeface="Tahoma"/>
              </a:rPr>
              <a:t>Consistency:</a:t>
            </a:r>
            <a:r>
              <a:rPr sz="2800" b="1" spc="-110" dirty="0">
                <a:latin typeface="Tahoma"/>
                <a:cs typeface="Tahoma"/>
              </a:rPr>
              <a:t> </a:t>
            </a:r>
            <a:r>
              <a:rPr sz="2800" spc="15" dirty="0">
                <a:latin typeface="Verdana"/>
                <a:cs typeface="Verdana"/>
              </a:rPr>
              <a:t>Standardized </a:t>
            </a:r>
            <a:r>
              <a:rPr sz="2800" spc="-969" dirty="0">
                <a:latin typeface="Verdana"/>
                <a:cs typeface="Verdana"/>
              </a:rPr>
              <a:t> </a:t>
            </a:r>
            <a:r>
              <a:rPr sz="2800" spc="150" dirty="0">
                <a:latin typeface="Verdana"/>
                <a:cs typeface="Verdana"/>
              </a:rPr>
              <a:t>d</a:t>
            </a:r>
            <a:r>
              <a:rPr sz="2800" spc="-35" dirty="0">
                <a:latin typeface="Verdana"/>
                <a:cs typeface="Verdana"/>
              </a:rPr>
              <a:t>a</a:t>
            </a:r>
            <a:r>
              <a:rPr sz="2800" spc="-20" dirty="0">
                <a:latin typeface="Verdana"/>
                <a:cs typeface="Verdana"/>
              </a:rPr>
              <a:t>t</a:t>
            </a:r>
            <a:r>
              <a:rPr sz="2800" spc="25" dirty="0">
                <a:latin typeface="Verdana"/>
                <a:cs typeface="Verdana"/>
              </a:rPr>
              <a:t>e</a:t>
            </a:r>
            <a:r>
              <a:rPr sz="2800" spc="-250" dirty="0">
                <a:latin typeface="Verdana"/>
                <a:cs typeface="Verdana"/>
              </a:rPr>
              <a:t> </a:t>
            </a:r>
            <a:r>
              <a:rPr sz="2800" spc="-65" dirty="0">
                <a:latin typeface="Verdana"/>
                <a:cs typeface="Verdana"/>
              </a:rPr>
              <a:t>f</a:t>
            </a:r>
            <a:r>
              <a:rPr sz="2800" spc="50" dirty="0">
                <a:latin typeface="Verdana"/>
                <a:cs typeface="Verdana"/>
              </a:rPr>
              <a:t>o</a:t>
            </a:r>
            <a:r>
              <a:rPr sz="2800" spc="-95" dirty="0">
                <a:latin typeface="Verdana"/>
                <a:cs typeface="Verdana"/>
              </a:rPr>
              <a:t>r</a:t>
            </a:r>
            <a:r>
              <a:rPr sz="2800" spc="245" dirty="0">
                <a:latin typeface="Verdana"/>
                <a:cs typeface="Verdana"/>
              </a:rPr>
              <a:t>m</a:t>
            </a:r>
            <a:r>
              <a:rPr sz="2800" spc="-35" dirty="0">
                <a:latin typeface="Verdana"/>
                <a:cs typeface="Verdana"/>
              </a:rPr>
              <a:t>a</a:t>
            </a:r>
            <a:r>
              <a:rPr sz="2800" spc="30" dirty="0">
                <a:latin typeface="Verdana"/>
                <a:cs typeface="Verdana"/>
              </a:rPr>
              <a:t>t</a:t>
            </a:r>
            <a:r>
              <a:rPr sz="2800" spc="-90" dirty="0">
                <a:latin typeface="Verdana"/>
                <a:cs typeface="Verdana"/>
              </a:rPr>
              <a:t>s</a:t>
            </a:r>
            <a:r>
              <a:rPr sz="2800" spc="-250" dirty="0">
                <a:latin typeface="Verdana"/>
                <a:cs typeface="Verdana"/>
              </a:rPr>
              <a:t> </a:t>
            </a:r>
            <a:r>
              <a:rPr sz="2800" spc="-35" dirty="0">
                <a:latin typeface="Verdana"/>
                <a:cs typeface="Verdana"/>
              </a:rPr>
              <a:t>a</a:t>
            </a:r>
            <a:r>
              <a:rPr sz="2800" spc="114" dirty="0">
                <a:latin typeface="Verdana"/>
                <a:cs typeface="Verdana"/>
              </a:rPr>
              <a:t>n</a:t>
            </a:r>
            <a:r>
              <a:rPr sz="2800" spc="155" dirty="0">
                <a:latin typeface="Verdana"/>
                <a:cs typeface="Verdana"/>
              </a:rPr>
              <a:t>d</a:t>
            </a:r>
            <a:r>
              <a:rPr sz="2800" spc="-250" dirty="0">
                <a:latin typeface="Verdana"/>
                <a:cs typeface="Verdana"/>
              </a:rPr>
              <a:t> </a:t>
            </a:r>
            <a:r>
              <a:rPr sz="2800" spc="-185" dirty="0">
                <a:latin typeface="Verdana"/>
                <a:cs typeface="Verdana"/>
              </a:rPr>
              <a:t>v</a:t>
            </a:r>
            <a:r>
              <a:rPr sz="2800" spc="20" dirty="0">
                <a:latin typeface="Verdana"/>
                <a:cs typeface="Verdana"/>
              </a:rPr>
              <a:t>e</a:t>
            </a:r>
            <a:r>
              <a:rPr sz="2800" spc="-95" dirty="0">
                <a:latin typeface="Verdana"/>
                <a:cs typeface="Verdana"/>
              </a:rPr>
              <a:t>r</a:t>
            </a:r>
            <a:r>
              <a:rPr sz="2800" spc="-20" dirty="0">
                <a:latin typeface="Verdana"/>
                <a:cs typeface="Verdana"/>
              </a:rPr>
              <a:t>i</a:t>
            </a:r>
            <a:r>
              <a:rPr sz="2800" spc="-50" dirty="0">
                <a:latin typeface="Verdana"/>
                <a:cs typeface="Verdana"/>
              </a:rPr>
              <a:t>ﬁ</a:t>
            </a:r>
            <a:r>
              <a:rPr sz="2800" spc="20" dirty="0">
                <a:latin typeface="Verdana"/>
                <a:cs typeface="Verdana"/>
              </a:rPr>
              <a:t>e</a:t>
            </a:r>
            <a:r>
              <a:rPr sz="2800" spc="155" dirty="0">
                <a:latin typeface="Verdana"/>
                <a:cs typeface="Verdana"/>
              </a:rPr>
              <a:t>d</a:t>
            </a:r>
            <a:endParaRPr sz="2800" dirty="0">
              <a:latin typeface="Verdana"/>
              <a:cs typeface="Verdana"/>
            </a:endParaRPr>
          </a:p>
          <a:p>
            <a:pPr marL="12700" marR="99695" algn="just">
              <a:lnSpc>
                <a:spcPct val="116100"/>
              </a:lnSpc>
              <a:spcBef>
                <a:spcPts val="70"/>
              </a:spcBef>
            </a:pPr>
            <a:r>
              <a:rPr sz="2800" spc="170" dirty="0">
                <a:latin typeface="Verdana"/>
                <a:cs typeface="Verdana"/>
              </a:rPr>
              <a:t>g</a:t>
            </a:r>
            <a:r>
              <a:rPr sz="2800" spc="20" dirty="0">
                <a:latin typeface="Verdana"/>
                <a:cs typeface="Verdana"/>
              </a:rPr>
              <a:t>e</a:t>
            </a:r>
            <a:r>
              <a:rPr sz="2800" spc="50" dirty="0">
                <a:latin typeface="Verdana"/>
                <a:cs typeface="Verdana"/>
              </a:rPr>
              <a:t>o</a:t>
            </a:r>
            <a:r>
              <a:rPr sz="2800" spc="170" dirty="0">
                <a:latin typeface="Verdana"/>
                <a:cs typeface="Verdana"/>
              </a:rPr>
              <a:t>g</a:t>
            </a:r>
            <a:r>
              <a:rPr sz="2800" spc="-204" dirty="0">
                <a:latin typeface="Verdana"/>
                <a:cs typeface="Verdana"/>
              </a:rPr>
              <a:t>r</a:t>
            </a:r>
            <a:r>
              <a:rPr sz="2800" spc="-35" dirty="0">
                <a:latin typeface="Verdana"/>
                <a:cs typeface="Verdana"/>
              </a:rPr>
              <a:t>a</a:t>
            </a:r>
            <a:r>
              <a:rPr sz="2800" spc="150" dirty="0">
                <a:latin typeface="Verdana"/>
                <a:cs typeface="Verdana"/>
              </a:rPr>
              <a:t>p</a:t>
            </a:r>
            <a:r>
              <a:rPr sz="2800" spc="114" dirty="0">
                <a:latin typeface="Verdana"/>
                <a:cs typeface="Verdana"/>
              </a:rPr>
              <a:t>h</a:t>
            </a:r>
            <a:r>
              <a:rPr sz="2800" spc="-20" dirty="0">
                <a:latin typeface="Verdana"/>
                <a:cs typeface="Verdana"/>
              </a:rPr>
              <a:t>i</a:t>
            </a:r>
            <a:r>
              <a:rPr sz="2800" spc="114" dirty="0">
                <a:latin typeface="Verdana"/>
                <a:cs typeface="Verdana"/>
              </a:rPr>
              <a:t>c</a:t>
            </a:r>
            <a:r>
              <a:rPr sz="2800" spc="-35" dirty="0">
                <a:latin typeface="Verdana"/>
                <a:cs typeface="Verdana"/>
              </a:rPr>
              <a:t>a</a:t>
            </a:r>
            <a:r>
              <a:rPr sz="2800" spc="-15" dirty="0">
                <a:latin typeface="Verdana"/>
                <a:cs typeface="Verdana"/>
              </a:rPr>
              <a:t>l</a:t>
            </a:r>
            <a:r>
              <a:rPr sz="2800" spc="-250" dirty="0">
                <a:latin typeface="Verdana"/>
                <a:cs typeface="Verdana"/>
              </a:rPr>
              <a:t> </a:t>
            </a:r>
            <a:r>
              <a:rPr sz="2800" spc="90" dirty="0">
                <a:latin typeface="Verdana"/>
                <a:cs typeface="Verdana"/>
              </a:rPr>
              <a:t>c</a:t>
            </a:r>
            <a:r>
              <a:rPr sz="2800" spc="50" dirty="0">
                <a:latin typeface="Verdana"/>
                <a:cs typeface="Verdana"/>
              </a:rPr>
              <a:t>oo</a:t>
            </a:r>
            <a:r>
              <a:rPr sz="2800" spc="-110" dirty="0">
                <a:latin typeface="Verdana"/>
                <a:cs typeface="Verdana"/>
              </a:rPr>
              <a:t>r</a:t>
            </a:r>
            <a:r>
              <a:rPr sz="2800" spc="150" dirty="0">
                <a:latin typeface="Verdana"/>
                <a:cs typeface="Verdana"/>
              </a:rPr>
              <a:t>d</a:t>
            </a:r>
            <a:r>
              <a:rPr sz="2800" spc="-20" dirty="0">
                <a:latin typeface="Verdana"/>
                <a:cs typeface="Verdana"/>
              </a:rPr>
              <a:t>i</a:t>
            </a:r>
            <a:r>
              <a:rPr sz="2800" spc="114" dirty="0">
                <a:latin typeface="Verdana"/>
                <a:cs typeface="Verdana"/>
              </a:rPr>
              <a:t>n</a:t>
            </a:r>
            <a:r>
              <a:rPr sz="2800" spc="-35" dirty="0">
                <a:latin typeface="Verdana"/>
                <a:cs typeface="Verdana"/>
              </a:rPr>
              <a:t>a</a:t>
            </a:r>
            <a:r>
              <a:rPr sz="2800" spc="-20" dirty="0">
                <a:latin typeface="Verdana"/>
                <a:cs typeface="Verdana"/>
              </a:rPr>
              <a:t>t</a:t>
            </a:r>
            <a:r>
              <a:rPr sz="2800" spc="20" dirty="0">
                <a:latin typeface="Verdana"/>
                <a:cs typeface="Verdana"/>
              </a:rPr>
              <a:t>e</a:t>
            </a:r>
            <a:r>
              <a:rPr sz="2800" spc="-90" dirty="0">
                <a:latin typeface="Verdana"/>
                <a:cs typeface="Verdana"/>
              </a:rPr>
              <a:t>s</a:t>
            </a:r>
            <a:r>
              <a:rPr sz="2800" spc="-250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t</a:t>
            </a:r>
            <a:r>
              <a:rPr sz="2800" spc="55" dirty="0">
                <a:latin typeface="Verdana"/>
                <a:cs typeface="Verdana"/>
              </a:rPr>
              <a:t>o</a:t>
            </a:r>
            <a:r>
              <a:rPr sz="2800" spc="-250" dirty="0">
                <a:latin typeface="Verdana"/>
                <a:cs typeface="Verdana"/>
              </a:rPr>
              <a:t> </a:t>
            </a:r>
            <a:r>
              <a:rPr sz="2800" spc="20" dirty="0">
                <a:latin typeface="Verdana"/>
                <a:cs typeface="Verdana"/>
              </a:rPr>
              <a:t>e</a:t>
            </a:r>
            <a:r>
              <a:rPr sz="2800" spc="114" dirty="0">
                <a:latin typeface="Verdana"/>
                <a:cs typeface="Verdana"/>
              </a:rPr>
              <a:t>n</a:t>
            </a:r>
            <a:r>
              <a:rPr sz="2800" spc="-95" dirty="0">
                <a:latin typeface="Verdana"/>
                <a:cs typeface="Verdana"/>
              </a:rPr>
              <a:t>s</a:t>
            </a:r>
            <a:r>
              <a:rPr sz="2800" spc="105" dirty="0">
                <a:latin typeface="Verdana"/>
                <a:cs typeface="Verdana"/>
              </a:rPr>
              <a:t>u</a:t>
            </a:r>
            <a:r>
              <a:rPr sz="2800" spc="-110" dirty="0">
                <a:latin typeface="Verdana"/>
                <a:cs typeface="Verdana"/>
              </a:rPr>
              <a:t>r</a:t>
            </a:r>
            <a:r>
              <a:rPr sz="2800" spc="15" dirty="0">
                <a:latin typeface="Verdana"/>
                <a:cs typeface="Verdana"/>
              </a:rPr>
              <a:t>e</a:t>
            </a:r>
            <a:r>
              <a:rPr lang="en-IN" sz="2800" spc="15" dirty="0">
                <a:latin typeface="Verdana"/>
                <a:cs typeface="Verdana"/>
              </a:rPr>
              <a:t> </a:t>
            </a:r>
            <a:r>
              <a:rPr sz="2800" spc="-60" dirty="0">
                <a:latin typeface="Verdana"/>
                <a:cs typeface="Verdana"/>
              </a:rPr>
              <a:t>accuracy.</a:t>
            </a:r>
            <a:endParaRPr sz="2800" dirty="0">
              <a:latin typeface="Verdana"/>
              <a:cs typeface="Verdana"/>
            </a:endParaRPr>
          </a:p>
          <a:p>
            <a:pPr marL="12700" marR="520065" algn="just">
              <a:lnSpc>
                <a:spcPct val="116799"/>
              </a:lnSpc>
              <a:spcBef>
                <a:spcPts val="50"/>
              </a:spcBef>
            </a:pPr>
            <a:r>
              <a:rPr sz="2800" b="1" spc="200" dirty="0">
                <a:latin typeface="Tahoma"/>
                <a:cs typeface="Tahoma"/>
              </a:rPr>
              <a:t>O</a:t>
            </a:r>
            <a:r>
              <a:rPr sz="2800" b="1" spc="110" dirty="0">
                <a:latin typeface="Tahoma"/>
                <a:cs typeface="Tahoma"/>
              </a:rPr>
              <a:t>u</a:t>
            </a:r>
            <a:r>
              <a:rPr sz="2800" b="1" spc="20" dirty="0">
                <a:latin typeface="Tahoma"/>
                <a:cs typeface="Tahoma"/>
              </a:rPr>
              <a:t>t</a:t>
            </a:r>
            <a:r>
              <a:rPr sz="2800" b="1" spc="-40" dirty="0">
                <a:latin typeface="Tahoma"/>
                <a:cs typeface="Tahoma"/>
              </a:rPr>
              <a:t>li</a:t>
            </a:r>
            <a:r>
              <a:rPr sz="2800" b="1" spc="75" dirty="0">
                <a:latin typeface="Tahoma"/>
                <a:cs typeface="Tahoma"/>
              </a:rPr>
              <a:t>e</a:t>
            </a:r>
            <a:r>
              <a:rPr sz="2800" b="1" spc="-40" dirty="0">
                <a:latin typeface="Tahoma"/>
                <a:cs typeface="Tahoma"/>
              </a:rPr>
              <a:t>r</a:t>
            </a:r>
            <a:r>
              <a:rPr sz="2800" b="1" spc="-50" dirty="0">
                <a:latin typeface="Tahoma"/>
                <a:cs typeface="Tahoma"/>
              </a:rPr>
              <a:t> </a:t>
            </a:r>
            <a:r>
              <a:rPr sz="2800" b="1" spc="190" dirty="0">
                <a:latin typeface="Tahoma"/>
                <a:cs typeface="Tahoma"/>
              </a:rPr>
              <a:t>D</a:t>
            </a:r>
            <a:r>
              <a:rPr sz="2800" b="1" spc="75" dirty="0">
                <a:latin typeface="Tahoma"/>
                <a:cs typeface="Tahoma"/>
              </a:rPr>
              <a:t>e</a:t>
            </a:r>
            <a:r>
              <a:rPr sz="2800" b="1" spc="-30" dirty="0">
                <a:latin typeface="Tahoma"/>
                <a:cs typeface="Tahoma"/>
              </a:rPr>
              <a:t>t</a:t>
            </a:r>
            <a:r>
              <a:rPr sz="2800" b="1" spc="75" dirty="0">
                <a:latin typeface="Tahoma"/>
                <a:cs typeface="Tahoma"/>
              </a:rPr>
              <a:t>e</a:t>
            </a:r>
            <a:r>
              <a:rPr sz="2800" b="1" spc="165" dirty="0">
                <a:latin typeface="Tahoma"/>
                <a:cs typeface="Tahoma"/>
              </a:rPr>
              <a:t>c</a:t>
            </a:r>
            <a:r>
              <a:rPr sz="2800" b="1" spc="20" dirty="0">
                <a:latin typeface="Tahoma"/>
                <a:cs typeface="Tahoma"/>
              </a:rPr>
              <a:t>t</a:t>
            </a:r>
            <a:r>
              <a:rPr sz="2800" b="1" spc="-40" dirty="0">
                <a:latin typeface="Tahoma"/>
                <a:cs typeface="Tahoma"/>
              </a:rPr>
              <a:t>i</a:t>
            </a:r>
            <a:r>
              <a:rPr sz="2800" b="1" spc="75" dirty="0">
                <a:latin typeface="Tahoma"/>
                <a:cs typeface="Tahoma"/>
              </a:rPr>
              <a:t>o</a:t>
            </a:r>
            <a:r>
              <a:rPr sz="2800" b="1" spc="120" dirty="0">
                <a:latin typeface="Tahoma"/>
                <a:cs typeface="Tahoma"/>
              </a:rPr>
              <a:t>n</a:t>
            </a:r>
            <a:r>
              <a:rPr sz="2800" b="1" spc="-335" dirty="0">
                <a:latin typeface="Tahoma"/>
                <a:cs typeface="Tahoma"/>
              </a:rPr>
              <a:t>:</a:t>
            </a:r>
            <a:r>
              <a:rPr sz="2800" b="1" spc="-85" dirty="0">
                <a:latin typeface="Tahoma"/>
                <a:cs typeface="Tahoma"/>
              </a:rPr>
              <a:t> </a:t>
            </a:r>
            <a:r>
              <a:rPr sz="2800" spc="75" dirty="0">
                <a:latin typeface="Verdana"/>
                <a:cs typeface="Verdana"/>
              </a:rPr>
              <a:t>R</a:t>
            </a:r>
            <a:r>
              <a:rPr sz="2800" spc="-5" dirty="0">
                <a:latin typeface="Verdana"/>
                <a:cs typeface="Verdana"/>
              </a:rPr>
              <a:t>e</a:t>
            </a:r>
            <a:r>
              <a:rPr sz="2800" spc="-145" dirty="0">
                <a:latin typeface="Verdana"/>
                <a:cs typeface="Verdana"/>
              </a:rPr>
              <a:t>v</a:t>
            </a:r>
            <a:r>
              <a:rPr sz="2800" spc="-20" dirty="0">
                <a:latin typeface="Verdana"/>
                <a:cs typeface="Verdana"/>
              </a:rPr>
              <a:t>i</a:t>
            </a:r>
            <a:r>
              <a:rPr sz="2800" spc="-5" dirty="0">
                <a:latin typeface="Verdana"/>
                <a:cs typeface="Verdana"/>
              </a:rPr>
              <a:t>e</a:t>
            </a:r>
            <a:r>
              <a:rPr sz="2800" spc="125" dirty="0">
                <a:latin typeface="Verdana"/>
                <a:cs typeface="Verdana"/>
              </a:rPr>
              <a:t>w</a:t>
            </a:r>
            <a:r>
              <a:rPr sz="2800" spc="20" dirty="0">
                <a:latin typeface="Verdana"/>
                <a:cs typeface="Verdana"/>
              </a:rPr>
              <a:t>e</a:t>
            </a:r>
            <a:r>
              <a:rPr sz="2800" spc="155" dirty="0">
                <a:latin typeface="Verdana"/>
                <a:cs typeface="Verdana"/>
              </a:rPr>
              <a:t>d</a:t>
            </a:r>
            <a:r>
              <a:rPr sz="2800" spc="-250" dirty="0">
                <a:latin typeface="Verdana"/>
                <a:cs typeface="Verdana"/>
              </a:rPr>
              <a:t> </a:t>
            </a:r>
            <a:r>
              <a:rPr sz="2800" spc="-35" dirty="0">
                <a:latin typeface="Verdana"/>
                <a:cs typeface="Verdana"/>
              </a:rPr>
              <a:t>a</a:t>
            </a:r>
            <a:r>
              <a:rPr sz="2800" spc="114" dirty="0">
                <a:latin typeface="Verdana"/>
                <a:cs typeface="Verdana"/>
              </a:rPr>
              <a:t>n</a:t>
            </a:r>
            <a:r>
              <a:rPr sz="2800" spc="110" dirty="0">
                <a:latin typeface="Verdana"/>
                <a:cs typeface="Verdana"/>
              </a:rPr>
              <a:t>d</a:t>
            </a:r>
            <a:r>
              <a:rPr lang="en-IN" sz="2800" spc="110" dirty="0">
                <a:latin typeface="Verdana"/>
                <a:cs typeface="Verdana"/>
              </a:rPr>
              <a:t> </a:t>
            </a:r>
            <a:r>
              <a:rPr sz="2800" spc="-35" dirty="0">
                <a:latin typeface="Verdana"/>
                <a:cs typeface="Verdana"/>
              </a:rPr>
              <a:t>a</a:t>
            </a:r>
            <a:r>
              <a:rPr sz="2800" spc="150" dirty="0">
                <a:latin typeface="Verdana"/>
                <a:cs typeface="Verdana"/>
              </a:rPr>
              <a:t>d</a:t>
            </a:r>
            <a:r>
              <a:rPr sz="2800" spc="-204" dirty="0">
                <a:latin typeface="Verdana"/>
                <a:cs typeface="Verdana"/>
              </a:rPr>
              <a:t>j</a:t>
            </a:r>
            <a:r>
              <a:rPr sz="2800" spc="105" dirty="0">
                <a:latin typeface="Verdana"/>
                <a:cs typeface="Verdana"/>
              </a:rPr>
              <a:t>u</a:t>
            </a:r>
            <a:r>
              <a:rPr sz="2800" spc="-95" dirty="0">
                <a:latin typeface="Verdana"/>
                <a:cs typeface="Verdana"/>
              </a:rPr>
              <a:t>s</a:t>
            </a:r>
            <a:r>
              <a:rPr sz="2800" spc="-20" dirty="0">
                <a:latin typeface="Verdana"/>
                <a:cs typeface="Verdana"/>
              </a:rPr>
              <a:t>t</a:t>
            </a:r>
            <a:r>
              <a:rPr sz="2800" spc="20" dirty="0">
                <a:latin typeface="Verdana"/>
                <a:cs typeface="Verdana"/>
              </a:rPr>
              <a:t>e</a:t>
            </a:r>
            <a:r>
              <a:rPr sz="2800" spc="155" dirty="0">
                <a:latin typeface="Verdana"/>
                <a:cs typeface="Verdana"/>
              </a:rPr>
              <a:t>d</a:t>
            </a:r>
            <a:r>
              <a:rPr sz="2800" spc="-250" dirty="0">
                <a:latin typeface="Verdana"/>
                <a:cs typeface="Verdana"/>
              </a:rPr>
              <a:t> </a:t>
            </a:r>
            <a:r>
              <a:rPr sz="2800" spc="50" dirty="0">
                <a:latin typeface="Verdana"/>
                <a:cs typeface="Verdana"/>
              </a:rPr>
              <a:t>o</a:t>
            </a:r>
            <a:r>
              <a:rPr sz="2800" spc="105" dirty="0">
                <a:latin typeface="Verdana"/>
                <a:cs typeface="Verdana"/>
              </a:rPr>
              <a:t>u</a:t>
            </a:r>
            <a:r>
              <a:rPr sz="2800" spc="30" dirty="0">
                <a:latin typeface="Verdana"/>
                <a:cs typeface="Verdana"/>
              </a:rPr>
              <a:t>t</a:t>
            </a:r>
            <a:r>
              <a:rPr sz="2800" spc="-20" dirty="0">
                <a:latin typeface="Verdana"/>
                <a:cs typeface="Verdana"/>
              </a:rPr>
              <a:t>li</a:t>
            </a:r>
            <a:r>
              <a:rPr sz="2800" spc="20" dirty="0">
                <a:latin typeface="Verdana"/>
                <a:cs typeface="Verdana"/>
              </a:rPr>
              <a:t>e</a:t>
            </a:r>
            <a:r>
              <a:rPr sz="2800" spc="-80" dirty="0">
                <a:latin typeface="Verdana"/>
                <a:cs typeface="Verdana"/>
              </a:rPr>
              <a:t>r</a:t>
            </a:r>
            <a:r>
              <a:rPr sz="2800" spc="-90" dirty="0">
                <a:latin typeface="Verdana"/>
                <a:cs typeface="Verdana"/>
              </a:rPr>
              <a:t>s</a:t>
            </a:r>
            <a:r>
              <a:rPr sz="2800" spc="-250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i</a:t>
            </a:r>
            <a:r>
              <a:rPr sz="2800" spc="120" dirty="0">
                <a:latin typeface="Verdana"/>
                <a:cs typeface="Verdana"/>
              </a:rPr>
              <a:t>n</a:t>
            </a:r>
            <a:r>
              <a:rPr sz="2800" spc="-250" dirty="0">
                <a:latin typeface="Verdana"/>
                <a:cs typeface="Verdana"/>
              </a:rPr>
              <a:t> </a:t>
            </a:r>
            <a:r>
              <a:rPr sz="2800" spc="-204" dirty="0">
                <a:latin typeface="Verdana"/>
                <a:cs typeface="Verdana"/>
              </a:rPr>
              <a:t>r</a:t>
            </a:r>
            <a:r>
              <a:rPr sz="2800" spc="-35" dirty="0">
                <a:latin typeface="Verdana"/>
                <a:cs typeface="Verdana"/>
              </a:rPr>
              <a:t>a</a:t>
            </a:r>
            <a:r>
              <a:rPr sz="2800" spc="30" dirty="0">
                <a:latin typeface="Verdana"/>
                <a:cs typeface="Verdana"/>
              </a:rPr>
              <a:t>t</a:t>
            </a:r>
            <a:r>
              <a:rPr sz="2800" spc="-20" dirty="0">
                <a:latin typeface="Verdana"/>
                <a:cs typeface="Verdana"/>
              </a:rPr>
              <a:t>i</a:t>
            </a:r>
            <a:r>
              <a:rPr sz="2800" spc="114" dirty="0">
                <a:latin typeface="Verdana"/>
                <a:cs typeface="Verdana"/>
              </a:rPr>
              <a:t>n</a:t>
            </a:r>
            <a:r>
              <a:rPr sz="2800" spc="175" dirty="0">
                <a:latin typeface="Verdana"/>
                <a:cs typeface="Verdana"/>
              </a:rPr>
              <a:t>g</a:t>
            </a:r>
            <a:r>
              <a:rPr sz="2800" spc="-250" dirty="0">
                <a:latin typeface="Verdana"/>
                <a:cs typeface="Verdana"/>
              </a:rPr>
              <a:t> </a:t>
            </a:r>
            <a:r>
              <a:rPr sz="2800" spc="-35" dirty="0">
                <a:latin typeface="Verdana"/>
                <a:cs typeface="Verdana"/>
              </a:rPr>
              <a:t>a</a:t>
            </a:r>
            <a:r>
              <a:rPr sz="2800" spc="114" dirty="0">
                <a:latin typeface="Verdana"/>
                <a:cs typeface="Verdana"/>
              </a:rPr>
              <a:t>n</a:t>
            </a:r>
            <a:r>
              <a:rPr sz="2800" spc="110" dirty="0">
                <a:latin typeface="Verdana"/>
                <a:cs typeface="Verdana"/>
              </a:rPr>
              <a:t>d</a:t>
            </a:r>
            <a:r>
              <a:rPr lang="en-IN" sz="2800" spc="110" dirty="0">
                <a:latin typeface="Verdana"/>
                <a:cs typeface="Verdana"/>
              </a:rPr>
              <a:t> </a:t>
            </a:r>
            <a:r>
              <a:rPr sz="2800" spc="-60" dirty="0">
                <a:latin typeface="Verdana"/>
                <a:cs typeface="Verdana"/>
              </a:rPr>
              <a:t>a</a:t>
            </a:r>
            <a:r>
              <a:rPr sz="2800" spc="-185" dirty="0">
                <a:latin typeface="Verdana"/>
                <a:cs typeface="Verdana"/>
              </a:rPr>
              <a:t>v</a:t>
            </a:r>
            <a:r>
              <a:rPr sz="2800" spc="20" dirty="0">
                <a:latin typeface="Verdana"/>
                <a:cs typeface="Verdana"/>
              </a:rPr>
              <a:t>e</a:t>
            </a:r>
            <a:r>
              <a:rPr sz="2800" spc="-204" dirty="0">
                <a:latin typeface="Verdana"/>
                <a:cs typeface="Verdana"/>
              </a:rPr>
              <a:t>r</a:t>
            </a:r>
            <a:r>
              <a:rPr sz="2800" spc="-35" dirty="0">
                <a:latin typeface="Verdana"/>
                <a:cs typeface="Verdana"/>
              </a:rPr>
              <a:t>a</a:t>
            </a:r>
            <a:r>
              <a:rPr sz="2800" spc="170" dirty="0">
                <a:latin typeface="Verdana"/>
                <a:cs typeface="Verdana"/>
              </a:rPr>
              <a:t>g</a:t>
            </a:r>
            <a:r>
              <a:rPr sz="2800" spc="25" dirty="0">
                <a:latin typeface="Verdana"/>
                <a:cs typeface="Verdana"/>
              </a:rPr>
              <a:t>e</a:t>
            </a:r>
            <a:r>
              <a:rPr sz="2800" spc="-250" dirty="0">
                <a:latin typeface="Verdana"/>
                <a:cs typeface="Verdana"/>
              </a:rPr>
              <a:t> </a:t>
            </a:r>
            <a:r>
              <a:rPr sz="2800" spc="90" dirty="0">
                <a:latin typeface="Verdana"/>
                <a:cs typeface="Verdana"/>
              </a:rPr>
              <a:t>c</a:t>
            </a:r>
            <a:r>
              <a:rPr sz="2800" spc="50" dirty="0">
                <a:latin typeface="Verdana"/>
                <a:cs typeface="Verdana"/>
              </a:rPr>
              <a:t>o</a:t>
            </a:r>
            <a:r>
              <a:rPr sz="2800" spc="-95" dirty="0">
                <a:latin typeface="Verdana"/>
                <a:cs typeface="Verdana"/>
              </a:rPr>
              <a:t>s</a:t>
            </a:r>
            <a:r>
              <a:rPr sz="2800" spc="35" dirty="0">
                <a:latin typeface="Verdana"/>
                <a:cs typeface="Verdana"/>
              </a:rPr>
              <a:t>t</a:t>
            </a:r>
            <a:r>
              <a:rPr sz="2800" spc="-250" dirty="0">
                <a:latin typeface="Verdana"/>
                <a:cs typeface="Verdana"/>
              </a:rPr>
              <a:t> </a:t>
            </a:r>
            <a:r>
              <a:rPr sz="2800" spc="150" dirty="0">
                <a:latin typeface="Verdana"/>
                <a:cs typeface="Verdana"/>
              </a:rPr>
              <a:t>d</a:t>
            </a:r>
            <a:r>
              <a:rPr sz="2800" spc="-35" dirty="0">
                <a:latin typeface="Verdana"/>
                <a:cs typeface="Verdana"/>
              </a:rPr>
              <a:t>a</a:t>
            </a:r>
            <a:r>
              <a:rPr sz="2800" spc="30" dirty="0">
                <a:latin typeface="Verdana"/>
                <a:cs typeface="Verdana"/>
              </a:rPr>
              <a:t>t</a:t>
            </a:r>
            <a:r>
              <a:rPr sz="2800" spc="-30" dirty="0">
                <a:latin typeface="Verdana"/>
                <a:cs typeface="Verdana"/>
              </a:rPr>
              <a:t>a</a:t>
            </a:r>
            <a:r>
              <a:rPr sz="2800" spc="-250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t</a:t>
            </a:r>
            <a:r>
              <a:rPr sz="2800" spc="55" dirty="0">
                <a:latin typeface="Verdana"/>
                <a:cs typeface="Verdana"/>
              </a:rPr>
              <a:t>o</a:t>
            </a:r>
            <a:r>
              <a:rPr sz="2800" spc="-250" dirty="0">
                <a:latin typeface="Verdana"/>
                <a:cs typeface="Verdana"/>
              </a:rPr>
              <a:t> </a:t>
            </a:r>
            <a:r>
              <a:rPr sz="2800" spc="245" dirty="0">
                <a:latin typeface="Verdana"/>
                <a:cs typeface="Verdana"/>
              </a:rPr>
              <a:t>m</a:t>
            </a:r>
            <a:r>
              <a:rPr sz="2800" spc="-35" dirty="0">
                <a:latin typeface="Verdana"/>
                <a:cs typeface="Verdana"/>
              </a:rPr>
              <a:t>a</a:t>
            </a:r>
            <a:r>
              <a:rPr sz="2800" spc="-20" dirty="0">
                <a:latin typeface="Verdana"/>
                <a:cs typeface="Verdana"/>
              </a:rPr>
              <a:t>i</a:t>
            </a:r>
            <a:r>
              <a:rPr sz="2800" spc="114" dirty="0">
                <a:latin typeface="Verdana"/>
                <a:cs typeface="Verdana"/>
              </a:rPr>
              <a:t>n</a:t>
            </a:r>
            <a:r>
              <a:rPr sz="2800" spc="30" dirty="0">
                <a:latin typeface="Verdana"/>
                <a:cs typeface="Verdana"/>
              </a:rPr>
              <a:t>t</a:t>
            </a:r>
            <a:r>
              <a:rPr sz="2800" spc="-35" dirty="0">
                <a:latin typeface="Verdana"/>
                <a:cs typeface="Verdana"/>
              </a:rPr>
              <a:t>a</a:t>
            </a:r>
            <a:r>
              <a:rPr sz="2800" spc="-20" dirty="0">
                <a:latin typeface="Verdana"/>
                <a:cs typeface="Verdana"/>
              </a:rPr>
              <a:t>i</a:t>
            </a:r>
            <a:r>
              <a:rPr sz="2800" spc="85" dirty="0">
                <a:latin typeface="Verdana"/>
                <a:cs typeface="Verdana"/>
              </a:rPr>
              <a:t>n</a:t>
            </a:r>
            <a:r>
              <a:rPr lang="en-IN" sz="2800" spc="85" dirty="0">
                <a:latin typeface="Verdana"/>
                <a:cs typeface="Verdana"/>
              </a:rPr>
              <a:t> </a:t>
            </a:r>
            <a:r>
              <a:rPr sz="2800" spc="-35" dirty="0">
                <a:latin typeface="Verdana"/>
                <a:cs typeface="Verdana"/>
              </a:rPr>
              <a:t>a</a:t>
            </a:r>
            <a:r>
              <a:rPr sz="2800" spc="114" dirty="0">
                <a:latin typeface="Verdana"/>
                <a:cs typeface="Verdana"/>
              </a:rPr>
              <a:t>n</a:t>
            </a:r>
            <a:r>
              <a:rPr sz="2800" spc="-35" dirty="0">
                <a:latin typeface="Verdana"/>
                <a:cs typeface="Verdana"/>
              </a:rPr>
              <a:t>a</a:t>
            </a:r>
            <a:r>
              <a:rPr sz="2800" spc="-20" dirty="0">
                <a:latin typeface="Verdana"/>
                <a:cs typeface="Verdana"/>
              </a:rPr>
              <a:t>l</a:t>
            </a:r>
            <a:r>
              <a:rPr sz="2800" spc="-100" dirty="0">
                <a:latin typeface="Verdana"/>
                <a:cs typeface="Verdana"/>
              </a:rPr>
              <a:t>y</a:t>
            </a:r>
            <a:r>
              <a:rPr sz="2800" spc="30" dirty="0">
                <a:latin typeface="Verdana"/>
                <a:cs typeface="Verdana"/>
              </a:rPr>
              <a:t>t</a:t>
            </a:r>
            <a:r>
              <a:rPr sz="2800" spc="-20" dirty="0">
                <a:latin typeface="Verdana"/>
                <a:cs typeface="Verdana"/>
              </a:rPr>
              <a:t>i</a:t>
            </a:r>
            <a:r>
              <a:rPr sz="2800" spc="114" dirty="0">
                <a:latin typeface="Verdana"/>
                <a:cs typeface="Verdana"/>
              </a:rPr>
              <a:t>c</a:t>
            </a:r>
            <a:r>
              <a:rPr sz="2800" spc="-35" dirty="0">
                <a:latin typeface="Verdana"/>
                <a:cs typeface="Verdana"/>
              </a:rPr>
              <a:t>a</a:t>
            </a:r>
            <a:r>
              <a:rPr sz="2800" spc="-15" dirty="0">
                <a:latin typeface="Verdana"/>
                <a:cs typeface="Verdana"/>
              </a:rPr>
              <a:t>l</a:t>
            </a:r>
            <a:r>
              <a:rPr sz="2800" spc="-250" dirty="0">
                <a:latin typeface="Verdana"/>
                <a:cs typeface="Verdana"/>
              </a:rPr>
              <a:t> </a:t>
            </a:r>
            <a:r>
              <a:rPr sz="2800" spc="-110" dirty="0">
                <a:latin typeface="Verdana"/>
                <a:cs typeface="Verdana"/>
              </a:rPr>
              <a:t>r</a:t>
            </a:r>
            <a:r>
              <a:rPr sz="2800" spc="20" dirty="0">
                <a:latin typeface="Verdana"/>
                <a:cs typeface="Verdana"/>
              </a:rPr>
              <a:t>e</a:t>
            </a:r>
            <a:r>
              <a:rPr sz="2800" spc="-20" dirty="0">
                <a:latin typeface="Verdana"/>
                <a:cs typeface="Verdana"/>
              </a:rPr>
              <a:t>li</a:t>
            </a:r>
            <a:r>
              <a:rPr sz="2800" spc="-35" dirty="0">
                <a:latin typeface="Verdana"/>
                <a:cs typeface="Verdana"/>
              </a:rPr>
              <a:t>a</a:t>
            </a:r>
            <a:r>
              <a:rPr sz="2800" spc="150" dirty="0">
                <a:latin typeface="Verdana"/>
                <a:cs typeface="Verdana"/>
              </a:rPr>
              <a:t>b</a:t>
            </a:r>
            <a:r>
              <a:rPr sz="2800" spc="-20" dirty="0">
                <a:latin typeface="Verdana"/>
                <a:cs typeface="Verdana"/>
              </a:rPr>
              <a:t>ili</a:t>
            </a:r>
            <a:r>
              <a:rPr sz="2800" spc="5" dirty="0">
                <a:latin typeface="Verdana"/>
                <a:cs typeface="Verdana"/>
              </a:rPr>
              <a:t>t</a:t>
            </a:r>
            <a:r>
              <a:rPr sz="2800" spc="-240" dirty="0">
                <a:latin typeface="Verdana"/>
                <a:cs typeface="Verdana"/>
              </a:rPr>
              <a:t>y</a:t>
            </a:r>
            <a:r>
              <a:rPr sz="2800" spc="-425" dirty="0">
                <a:latin typeface="Verdana"/>
                <a:cs typeface="Verdana"/>
              </a:rPr>
              <a:t>.</a:t>
            </a:r>
            <a:endParaRPr sz="2800" dirty="0">
              <a:latin typeface="Verdana"/>
              <a:cs typeface="Verdan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22854" y="4"/>
            <a:ext cx="9143999" cy="1024345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834463" y="146329"/>
            <a:ext cx="8648700" cy="1752600"/>
          </a:xfrm>
          <a:custGeom>
            <a:avLst/>
            <a:gdLst/>
            <a:ahLst/>
            <a:cxnLst/>
            <a:rect l="l" t="t" r="r" b="b"/>
            <a:pathLst>
              <a:path w="8648700" h="1752600">
                <a:moveTo>
                  <a:pt x="8648700" y="0"/>
                </a:moveTo>
                <a:lnTo>
                  <a:pt x="0" y="0"/>
                </a:lnTo>
                <a:lnTo>
                  <a:pt x="0" y="1752600"/>
                </a:lnTo>
                <a:lnTo>
                  <a:pt x="8648700" y="1752600"/>
                </a:lnTo>
                <a:lnTo>
                  <a:pt x="86487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894005" y="365798"/>
            <a:ext cx="4493895" cy="916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850" spc="355" dirty="0">
                <a:solidFill>
                  <a:srgbClr val="FFFFFF"/>
                </a:solidFill>
                <a:latin typeface="Cambria"/>
                <a:cs typeface="Cambria"/>
              </a:rPr>
              <a:t>M</a:t>
            </a:r>
            <a:r>
              <a:rPr sz="5850" spc="-40" dirty="0">
                <a:solidFill>
                  <a:srgbClr val="FFFFFF"/>
                </a:solidFill>
                <a:latin typeface="Cambria"/>
                <a:cs typeface="Cambria"/>
              </a:rPr>
              <a:t>ethod</a:t>
            </a:r>
            <a:r>
              <a:rPr sz="5850" spc="-100" dirty="0">
                <a:solidFill>
                  <a:srgbClr val="FFFFFF"/>
                </a:solidFill>
                <a:latin typeface="Cambria"/>
                <a:cs typeface="Cambria"/>
              </a:rPr>
              <a:t>o</a:t>
            </a:r>
            <a:r>
              <a:rPr sz="5850" spc="-45" dirty="0">
                <a:solidFill>
                  <a:srgbClr val="FFFFFF"/>
                </a:solidFill>
                <a:latin typeface="Cambria"/>
                <a:cs typeface="Cambria"/>
              </a:rPr>
              <a:t>l</a:t>
            </a:r>
            <a:r>
              <a:rPr sz="5850" spc="85" dirty="0">
                <a:solidFill>
                  <a:srgbClr val="FFFFFF"/>
                </a:solidFill>
                <a:latin typeface="Cambria"/>
                <a:cs typeface="Cambria"/>
              </a:rPr>
              <a:t>o</a:t>
            </a:r>
            <a:r>
              <a:rPr sz="5850" spc="-5" dirty="0">
                <a:solidFill>
                  <a:srgbClr val="FFFFFF"/>
                </a:solidFill>
                <a:latin typeface="Cambria"/>
                <a:cs typeface="Cambria"/>
              </a:rPr>
              <a:t>g</a:t>
            </a:r>
            <a:r>
              <a:rPr sz="5850" spc="-70" dirty="0">
                <a:solidFill>
                  <a:srgbClr val="FFFFFF"/>
                </a:solidFill>
                <a:latin typeface="Cambria"/>
                <a:cs typeface="Cambria"/>
              </a:rPr>
              <a:t>y</a:t>
            </a:r>
            <a:endParaRPr sz="585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7716" y="141516"/>
            <a:ext cx="8372475" cy="574848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215398" y="6157121"/>
            <a:ext cx="8496300" cy="3257550"/>
            <a:chOff x="215398" y="6157121"/>
            <a:chExt cx="8496300" cy="3257550"/>
          </a:xfrm>
        </p:grpSpPr>
        <p:sp>
          <p:nvSpPr>
            <p:cNvPr id="6" name="object 6"/>
            <p:cNvSpPr/>
            <p:nvPr/>
          </p:nvSpPr>
          <p:spPr>
            <a:xfrm>
              <a:off x="215398" y="6157121"/>
              <a:ext cx="8496300" cy="3257550"/>
            </a:xfrm>
            <a:custGeom>
              <a:avLst/>
              <a:gdLst/>
              <a:ahLst/>
              <a:cxnLst/>
              <a:rect l="l" t="t" r="r" b="b"/>
              <a:pathLst>
                <a:path w="8496300" h="3257550">
                  <a:moveTo>
                    <a:pt x="8496300" y="0"/>
                  </a:moveTo>
                  <a:lnTo>
                    <a:pt x="0" y="0"/>
                  </a:lnTo>
                  <a:lnTo>
                    <a:pt x="0" y="3257550"/>
                  </a:lnTo>
                  <a:lnTo>
                    <a:pt x="8496300" y="3257550"/>
                  </a:lnTo>
                  <a:lnTo>
                    <a:pt x="8496300" y="0"/>
                  </a:lnTo>
                  <a:close/>
                </a:path>
              </a:pathLst>
            </a:custGeom>
            <a:solidFill>
              <a:srgbClr val="2323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5961" y="7021030"/>
              <a:ext cx="95250" cy="9525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5961" y="8078305"/>
              <a:ext cx="95250" cy="9525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490711" y="6493980"/>
            <a:ext cx="7775575" cy="25133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just">
              <a:lnSpc>
                <a:spcPct val="100000"/>
              </a:lnSpc>
              <a:spcBef>
                <a:spcPts val="125"/>
              </a:spcBef>
            </a:pPr>
            <a:r>
              <a:rPr sz="2300" b="1" spc="-9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2300" b="1" spc="-155" dirty="0">
                <a:solidFill>
                  <a:srgbClr val="FFFFFF"/>
                </a:solidFill>
                <a:latin typeface="Tahoma"/>
                <a:cs typeface="Tahoma"/>
              </a:rPr>
              <a:t>.</a:t>
            </a:r>
            <a:r>
              <a:rPr sz="230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00" b="1" spc="65" dirty="0">
                <a:solidFill>
                  <a:srgbClr val="FFFFFF"/>
                </a:solidFill>
                <a:latin typeface="Tahoma"/>
                <a:cs typeface="Tahoma"/>
              </a:rPr>
              <a:t>Data</a:t>
            </a:r>
            <a:r>
              <a:rPr sz="230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00" b="1" spc="90" dirty="0">
                <a:solidFill>
                  <a:srgbClr val="FFFFFF"/>
                </a:solidFill>
                <a:latin typeface="Tahoma"/>
                <a:cs typeface="Tahoma"/>
              </a:rPr>
              <a:t>En</a:t>
            </a:r>
            <a:r>
              <a:rPr sz="2300" b="1" spc="45" dirty="0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sz="2300" b="1" spc="40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2300" b="1" spc="55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r>
              <a:rPr sz="2300" b="1" spc="185" dirty="0">
                <a:solidFill>
                  <a:srgbClr val="FFFFFF"/>
                </a:solidFill>
                <a:latin typeface="Tahoma"/>
                <a:cs typeface="Tahoma"/>
              </a:rPr>
              <a:t>hm</a:t>
            </a:r>
            <a:r>
              <a:rPr sz="2300" b="1" spc="-10" dirty="0">
                <a:solidFill>
                  <a:srgbClr val="FFFFFF"/>
                </a:solidFill>
                <a:latin typeface="Tahoma"/>
                <a:cs typeface="Tahoma"/>
              </a:rPr>
              <a:t>ent:</a:t>
            </a:r>
            <a:endParaRPr sz="2300" dirty="0">
              <a:latin typeface="Tahoma"/>
              <a:cs typeface="Tahoma"/>
            </a:endParaRPr>
          </a:p>
          <a:p>
            <a:pPr marL="353695" marR="5080" algn="just">
              <a:lnSpc>
                <a:spcPct val="100499"/>
              </a:lnSpc>
              <a:spcBef>
                <a:spcPts val="75"/>
              </a:spcBef>
            </a:pPr>
            <a:r>
              <a:rPr sz="2300" spc="35" dirty="0">
                <a:solidFill>
                  <a:srgbClr val="FFFFFF"/>
                </a:solidFill>
                <a:latin typeface="Verdana"/>
                <a:cs typeface="Verdana"/>
              </a:rPr>
              <a:t>Geographical</a:t>
            </a:r>
            <a:r>
              <a:rPr sz="2300" spc="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00" spc="-60" dirty="0">
                <a:solidFill>
                  <a:srgbClr val="FFFFFF"/>
                </a:solidFill>
                <a:latin typeface="Verdana"/>
                <a:cs typeface="Verdana"/>
              </a:rPr>
              <a:t>Insights:</a:t>
            </a:r>
            <a:r>
              <a:rPr sz="23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00" spc="65" dirty="0">
                <a:solidFill>
                  <a:srgbClr val="FFFFFF"/>
                </a:solidFill>
                <a:latin typeface="Verdana"/>
                <a:cs typeface="Verdana"/>
              </a:rPr>
              <a:t>Used</a:t>
            </a:r>
            <a:r>
              <a:rPr sz="2300" spc="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00" spc="40" dirty="0">
                <a:solidFill>
                  <a:srgbClr val="FFFFFF"/>
                </a:solidFill>
                <a:latin typeface="Verdana"/>
                <a:cs typeface="Verdana"/>
              </a:rPr>
              <a:t>latitude</a:t>
            </a:r>
            <a:r>
              <a:rPr sz="2300" spc="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00" spc="80" dirty="0">
                <a:solidFill>
                  <a:srgbClr val="FFFFFF"/>
                </a:solidFill>
                <a:latin typeface="Verdana"/>
                <a:cs typeface="Verdana"/>
              </a:rPr>
              <a:t>and </a:t>
            </a:r>
            <a:r>
              <a:rPr sz="2300" spc="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00" spc="70" dirty="0">
                <a:solidFill>
                  <a:srgbClr val="FFFFFF"/>
                </a:solidFill>
                <a:latin typeface="Verdana"/>
                <a:cs typeface="Verdana"/>
              </a:rPr>
              <a:t>longitude</a:t>
            </a:r>
            <a:r>
              <a:rPr sz="2300" spc="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00" spc="40" dirty="0">
                <a:solidFill>
                  <a:srgbClr val="FFFFFF"/>
                </a:solidFill>
                <a:latin typeface="Verdana"/>
                <a:cs typeface="Verdana"/>
              </a:rPr>
              <a:t>data</a:t>
            </a:r>
            <a:r>
              <a:rPr sz="2300" spc="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00" spc="25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2300" spc="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00" spc="120" dirty="0">
                <a:solidFill>
                  <a:srgbClr val="FFFFFF"/>
                </a:solidFill>
                <a:latin typeface="Verdana"/>
                <a:cs typeface="Verdana"/>
              </a:rPr>
              <a:t>map</a:t>
            </a:r>
            <a:r>
              <a:rPr sz="2300" spc="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FFFFFF"/>
                </a:solidFill>
                <a:latin typeface="Verdana"/>
                <a:cs typeface="Verdana"/>
              </a:rPr>
              <a:t>restaurant</a:t>
            </a:r>
            <a:r>
              <a:rPr sz="2300" spc="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00" spc="-5" dirty="0">
                <a:solidFill>
                  <a:srgbClr val="FFFFFF"/>
                </a:solidFill>
                <a:latin typeface="Verdana"/>
                <a:cs typeface="Verdana"/>
              </a:rPr>
              <a:t>locations, </a:t>
            </a:r>
            <a:r>
              <a:rPr sz="23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00" spc="65" dirty="0">
                <a:solidFill>
                  <a:srgbClr val="FFFFFF"/>
                </a:solidFill>
                <a:latin typeface="Verdana"/>
                <a:cs typeface="Verdana"/>
              </a:rPr>
              <a:t>enabling</a:t>
            </a:r>
            <a:r>
              <a:rPr sz="23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00" spc="45" dirty="0">
                <a:solidFill>
                  <a:srgbClr val="FFFFFF"/>
                </a:solidFill>
                <a:latin typeface="Verdana"/>
                <a:cs typeface="Verdana"/>
              </a:rPr>
              <a:t>geographical</a:t>
            </a:r>
            <a:r>
              <a:rPr sz="23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00" spc="45" dirty="0">
                <a:solidFill>
                  <a:srgbClr val="FFFFFF"/>
                </a:solidFill>
                <a:latin typeface="Verdana"/>
                <a:cs typeface="Verdana"/>
              </a:rPr>
              <a:t>trend</a:t>
            </a:r>
            <a:r>
              <a:rPr sz="23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00" spc="-60" dirty="0">
                <a:solidFill>
                  <a:srgbClr val="FFFFFF"/>
                </a:solidFill>
                <a:latin typeface="Verdana"/>
                <a:cs typeface="Verdana"/>
              </a:rPr>
              <a:t>analysis.</a:t>
            </a:r>
            <a:endParaRPr sz="2300" dirty="0">
              <a:latin typeface="Verdana"/>
              <a:cs typeface="Verdana"/>
            </a:endParaRPr>
          </a:p>
          <a:p>
            <a:pPr marL="353695" marR="5080" algn="just">
              <a:lnSpc>
                <a:spcPct val="100499"/>
              </a:lnSpc>
            </a:pPr>
            <a:r>
              <a:rPr sz="2300" spc="25" dirty="0">
                <a:solidFill>
                  <a:srgbClr val="FFFFFF"/>
                </a:solidFill>
                <a:latin typeface="Verdana"/>
                <a:cs typeface="Verdana"/>
              </a:rPr>
              <a:t>Categorical</a:t>
            </a:r>
            <a:r>
              <a:rPr sz="2300" spc="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00" spc="-5" dirty="0">
                <a:solidFill>
                  <a:srgbClr val="FFFFFF"/>
                </a:solidFill>
                <a:latin typeface="Verdana"/>
                <a:cs typeface="Verdana"/>
              </a:rPr>
              <a:t>Grouping:</a:t>
            </a:r>
            <a:r>
              <a:rPr sz="23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00" spc="55" dirty="0">
                <a:solidFill>
                  <a:srgbClr val="FFFFFF"/>
                </a:solidFill>
                <a:latin typeface="Verdana"/>
                <a:cs typeface="Verdana"/>
              </a:rPr>
              <a:t>Grouped</a:t>
            </a:r>
            <a:r>
              <a:rPr sz="2300" spc="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Verdana"/>
                <a:cs typeface="Verdana"/>
              </a:rPr>
              <a:t>restaurants</a:t>
            </a:r>
            <a:r>
              <a:rPr sz="2300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FFFFFF"/>
                </a:solidFill>
                <a:latin typeface="Verdana"/>
                <a:cs typeface="Verdana"/>
              </a:rPr>
              <a:t>by </a:t>
            </a:r>
            <a:r>
              <a:rPr sz="2300" spc="-7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00" spc="-90" dirty="0">
                <a:solidFill>
                  <a:srgbClr val="FFFFFF"/>
                </a:solidFill>
                <a:latin typeface="Verdana"/>
                <a:cs typeface="Verdana"/>
              </a:rPr>
              <a:t>city,</a:t>
            </a:r>
            <a:r>
              <a:rPr sz="2300" spc="2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00" spc="-45" dirty="0">
                <a:solidFill>
                  <a:srgbClr val="FFFFFF"/>
                </a:solidFill>
                <a:latin typeface="Verdana"/>
                <a:cs typeface="Verdana"/>
              </a:rPr>
              <a:t>locality,</a:t>
            </a:r>
            <a:r>
              <a:rPr sz="2300" spc="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00" spc="80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2300" spc="8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00" spc="40" dirty="0">
                <a:solidFill>
                  <a:srgbClr val="FFFFFF"/>
                </a:solidFill>
                <a:latin typeface="Verdana"/>
                <a:cs typeface="Verdana"/>
              </a:rPr>
              <a:t>cuisine</a:t>
            </a:r>
            <a:r>
              <a:rPr sz="2300" spc="8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FFFFFF"/>
                </a:solidFill>
                <a:latin typeface="Verdana"/>
                <a:cs typeface="Verdana"/>
              </a:rPr>
              <a:t>type</a:t>
            </a:r>
            <a:r>
              <a:rPr sz="2300" spc="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00" spc="25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2300" spc="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00" spc="5" dirty="0">
                <a:solidFill>
                  <a:srgbClr val="FFFFFF"/>
                </a:solidFill>
                <a:latin typeface="Verdana"/>
                <a:cs typeface="Verdana"/>
              </a:rPr>
              <a:t>facilitate</a:t>
            </a:r>
            <a:endParaRPr sz="2300" dirty="0">
              <a:latin typeface="Verdana"/>
              <a:cs typeface="Verdana"/>
            </a:endParaRPr>
          </a:p>
          <a:p>
            <a:pPr marL="353695" algn="just">
              <a:lnSpc>
                <a:spcPct val="100000"/>
              </a:lnSpc>
              <a:spcBef>
                <a:spcPts val="90"/>
              </a:spcBef>
            </a:pPr>
            <a:r>
              <a:rPr sz="2300" spc="8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300" spc="155" dirty="0">
                <a:solidFill>
                  <a:srgbClr val="FFFFFF"/>
                </a:solidFill>
                <a:latin typeface="Verdana"/>
                <a:cs typeface="Verdana"/>
              </a:rPr>
              <a:t>om</a:t>
            </a:r>
            <a:r>
              <a:rPr sz="2300" spc="11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300" spc="-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300" spc="-1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300" spc="-20" dirty="0">
                <a:solidFill>
                  <a:srgbClr val="FFFFFF"/>
                </a:solidFill>
                <a:latin typeface="Verdana"/>
                <a:cs typeface="Verdana"/>
              </a:rPr>
              <a:t>ati</a:t>
            </a:r>
            <a:r>
              <a:rPr sz="2300" spc="-60" dirty="0">
                <a:solidFill>
                  <a:srgbClr val="FFFFFF"/>
                </a:solidFill>
                <a:latin typeface="Verdana"/>
                <a:cs typeface="Verdana"/>
              </a:rPr>
              <a:t>v</a:t>
            </a:r>
            <a:r>
              <a:rPr sz="2300" spc="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3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00" spc="-5" dirty="0">
                <a:solidFill>
                  <a:srgbClr val="FFFFFF"/>
                </a:solidFill>
                <a:latin typeface="Verdana"/>
                <a:cs typeface="Verdana"/>
              </a:rPr>
              <a:t>anal</a:t>
            </a:r>
            <a:r>
              <a:rPr sz="2300" spc="-20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2300" spc="-120" dirty="0">
                <a:solidFill>
                  <a:srgbClr val="FFFFFF"/>
                </a:solidFill>
                <a:latin typeface="Verdana"/>
                <a:cs typeface="Verdana"/>
              </a:rPr>
              <a:t>sis.</a:t>
            </a:r>
            <a:endParaRPr sz="2300" dirty="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8835453" y="2122855"/>
            <a:ext cx="8724900" cy="3362325"/>
            <a:chOff x="8835453" y="2122855"/>
            <a:chExt cx="8724900" cy="3362325"/>
          </a:xfrm>
        </p:grpSpPr>
        <p:sp>
          <p:nvSpPr>
            <p:cNvPr id="11" name="object 11"/>
            <p:cNvSpPr/>
            <p:nvPr/>
          </p:nvSpPr>
          <p:spPr>
            <a:xfrm>
              <a:off x="8835453" y="2122855"/>
              <a:ext cx="8724900" cy="3362325"/>
            </a:xfrm>
            <a:custGeom>
              <a:avLst/>
              <a:gdLst/>
              <a:ahLst/>
              <a:cxnLst/>
              <a:rect l="l" t="t" r="r" b="b"/>
              <a:pathLst>
                <a:path w="8724900" h="3362325">
                  <a:moveTo>
                    <a:pt x="8724900" y="0"/>
                  </a:moveTo>
                  <a:lnTo>
                    <a:pt x="0" y="0"/>
                  </a:lnTo>
                  <a:lnTo>
                    <a:pt x="0" y="3362325"/>
                  </a:lnTo>
                  <a:lnTo>
                    <a:pt x="8724900" y="3362325"/>
                  </a:lnTo>
                  <a:lnTo>
                    <a:pt x="8724900" y="0"/>
                  </a:lnTo>
                  <a:close/>
                </a:path>
              </a:pathLst>
            </a:custGeom>
            <a:solidFill>
              <a:srgbClr val="2323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147048" y="3040227"/>
              <a:ext cx="95250" cy="1304925"/>
            </a:xfrm>
            <a:custGeom>
              <a:avLst/>
              <a:gdLst/>
              <a:ahLst/>
              <a:cxnLst/>
              <a:rect l="l" t="t" r="r" b="b"/>
              <a:pathLst>
                <a:path w="95250" h="1304925">
                  <a:moveTo>
                    <a:pt x="95250" y="1251000"/>
                  </a:moveTo>
                  <a:lnTo>
                    <a:pt x="71691" y="1215720"/>
                  </a:lnTo>
                  <a:lnTo>
                    <a:pt x="53949" y="1209675"/>
                  </a:lnTo>
                  <a:lnTo>
                    <a:pt x="41313" y="1209675"/>
                  </a:lnTo>
                  <a:lnTo>
                    <a:pt x="6045" y="1233246"/>
                  </a:lnTo>
                  <a:lnTo>
                    <a:pt x="0" y="1251000"/>
                  </a:lnTo>
                  <a:lnTo>
                    <a:pt x="0" y="1263611"/>
                  </a:lnTo>
                  <a:lnTo>
                    <a:pt x="23571" y="1298892"/>
                  </a:lnTo>
                  <a:lnTo>
                    <a:pt x="41313" y="1304925"/>
                  </a:lnTo>
                  <a:lnTo>
                    <a:pt x="53949" y="1304925"/>
                  </a:lnTo>
                  <a:lnTo>
                    <a:pt x="89204" y="1281366"/>
                  </a:lnTo>
                  <a:lnTo>
                    <a:pt x="95250" y="1263611"/>
                  </a:lnTo>
                  <a:lnTo>
                    <a:pt x="95250" y="1257300"/>
                  </a:lnTo>
                  <a:lnTo>
                    <a:pt x="95250" y="1251000"/>
                  </a:lnTo>
                  <a:close/>
                </a:path>
                <a:path w="95250" h="1304925">
                  <a:moveTo>
                    <a:pt x="95250" y="41313"/>
                  </a:moveTo>
                  <a:lnTo>
                    <a:pt x="71691" y="6045"/>
                  </a:lnTo>
                  <a:lnTo>
                    <a:pt x="53949" y="0"/>
                  </a:lnTo>
                  <a:lnTo>
                    <a:pt x="41313" y="0"/>
                  </a:lnTo>
                  <a:lnTo>
                    <a:pt x="6045" y="23571"/>
                  </a:lnTo>
                  <a:lnTo>
                    <a:pt x="0" y="41313"/>
                  </a:lnTo>
                  <a:lnTo>
                    <a:pt x="0" y="53936"/>
                  </a:lnTo>
                  <a:lnTo>
                    <a:pt x="23571" y="89204"/>
                  </a:lnTo>
                  <a:lnTo>
                    <a:pt x="41313" y="95250"/>
                  </a:lnTo>
                  <a:lnTo>
                    <a:pt x="53949" y="95250"/>
                  </a:lnTo>
                  <a:lnTo>
                    <a:pt x="89204" y="71691"/>
                  </a:lnTo>
                  <a:lnTo>
                    <a:pt x="95250" y="53936"/>
                  </a:lnTo>
                  <a:lnTo>
                    <a:pt x="95250" y="47625"/>
                  </a:lnTo>
                  <a:lnTo>
                    <a:pt x="95250" y="413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7900670" algn="just">
              <a:lnSpc>
                <a:spcPct val="100000"/>
              </a:lnSpc>
              <a:spcBef>
                <a:spcPts val="545"/>
              </a:spcBef>
            </a:pPr>
            <a:r>
              <a:rPr b="0" spc="195" dirty="0">
                <a:latin typeface="Cambria"/>
                <a:cs typeface="Cambria"/>
              </a:rPr>
              <a:t>L.</a:t>
            </a:r>
            <a:r>
              <a:rPr b="0" spc="75" dirty="0">
                <a:latin typeface="Cambria"/>
                <a:cs typeface="Cambria"/>
              </a:rPr>
              <a:t> </a:t>
            </a:r>
            <a:r>
              <a:rPr spc="60" dirty="0"/>
              <a:t>Data</a:t>
            </a:r>
            <a:r>
              <a:rPr spc="-60" dirty="0"/>
              <a:t> </a:t>
            </a:r>
            <a:r>
              <a:rPr spc="30" dirty="0"/>
              <a:t>Cleaning:</a:t>
            </a:r>
          </a:p>
          <a:p>
            <a:pPr marL="8239125" marR="5080" algn="just">
              <a:lnSpc>
                <a:spcPct val="116700"/>
              </a:lnSpc>
              <a:tabLst>
                <a:tab pos="9610090" algn="l"/>
                <a:tab pos="10880090" algn="l"/>
                <a:tab pos="12538075" algn="l"/>
                <a:tab pos="13366115" algn="l"/>
                <a:tab pos="14835505" algn="l"/>
              </a:tabLst>
            </a:pPr>
            <a:r>
              <a:rPr b="0" spc="265" dirty="0">
                <a:latin typeface="Verdana"/>
                <a:cs typeface="Verdana"/>
              </a:rPr>
              <a:t>M</a:t>
            </a:r>
            <a:r>
              <a:rPr b="0" spc="-15" dirty="0">
                <a:latin typeface="Verdana"/>
                <a:cs typeface="Verdana"/>
              </a:rPr>
              <a:t>i</a:t>
            </a:r>
            <a:r>
              <a:rPr b="0" spc="-70" dirty="0">
                <a:latin typeface="Verdana"/>
                <a:cs typeface="Verdana"/>
              </a:rPr>
              <a:t>ss</a:t>
            </a:r>
            <a:r>
              <a:rPr b="0" spc="-15" dirty="0">
                <a:latin typeface="Verdana"/>
                <a:cs typeface="Verdana"/>
              </a:rPr>
              <a:t>i</a:t>
            </a:r>
            <a:r>
              <a:rPr b="0" spc="105" dirty="0">
                <a:latin typeface="Verdana"/>
                <a:cs typeface="Verdana"/>
              </a:rPr>
              <a:t>n</a:t>
            </a:r>
            <a:r>
              <a:rPr b="0" spc="150" dirty="0">
                <a:latin typeface="Verdana"/>
                <a:cs typeface="Verdana"/>
              </a:rPr>
              <a:t>g</a:t>
            </a:r>
            <a:r>
              <a:rPr b="0" dirty="0">
                <a:latin typeface="Verdana"/>
                <a:cs typeface="Verdana"/>
              </a:rPr>
              <a:t>	</a:t>
            </a:r>
            <a:r>
              <a:rPr b="0" spc="-85" dirty="0">
                <a:latin typeface="Verdana"/>
                <a:cs typeface="Verdana"/>
              </a:rPr>
              <a:t>V</a:t>
            </a:r>
            <a:r>
              <a:rPr b="0" spc="-20" dirty="0">
                <a:latin typeface="Verdana"/>
                <a:cs typeface="Verdana"/>
              </a:rPr>
              <a:t>a</a:t>
            </a:r>
            <a:r>
              <a:rPr b="0" spc="-15" dirty="0">
                <a:latin typeface="Verdana"/>
                <a:cs typeface="Verdana"/>
              </a:rPr>
              <a:t>l</a:t>
            </a:r>
            <a:r>
              <a:rPr b="0" spc="95" dirty="0">
                <a:latin typeface="Verdana"/>
                <a:cs typeface="Verdana"/>
              </a:rPr>
              <a:t>u</a:t>
            </a:r>
            <a:r>
              <a:rPr b="0" spc="25" dirty="0">
                <a:latin typeface="Verdana"/>
                <a:cs typeface="Verdana"/>
              </a:rPr>
              <a:t>e</a:t>
            </a:r>
            <a:r>
              <a:rPr b="0" spc="-70" dirty="0">
                <a:latin typeface="Verdana"/>
                <a:cs typeface="Verdana"/>
              </a:rPr>
              <a:t>s</a:t>
            </a:r>
            <a:r>
              <a:rPr b="0" spc="-545" dirty="0">
                <a:latin typeface="Verdana"/>
                <a:cs typeface="Verdana"/>
              </a:rPr>
              <a:t>:</a:t>
            </a:r>
            <a:r>
              <a:rPr b="0" dirty="0">
                <a:latin typeface="Verdana"/>
                <a:cs typeface="Verdana"/>
              </a:rPr>
              <a:t>	</a:t>
            </a:r>
            <a:r>
              <a:rPr b="0" spc="-270" dirty="0">
                <a:latin typeface="Verdana"/>
                <a:cs typeface="Verdana"/>
              </a:rPr>
              <a:t>I</a:t>
            </a:r>
            <a:r>
              <a:rPr b="0" spc="130" dirty="0">
                <a:latin typeface="Verdana"/>
                <a:cs typeface="Verdana"/>
              </a:rPr>
              <a:t>d</a:t>
            </a:r>
            <a:r>
              <a:rPr b="0" spc="25" dirty="0">
                <a:latin typeface="Verdana"/>
                <a:cs typeface="Verdana"/>
              </a:rPr>
              <a:t>e</a:t>
            </a:r>
            <a:r>
              <a:rPr b="0" spc="105" dirty="0">
                <a:latin typeface="Verdana"/>
                <a:cs typeface="Verdana"/>
              </a:rPr>
              <a:t>n</a:t>
            </a:r>
            <a:r>
              <a:rPr b="0" spc="30" dirty="0">
                <a:latin typeface="Verdana"/>
                <a:cs typeface="Verdana"/>
              </a:rPr>
              <a:t>t</a:t>
            </a:r>
            <a:r>
              <a:rPr b="0" spc="-15" dirty="0">
                <a:latin typeface="Verdana"/>
                <a:cs typeface="Verdana"/>
              </a:rPr>
              <a:t>i</a:t>
            </a:r>
            <a:r>
              <a:rPr b="0" spc="-30" dirty="0">
                <a:latin typeface="Verdana"/>
                <a:cs typeface="Verdana"/>
              </a:rPr>
              <a:t>ﬁ</a:t>
            </a:r>
            <a:r>
              <a:rPr b="0" spc="25" dirty="0">
                <a:latin typeface="Verdana"/>
                <a:cs typeface="Verdana"/>
              </a:rPr>
              <a:t>e</a:t>
            </a:r>
            <a:r>
              <a:rPr b="0" spc="135" dirty="0">
                <a:latin typeface="Verdana"/>
                <a:cs typeface="Verdana"/>
              </a:rPr>
              <a:t>d</a:t>
            </a:r>
            <a:r>
              <a:rPr b="0" dirty="0">
                <a:latin typeface="Verdana"/>
                <a:cs typeface="Verdana"/>
              </a:rPr>
              <a:t>	</a:t>
            </a:r>
            <a:r>
              <a:rPr b="0" spc="-20" dirty="0">
                <a:latin typeface="Verdana"/>
                <a:cs typeface="Verdana"/>
              </a:rPr>
              <a:t>a</a:t>
            </a:r>
            <a:r>
              <a:rPr b="0" spc="105" dirty="0">
                <a:latin typeface="Verdana"/>
                <a:cs typeface="Verdana"/>
              </a:rPr>
              <a:t>n</a:t>
            </a:r>
            <a:r>
              <a:rPr b="0" spc="135" dirty="0">
                <a:latin typeface="Verdana"/>
                <a:cs typeface="Verdana"/>
              </a:rPr>
              <a:t>d</a:t>
            </a:r>
            <a:r>
              <a:rPr b="0" dirty="0">
                <a:latin typeface="Verdana"/>
                <a:cs typeface="Verdana"/>
              </a:rPr>
              <a:t>	</a:t>
            </a:r>
            <a:r>
              <a:rPr b="0" spc="105" dirty="0">
                <a:latin typeface="Verdana"/>
                <a:cs typeface="Verdana"/>
              </a:rPr>
              <a:t>h</a:t>
            </a:r>
            <a:r>
              <a:rPr b="0" spc="-20" dirty="0">
                <a:latin typeface="Verdana"/>
                <a:cs typeface="Verdana"/>
              </a:rPr>
              <a:t>a</a:t>
            </a:r>
            <a:r>
              <a:rPr b="0" spc="105" dirty="0">
                <a:latin typeface="Verdana"/>
                <a:cs typeface="Verdana"/>
              </a:rPr>
              <a:t>n</a:t>
            </a:r>
            <a:r>
              <a:rPr b="0" spc="130" dirty="0">
                <a:latin typeface="Verdana"/>
                <a:cs typeface="Verdana"/>
              </a:rPr>
              <a:t>d</a:t>
            </a:r>
            <a:r>
              <a:rPr b="0" spc="-15" dirty="0">
                <a:latin typeface="Verdana"/>
                <a:cs typeface="Verdana"/>
              </a:rPr>
              <a:t>l</a:t>
            </a:r>
            <a:r>
              <a:rPr b="0" spc="25" dirty="0">
                <a:latin typeface="Verdana"/>
                <a:cs typeface="Verdana"/>
              </a:rPr>
              <a:t>e</a:t>
            </a:r>
            <a:r>
              <a:rPr b="0" spc="135" dirty="0">
                <a:latin typeface="Verdana"/>
                <a:cs typeface="Verdana"/>
              </a:rPr>
              <a:t>d</a:t>
            </a:r>
            <a:r>
              <a:rPr b="0" dirty="0">
                <a:latin typeface="Verdana"/>
                <a:cs typeface="Verdana"/>
              </a:rPr>
              <a:t>	</a:t>
            </a:r>
            <a:r>
              <a:rPr b="0" spc="215" dirty="0">
                <a:latin typeface="Verdana"/>
                <a:cs typeface="Verdana"/>
              </a:rPr>
              <a:t>m</a:t>
            </a:r>
            <a:r>
              <a:rPr b="0" spc="-15" dirty="0">
                <a:latin typeface="Verdana"/>
                <a:cs typeface="Verdana"/>
              </a:rPr>
              <a:t>i</a:t>
            </a:r>
            <a:r>
              <a:rPr b="0" spc="-70" dirty="0">
                <a:latin typeface="Verdana"/>
                <a:cs typeface="Verdana"/>
              </a:rPr>
              <a:t>ss</a:t>
            </a:r>
            <a:r>
              <a:rPr b="0" spc="-15" dirty="0">
                <a:latin typeface="Verdana"/>
                <a:cs typeface="Verdana"/>
              </a:rPr>
              <a:t>i</a:t>
            </a:r>
            <a:r>
              <a:rPr b="0" spc="105" dirty="0">
                <a:latin typeface="Verdana"/>
                <a:cs typeface="Verdana"/>
              </a:rPr>
              <a:t>ng  </a:t>
            </a:r>
            <a:r>
              <a:rPr b="0" spc="-40" dirty="0">
                <a:latin typeface="Verdana"/>
                <a:cs typeface="Verdana"/>
              </a:rPr>
              <a:t>entries,</a:t>
            </a:r>
            <a:r>
              <a:rPr b="0" spc="-110" dirty="0">
                <a:latin typeface="Verdana"/>
                <a:cs typeface="Verdana"/>
              </a:rPr>
              <a:t> </a:t>
            </a:r>
            <a:r>
              <a:rPr b="0" spc="5" dirty="0">
                <a:latin typeface="Verdana"/>
                <a:cs typeface="Verdana"/>
              </a:rPr>
              <a:t>particularly</a:t>
            </a:r>
            <a:r>
              <a:rPr b="0" spc="-110" dirty="0">
                <a:latin typeface="Verdana"/>
                <a:cs typeface="Verdana"/>
              </a:rPr>
              <a:t> </a:t>
            </a:r>
            <a:r>
              <a:rPr b="0" spc="45" dirty="0">
                <a:latin typeface="Verdana"/>
                <a:cs typeface="Verdana"/>
              </a:rPr>
              <a:t>in</a:t>
            </a:r>
            <a:r>
              <a:rPr b="0" spc="-110" dirty="0">
                <a:latin typeface="Verdana"/>
                <a:cs typeface="Verdana"/>
              </a:rPr>
              <a:t> </a:t>
            </a:r>
            <a:r>
              <a:rPr b="0" spc="55" dirty="0">
                <a:latin typeface="Verdana"/>
                <a:cs typeface="Verdana"/>
              </a:rPr>
              <a:t>the</a:t>
            </a:r>
            <a:r>
              <a:rPr b="0" spc="-110" dirty="0">
                <a:latin typeface="Verdana"/>
                <a:cs typeface="Verdana"/>
              </a:rPr>
              <a:t> </a:t>
            </a:r>
            <a:r>
              <a:rPr b="0" spc="-25" dirty="0">
                <a:latin typeface="Verdana"/>
                <a:cs typeface="Verdana"/>
              </a:rPr>
              <a:t>'Cuisines'</a:t>
            </a:r>
            <a:r>
              <a:rPr b="0" spc="-110" dirty="0">
                <a:latin typeface="Verdana"/>
                <a:cs typeface="Verdana"/>
              </a:rPr>
              <a:t> </a:t>
            </a:r>
            <a:r>
              <a:rPr b="0" spc="25" dirty="0">
                <a:latin typeface="Verdana"/>
                <a:cs typeface="Verdana"/>
              </a:rPr>
              <a:t>column,</a:t>
            </a:r>
            <a:r>
              <a:rPr b="0" spc="-110" dirty="0">
                <a:latin typeface="Verdana"/>
                <a:cs typeface="Verdana"/>
              </a:rPr>
              <a:t> </a:t>
            </a:r>
            <a:r>
              <a:rPr b="0" spc="40" dirty="0">
                <a:latin typeface="Verdana"/>
                <a:cs typeface="Verdana"/>
              </a:rPr>
              <a:t>ensuring</a:t>
            </a:r>
          </a:p>
          <a:p>
            <a:pPr marL="8239125" marR="5080" algn="just">
              <a:lnSpc>
                <a:spcPct val="117600"/>
              </a:lnSpc>
              <a:spcBef>
                <a:spcPts val="50"/>
              </a:spcBef>
            </a:pPr>
            <a:r>
              <a:rPr b="0" spc="30" dirty="0">
                <a:latin typeface="Verdana"/>
                <a:cs typeface="Verdana"/>
              </a:rPr>
              <a:t>t</a:t>
            </a:r>
            <a:r>
              <a:rPr b="0" spc="105" dirty="0">
                <a:latin typeface="Verdana"/>
                <a:cs typeface="Verdana"/>
              </a:rPr>
              <a:t>h</a:t>
            </a:r>
            <a:r>
              <a:rPr b="0" spc="30" dirty="0">
                <a:latin typeface="Verdana"/>
                <a:cs typeface="Verdana"/>
              </a:rPr>
              <a:t>e</a:t>
            </a:r>
            <a:r>
              <a:rPr b="0" spc="-200" dirty="0">
                <a:latin typeface="Verdana"/>
                <a:cs typeface="Verdana"/>
              </a:rPr>
              <a:t> </a:t>
            </a:r>
            <a:r>
              <a:rPr b="0" spc="130" dirty="0">
                <a:latin typeface="Verdana"/>
                <a:cs typeface="Verdana"/>
              </a:rPr>
              <a:t>d</a:t>
            </a:r>
            <a:r>
              <a:rPr b="0" spc="-20" dirty="0">
                <a:latin typeface="Verdana"/>
                <a:cs typeface="Verdana"/>
              </a:rPr>
              <a:t>a</a:t>
            </a:r>
            <a:r>
              <a:rPr b="0" spc="30" dirty="0">
                <a:latin typeface="Verdana"/>
                <a:cs typeface="Verdana"/>
              </a:rPr>
              <a:t>t</a:t>
            </a:r>
            <a:r>
              <a:rPr b="0" spc="-20" dirty="0">
                <a:latin typeface="Verdana"/>
                <a:cs typeface="Verdana"/>
              </a:rPr>
              <a:t>a</a:t>
            </a:r>
            <a:r>
              <a:rPr b="0" spc="-70" dirty="0">
                <a:latin typeface="Verdana"/>
                <a:cs typeface="Verdana"/>
              </a:rPr>
              <a:t>s</a:t>
            </a:r>
            <a:r>
              <a:rPr b="0" spc="25" dirty="0">
                <a:latin typeface="Verdana"/>
                <a:cs typeface="Verdana"/>
              </a:rPr>
              <a:t>e</a:t>
            </a:r>
            <a:r>
              <a:rPr b="0" spc="35" dirty="0">
                <a:latin typeface="Verdana"/>
                <a:cs typeface="Verdana"/>
              </a:rPr>
              <a:t>t</a:t>
            </a:r>
            <a:r>
              <a:rPr b="0" spc="-200" dirty="0">
                <a:latin typeface="Verdana"/>
                <a:cs typeface="Verdana"/>
              </a:rPr>
              <a:t> </a:t>
            </a:r>
            <a:r>
              <a:rPr b="0" spc="110" dirty="0">
                <a:latin typeface="Verdana"/>
                <a:cs typeface="Verdana"/>
              </a:rPr>
              <a:t>w</a:t>
            </a:r>
            <a:r>
              <a:rPr b="0" spc="-20" dirty="0">
                <a:latin typeface="Verdana"/>
                <a:cs typeface="Verdana"/>
              </a:rPr>
              <a:t>a</a:t>
            </a:r>
            <a:r>
              <a:rPr b="0" spc="-65" dirty="0">
                <a:latin typeface="Verdana"/>
                <a:cs typeface="Verdana"/>
              </a:rPr>
              <a:t>s</a:t>
            </a:r>
            <a:r>
              <a:rPr b="0" spc="-200" dirty="0">
                <a:latin typeface="Verdana"/>
                <a:cs typeface="Verdana"/>
              </a:rPr>
              <a:t> </a:t>
            </a:r>
            <a:r>
              <a:rPr b="0" spc="80" dirty="0">
                <a:latin typeface="Verdana"/>
                <a:cs typeface="Verdana"/>
              </a:rPr>
              <a:t>c</a:t>
            </a:r>
            <a:r>
              <a:rPr b="0" spc="50" dirty="0">
                <a:latin typeface="Verdana"/>
                <a:cs typeface="Verdana"/>
              </a:rPr>
              <a:t>o</a:t>
            </a:r>
            <a:r>
              <a:rPr b="0" spc="215" dirty="0">
                <a:latin typeface="Verdana"/>
                <a:cs typeface="Verdana"/>
              </a:rPr>
              <a:t>m</a:t>
            </a:r>
            <a:r>
              <a:rPr b="0" spc="130" dirty="0">
                <a:latin typeface="Verdana"/>
                <a:cs typeface="Verdana"/>
              </a:rPr>
              <a:t>p</a:t>
            </a:r>
            <a:r>
              <a:rPr b="0" spc="-15" dirty="0">
                <a:latin typeface="Verdana"/>
                <a:cs typeface="Verdana"/>
              </a:rPr>
              <a:t>l</a:t>
            </a:r>
            <a:r>
              <a:rPr b="0" spc="25" dirty="0">
                <a:latin typeface="Verdana"/>
                <a:cs typeface="Verdana"/>
              </a:rPr>
              <a:t>e</a:t>
            </a:r>
            <a:r>
              <a:rPr b="0" spc="-10" dirty="0">
                <a:latin typeface="Verdana"/>
                <a:cs typeface="Verdana"/>
              </a:rPr>
              <a:t>t</a:t>
            </a:r>
            <a:r>
              <a:rPr b="0" spc="30" dirty="0">
                <a:latin typeface="Verdana"/>
                <a:cs typeface="Verdana"/>
              </a:rPr>
              <a:t>e</a:t>
            </a:r>
            <a:r>
              <a:rPr b="0" spc="-200" dirty="0">
                <a:latin typeface="Verdana"/>
                <a:cs typeface="Verdana"/>
              </a:rPr>
              <a:t> </a:t>
            </a:r>
            <a:r>
              <a:rPr b="0" spc="-50" dirty="0">
                <a:latin typeface="Verdana"/>
                <a:cs typeface="Verdana"/>
              </a:rPr>
              <a:t>f</a:t>
            </a:r>
            <a:r>
              <a:rPr b="0" spc="50" dirty="0">
                <a:latin typeface="Verdana"/>
                <a:cs typeface="Verdana"/>
              </a:rPr>
              <a:t>o</a:t>
            </a:r>
            <a:r>
              <a:rPr b="0" spc="-50" dirty="0">
                <a:latin typeface="Verdana"/>
                <a:cs typeface="Verdana"/>
              </a:rPr>
              <a:t>r</a:t>
            </a:r>
            <a:r>
              <a:rPr b="0" spc="-200" dirty="0">
                <a:latin typeface="Verdana"/>
                <a:cs typeface="Verdana"/>
              </a:rPr>
              <a:t> </a:t>
            </a:r>
            <a:r>
              <a:rPr b="0" spc="-20" dirty="0">
                <a:latin typeface="Verdana"/>
                <a:cs typeface="Verdana"/>
              </a:rPr>
              <a:t>a</a:t>
            </a:r>
            <a:r>
              <a:rPr b="0" spc="80" dirty="0">
                <a:latin typeface="Verdana"/>
                <a:cs typeface="Verdana"/>
              </a:rPr>
              <a:t>c</a:t>
            </a:r>
            <a:r>
              <a:rPr b="0" spc="100" dirty="0">
                <a:latin typeface="Verdana"/>
                <a:cs typeface="Verdana"/>
              </a:rPr>
              <a:t>c</a:t>
            </a:r>
            <a:r>
              <a:rPr b="0" spc="95" dirty="0">
                <a:latin typeface="Verdana"/>
                <a:cs typeface="Verdana"/>
              </a:rPr>
              <a:t>u</a:t>
            </a:r>
            <a:r>
              <a:rPr b="0" spc="-160" dirty="0">
                <a:latin typeface="Verdana"/>
                <a:cs typeface="Verdana"/>
              </a:rPr>
              <a:t>r</a:t>
            </a:r>
            <a:r>
              <a:rPr b="0" spc="-20" dirty="0">
                <a:latin typeface="Verdana"/>
                <a:cs typeface="Verdana"/>
              </a:rPr>
              <a:t>a</a:t>
            </a:r>
            <a:r>
              <a:rPr b="0" spc="-10" dirty="0">
                <a:latin typeface="Verdana"/>
                <a:cs typeface="Verdana"/>
              </a:rPr>
              <a:t>t</a:t>
            </a:r>
            <a:r>
              <a:rPr b="0" spc="30" dirty="0">
                <a:latin typeface="Verdana"/>
                <a:cs typeface="Verdana"/>
              </a:rPr>
              <a:t>e</a:t>
            </a:r>
            <a:r>
              <a:rPr b="0" spc="-200" dirty="0">
                <a:latin typeface="Verdana"/>
                <a:cs typeface="Verdana"/>
              </a:rPr>
              <a:t> </a:t>
            </a:r>
            <a:r>
              <a:rPr b="0" spc="-20" dirty="0">
                <a:latin typeface="Verdana"/>
                <a:cs typeface="Verdana"/>
              </a:rPr>
              <a:t>a</a:t>
            </a:r>
            <a:r>
              <a:rPr b="0" spc="105" dirty="0">
                <a:latin typeface="Verdana"/>
                <a:cs typeface="Verdana"/>
              </a:rPr>
              <a:t>n</a:t>
            </a:r>
            <a:r>
              <a:rPr b="0" spc="-20" dirty="0">
                <a:latin typeface="Verdana"/>
                <a:cs typeface="Verdana"/>
              </a:rPr>
              <a:t>a</a:t>
            </a:r>
            <a:r>
              <a:rPr b="0" spc="-15" dirty="0">
                <a:latin typeface="Verdana"/>
                <a:cs typeface="Verdana"/>
              </a:rPr>
              <a:t>l</a:t>
            </a:r>
            <a:r>
              <a:rPr b="0" spc="-120" dirty="0">
                <a:latin typeface="Verdana"/>
                <a:cs typeface="Verdana"/>
              </a:rPr>
              <a:t>y</a:t>
            </a:r>
            <a:r>
              <a:rPr b="0" spc="-70" dirty="0">
                <a:latin typeface="Verdana"/>
                <a:cs typeface="Verdana"/>
              </a:rPr>
              <a:t>s</a:t>
            </a:r>
            <a:r>
              <a:rPr b="0" spc="-15" dirty="0">
                <a:latin typeface="Verdana"/>
                <a:cs typeface="Verdana"/>
              </a:rPr>
              <a:t>i</a:t>
            </a:r>
            <a:r>
              <a:rPr b="0" spc="-70" dirty="0">
                <a:latin typeface="Verdana"/>
                <a:cs typeface="Verdana"/>
              </a:rPr>
              <a:t>s</a:t>
            </a:r>
            <a:r>
              <a:rPr b="0" spc="-330" dirty="0">
                <a:latin typeface="Verdana"/>
                <a:cs typeface="Verdana"/>
              </a:rPr>
              <a:t>.  </a:t>
            </a:r>
            <a:r>
              <a:rPr b="0" spc="30" dirty="0">
                <a:latin typeface="Verdana"/>
                <a:cs typeface="Verdana"/>
              </a:rPr>
              <a:t>Outlier </a:t>
            </a:r>
            <a:r>
              <a:rPr b="0" spc="-10" dirty="0">
                <a:latin typeface="Verdana"/>
                <a:cs typeface="Verdana"/>
              </a:rPr>
              <a:t>Detection:</a:t>
            </a:r>
            <a:r>
              <a:rPr b="0" spc="30" dirty="0">
                <a:latin typeface="Verdana"/>
                <a:cs typeface="Verdana"/>
              </a:rPr>
              <a:t> Reviewed </a:t>
            </a:r>
            <a:r>
              <a:rPr b="0" dirty="0">
                <a:latin typeface="Verdana"/>
                <a:cs typeface="Verdana"/>
              </a:rPr>
              <a:t>ratings</a:t>
            </a:r>
            <a:r>
              <a:rPr b="0" spc="35" dirty="0">
                <a:latin typeface="Verdana"/>
                <a:cs typeface="Verdana"/>
              </a:rPr>
              <a:t> </a:t>
            </a:r>
            <a:r>
              <a:rPr b="0" spc="75" dirty="0">
                <a:latin typeface="Verdana"/>
                <a:cs typeface="Verdana"/>
              </a:rPr>
              <a:t>and</a:t>
            </a:r>
            <a:r>
              <a:rPr b="0" spc="30" dirty="0">
                <a:latin typeface="Verdana"/>
                <a:cs typeface="Verdana"/>
              </a:rPr>
              <a:t> </a:t>
            </a:r>
            <a:r>
              <a:rPr b="0" spc="25" dirty="0">
                <a:latin typeface="Verdana"/>
                <a:cs typeface="Verdana"/>
              </a:rPr>
              <a:t>cost</a:t>
            </a:r>
            <a:r>
              <a:rPr b="0" spc="30" dirty="0">
                <a:latin typeface="Verdana"/>
                <a:cs typeface="Verdana"/>
              </a:rPr>
              <a:t> data </a:t>
            </a:r>
            <a:r>
              <a:rPr b="0" spc="20" dirty="0">
                <a:latin typeface="Verdana"/>
                <a:cs typeface="Verdana"/>
              </a:rPr>
              <a:t>to </a:t>
            </a:r>
            <a:r>
              <a:rPr b="0" spc="-775" dirty="0">
                <a:latin typeface="Verdana"/>
                <a:cs typeface="Verdana"/>
              </a:rPr>
              <a:t> </a:t>
            </a:r>
            <a:r>
              <a:rPr b="0" spc="20" dirty="0">
                <a:latin typeface="Verdana"/>
                <a:cs typeface="Verdana"/>
              </a:rPr>
              <a:t>identify</a:t>
            </a:r>
            <a:r>
              <a:rPr b="0" spc="145" dirty="0">
                <a:latin typeface="Verdana"/>
                <a:cs typeface="Verdana"/>
              </a:rPr>
              <a:t> </a:t>
            </a:r>
            <a:r>
              <a:rPr b="0" spc="75" dirty="0">
                <a:latin typeface="Verdana"/>
                <a:cs typeface="Verdana"/>
              </a:rPr>
              <a:t>and</a:t>
            </a:r>
            <a:r>
              <a:rPr b="0" spc="150" dirty="0">
                <a:latin typeface="Verdana"/>
                <a:cs typeface="Verdana"/>
              </a:rPr>
              <a:t> </a:t>
            </a:r>
            <a:r>
              <a:rPr b="0" spc="75" dirty="0">
                <a:latin typeface="Verdana"/>
                <a:cs typeface="Verdana"/>
              </a:rPr>
              <a:t>manage</a:t>
            </a:r>
            <a:r>
              <a:rPr b="0" spc="150" dirty="0">
                <a:latin typeface="Verdana"/>
                <a:cs typeface="Verdana"/>
              </a:rPr>
              <a:t> </a:t>
            </a:r>
            <a:r>
              <a:rPr b="0" spc="-35" dirty="0">
                <a:latin typeface="Verdana"/>
                <a:cs typeface="Verdana"/>
              </a:rPr>
              <a:t>outliers,</a:t>
            </a:r>
            <a:r>
              <a:rPr b="0" spc="150" dirty="0">
                <a:latin typeface="Verdana"/>
                <a:cs typeface="Verdana"/>
              </a:rPr>
              <a:t> </a:t>
            </a:r>
            <a:r>
              <a:rPr b="0" spc="40" dirty="0">
                <a:latin typeface="Verdana"/>
                <a:cs typeface="Verdana"/>
              </a:rPr>
              <a:t>ensuring</a:t>
            </a:r>
            <a:r>
              <a:rPr b="0" spc="150" dirty="0">
                <a:latin typeface="Verdana"/>
                <a:cs typeface="Verdana"/>
              </a:rPr>
              <a:t> </a:t>
            </a:r>
            <a:r>
              <a:rPr b="0" spc="10" dirty="0">
                <a:latin typeface="Verdana"/>
                <a:cs typeface="Verdana"/>
              </a:rPr>
              <a:t>they</a:t>
            </a:r>
            <a:r>
              <a:rPr b="0" spc="150" dirty="0">
                <a:latin typeface="Verdana"/>
                <a:cs typeface="Verdana"/>
              </a:rPr>
              <a:t> </a:t>
            </a:r>
            <a:r>
              <a:rPr b="0" spc="85" dirty="0">
                <a:latin typeface="Verdana"/>
                <a:cs typeface="Verdana"/>
              </a:rPr>
              <a:t>did</a:t>
            </a:r>
            <a:r>
              <a:rPr b="0" spc="150" dirty="0">
                <a:latin typeface="Verdana"/>
                <a:cs typeface="Verdana"/>
              </a:rPr>
              <a:t> </a:t>
            </a:r>
            <a:r>
              <a:rPr b="0" spc="65" dirty="0">
                <a:latin typeface="Verdana"/>
                <a:cs typeface="Verdana"/>
              </a:rPr>
              <a:t>not </a:t>
            </a:r>
            <a:r>
              <a:rPr b="0" spc="-775" dirty="0">
                <a:latin typeface="Verdana"/>
                <a:cs typeface="Verdana"/>
              </a:rPr>
              <a:t> </a:t>
            </a:r>
            <a:r>
              <a:rPr b="0" spc="-70" dirty="0">
                <a:latin typeface="Verdana"/>
                <a:cs typeface="Verdana"/>
              </a:rPr>
              <a:t>s</a:t>
            </a:r>
            <a:r>
              <a:rPr b="0" spc="-20" dirty="0">
                <a:latin typeface="Verdana"/>
                <a:cs typeface="Verdana"/>
              </a:rPr>
              <a:t>k</a:t>
            </a:r>
            <a:r>
              <a:rPr b="0" spc="5" dirty="0">
                <a:latin typeface="Verdana"/>
                <a:cs typeface="Verdana"/>
              </a:rPr>
              <a:t>e</a:t>
            </a:r>
            <a:r>
              <a:rPr b="0" spc="150" dirty="0">
                <a:latin typeface="Verdana"/>
                <a:cs typeface="Verdana"/>
              </a:rPr>
              <a:t>w</a:t>
            </a:r>
            <a:r>
              <a:rPr b="0" spc="-200" dirty="0">
                <a:latin typeface="Verdana"/>
                <a:cs typeface="Verdana"/>
              </a:rPr>
              <a:t> </a:t>
            </a:r>
            <a:r>
              <a:rPr b="0" spc="-80" dirty="0">
                <a:latin typeface="Verdana"/>
                <a:cs typeface="Verdana"/>
              </a:rPr>
              <a:t>r</a:t>
            </a:r>
            <a:r>
              <a:rPr b="0" spc="25" dirty="0">
                <a:latin typeface="Verdana"/>
                <a:cs typeface="Verdana"/>
              </a:rPr>
              <a:t>e</a:t>
            </a:r>
            <a:r>
              <a:rPr b="0" spc="-70" dirty="0">
                <a:latin typeface="Verdana"/>
                <a:cs typeface="Verdana"/>
              </a:rPr>
              <a:t>s</a:t>
            </a:r>
            <a:r>
              <a:rPr b="0" spc="95" dirty="0">
                <a:latin typeface="Verdana"/>
                <a:cs typeface="Verdana"/>
              </a:rPr>
              <a:t>u</a:t>
            </a:r>
            <a:r>
              <a:rPr b="0" spc="-10" dirty="0">
                <a:latin typeface="Verdana"/>
                <a:cs typeface="Verdana"/>
              </a:rPr>
              <a:t>l</a:t>
            </a:r>
            <a:r>
              <a:rPr b="0" spc="30" dirty="0">
                <a:latin typeface="Verdana"/>
                <a:cs typeface="Verdana"/>
              </a:rPr>
              <a:t>t</a:t>
            </a:r>
            <a:r>
              <a:rPr b="0" spc="-70" dirty="0">
                <a:latin typeface="Verdana"/>
                <a:cs typeface="Verdana"/>
              </a:rPr>
              <a:t>s</a:t>
            </a:r>
            <a:r>
              <a:rPr b="0" spc="-340" dirty="0">
                <a:latin typeface="Verdana"/>
                <a:cs typeface="Verdana"/>
              </a:rPr>
              <a:t>.</a:t>
            </a:r>
          </a:p>
        </p:txBody>
      </p:sp>
      <p:grpSp>
        <p:nvGrpSpPr>
          <p:cNvPr id="14" name="object 14"/>
          <p:cNvGrpSpPr/>
          <p:nvPr/>
        </p:nvGrpSpPr>
        <p:grpSpPr>
          <a:xfrm>
            <a:off x="8834958" y="5593063"/>
            <a:ext cx="8724900" cy="3819525"/>
            <a:chOff x="8834958" y="5593063"/>
            <a:chExt cx="8724900" cy="3819525"/>
          </a:xfrm>
        </p:grpSpPr>
        <p:sp>
          <p:nvSpPr>
            <p:cNvPr id="15" name="object 15"/>
            <p:cNvSpPr/>
            <p:nvPr/>
          </p:nvSpPr>
          <p:spPr>
            <a:xfrm>
              <a:off x="8834958" y="5593063"/>
              <a:ext cx="8724900" cy="3819525"/>
            </a:xfrm>
            <a:custGeom>
              <a:avLst/>
              <a:gdLst/>
              <a:ahLst/>
              <a:cxnLst/>
              <a:rect l="l" t="t" r="r" b="b"/>
              <a:pathLst>
                <a:path w="8724900" h="3819525">
                  <a:moveTo>
                    <a:pt x="8724900" y="0"/>
                  </a:moveTo>
                  <a:lnTo>
                    <a:pt x="0" y="0"/>
                  </a:lnTo>
                  <a:lnTo>
                    <a:pt x="0" y="3819525"/>
                  </a:lnTo>
                  <a:lnTo>
                    <a:pt x="8724900" y="3819525"/>
                  </a:lnTo>
                  <a:lnTo>
                    <a:pt x="8724900" y="0"/>
                  </a:lnTo>
                  <a:close/>
                </a:path>
              </a:pathLst>
            </a:custGeom>
            <a:solidFill>
              <a:srgbClr val="2323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388323" y="6485724"/>
              <a:ext cx="95250" cy="1714500"/>
            </a:xfrm>
            <a:custGeom>
              <a:avLst/>
              <a:gdLst/>
              <a:ahLst/>
              <a:cxnLst/>
              <a:rect l="l" t="t" r="r" b="b"/>
              <a:pathLst>
                <a:path w="95250" h="1714500">
                  <a:moveTo>
                    <a:pt x="95250" y="1660563"/>
                  </a:moveTo>
                  <a:lnTo>
                    <a:pt x="71678" y="1625295"/>
                  </a:lnTo>
                  <a:lnTo>
                    <a:pt x="53936" y="1619250"/>
                  </a:lnTo>
                  <a:lnTo>
                    <a:pt x="41300" y="1619250"/>
                  </a:lnTo>
                  <a:lnTo>
                    <a:pt x="6032" y="1642821"/>
                  </a:lnTo>
                  <a:lnTo>
                    <a:pt x="0" y="1660563"/>
                  </a:lnTo>
                  <a:lnTo>
                    <a:pt x="0" y="1673199"/>
                  </a:lnTo>
                  <a:lnTo>
                    <a:pt x="23558" y="1708467"/>
                  </a:lnTo>
                  <a:lnTo>
                    <a:pt x="41300" y="1714500"/>
                  </a:lnTo>
                  <a:lnTo>
                    <a:pt x="53936" y="1714500"/>
                  </a:lnTo>
                  <a:lnTo>
                    <a:pt x="89204" y="1690941"/>
                  </a:lnTo>
                  <a:lnTo>
                    <a:pt x="95250" y="1673199"/>
                  </a:lnTo>
                  <a:lnTo>
                    <a:pt x="95250" y="1666875"/>
                  </a:lnTo>
                  <a:lnTo>
                    <a:pt x="95250" y="1660563"/>
                  </a:lnTo>
                  <a:close/>
                </a:path>
                <a:path w="95250" h="1714500">
                  <a:moveTo>
                    <a:pt x="95250" y="850950"/>
                  </a:moveTo>
                  <a:lnTo>
                    <a:pt x="71678" y="815682"/>
                  </a:lnTo>
                  <a:lnTo>
                    <a:pt x="53936" y="809625"/>
                  </a:lnTo>
                  <a:lnTo>
                    <a:pt x="41300" y="809625"/>
                  </a:lnTo>
                  <a:lnTo>
                    <a:pt x="6032" y="833196"/>
                  </a:lnTo>
                  <a:lnTo>
                    <a:pt x="0" y="850950"/>
                  </a:lnTo>
                  <a:lnTo>
                    <a:pt x="0" y="863574"/>
                  </a:lnTo>
                  <a:lnTo>
                    <a:pt x="23558" y="898842"/>
                  </a:lnTo>
                  <a:lnTo>
                    <a:pt x="41300" y="904875"/>
                  </a:lnTo>
                  <a:lnTo>
                    <a:pt x="53936" y="904875"/>
                  </a:lnTo>
                  <a:lnTo>
                    <a:pt x="89204" y="881316"/>
                  </a:lnTo>
                  <a:lnTo>
                    <a:pt x="95250" y="863574"/>
                  </a:lnTo>
                  <a:lnTo>
                    <a:pt x="95250" y="857250"/>
                  </a:lnTo>
                  <a:lnTo>
                    <a:pt x="95250" y="850950"/>
                  </a:lnTo>
                  <a:close/>
                </a:path>
                <a:path w="95250" h="1714500">
                  <a:moveTo>
                    <a:pt x="95250" y="41313"/>
                  </a:moveTo>
                  <a:lnTo>
                    <a:pt x="71678" y="6045"/>
                  </a:lnTo>
                  <a:lnTo>
                    <a:pt x="53936" y="0"/>
                  </a:lnTo>
                  <a:lnTo>
                    <a:pt x="41300" y="0"/>
                  </a:lnTo>
                  <a:lnTo>
                    <a:pt x="6032" y="23571"/>
                  </a:lnTo>
                  <a:lnTo>
                    <a:pt x="0" y="41313"/>
                  </a:lnTo>
                  <a:lnTo>
                    <a:pt x="0" y="53949"/>
                  </a:lnTo>
                  <a:lnTo>
                    <a:pt x="23558" y="89217"/>
                  </a:lnTo>
                  <a:lnTo>
                    <a:pt x="41300" y="95250"/>
                  </a:lnTo>
                  <a:lnTo>
                    <a:pt x="53936" y="95250"/>
                  </a:lnTo>
                  <a:lnTo>
                    <a:pt x="89204" y="71691"/>
                  </a:lnTo>
                  <a:lnTo>
                    <a:pt x="95250" y="53949"/>
                  </a:lnTo>
                  <a:lnTo>
                    <a:pt x="95250" y="47625"/>
                  </a:lnTo>
                  <a:lnTo>
                    <a:pt x="95250" y="413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9283540" y="5863958"/>
            <a:ext cx="7471409" cy="324485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algn="just">
              <a:lnSpc>
                <a:spcPct val="100000"/>
              </a:lnSpc>
              <a:spcBef>
                <a:spcPts val="545"/>
              </a:spcBef>
            </a:pPr>
            <a:r>
              <a:rPr sz="2250" b="1" spc="-120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r>
              <a:rPr sz="2250" b="1" spc="-150" dirty="0">
                <a:solidFill>
                  <a:srgbClr val="FFFFFF"/>
                </a:solidFill>
                <a:latin typeface="Tahoma"/>
                <a:cs typeface="Tahoma"/>
              </a:rPr>
              <a:t>.</a:t>
            </a:r>
            <a:r>
              <a:rPr sz="225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50" b="1" spc="-145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2250" b="1" spc="70" dirty="0">
                <a:solidFill>
                  <a:srgbClr val="FFFFFF"/>
                </a:solidFill>
                <a:latin typeface="Tahoma"/>
                <a:cs typeface="Tahoma"/>
              </a:rPr>
              <a:t>oo</a:t>
            </a:r>
            <a:r>
              <a:rPr sz="2250" b="1" spc="-30" dirty="0">
                <a:solidFill>
                  <a:srgbClr val="FFFFFF"/>
                </a:solidFill>
                <a:latin typeface="Tahoma"/>
                <a:cs typeface="Tahoma"/>
              </a:rPr>
              <a:t>l</a:t>
            </a:r>
            <a:r>
              <a:rPr sz="2250" b="1" spc="10" dirty="0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sz="225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50" b="1" spc="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2250" b="1" spc="114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2250" b="1" spc="140" dirty="0">
                <a:solidFill>
                  <a:srgbClr val="FFFFFF"/>
                </a:solidFill>
                <a:latin typeface="Tahoma"/>
                <a:cs typeface="Tahoma"/>
              </a:rPr>
              <a:t>d</a:t>
            </a:r>
            <a:r>
              <a:rPr sz="225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50" b="1" spc="100" dirty="0">
                <a:solidFill>
                  <a:srgbClr val="FFFFFF"/>
                </a:solidFill>
                <a:latin typeface="Tahoma"/>
                <a:cs typeface="Tahoma"/>
              </a:rPr>
              <a:t>Fu</a:t>
            </a:r>
            <a:r>
              <a:rPr sz="2250" b="1" spc="114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2250" b="1" spc="145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r>
              <a:rPr sz="2250" b="1" spc="20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2250" b="1" spc="-30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2250" b="1" spc="70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2250" b="1" spc="110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2250" b="1" spc="10" dirty="0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sz="225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50" b="1" spc="120" dirty="0">
                <a:solidFill>
                  <a:srgbClr val="FFFFFF"/>
                </a:solidFill>
                <a:latin typeface="Tahoma"/>
                <a:cs typeface="Tahoma"/>
              </a:rPr>
              <a:t>U</a:t>
            </a:r>
            <a:r>
              <a:rPr sz="2250" b="1" spc="5" dirty="0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sz="2250" b="1" spc="70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2250" b="1" spc="135" dirty="0">
                <a:solidFill>
                  <a:srgbClr val="FFFFFF"/>
                </a:solidFill>
                <a:latin typeface="Tahoma"/>
                <a:cs typeface="Tahoma"/>
              </a:rPr>
              <a:t>d</a:t>
            </a:r>
            <a:r>
              <a:rPr sz="2250" b="1" spc="-265" dirty="0">
                <a:solidFill>
                  <a:srgbClr val="FFFFFF"/>
                </a:solidFill>
                <a:latin typeface="Tahoma"/>
                <a:cs typeface="Tahoma"/>
              </a:rPr>
              <a:t>:</a:t>
            </a:r>
            <a:endParaRPr sz="2250" dirty="0">
              <a:latin typeface="Tahoma"/>
              <a:cs typeface="Tahoma"/>
            </a:endParaRPr>
          </a:p>
          <a:p>
            <a:pPr marL="353695" marR="5080" algn="just">
              <a:lnSpc>
                <a:spcPct val="116700"/>
              </a:lnSpc>
            </a:pPr>
            <a:r>
              <a:rPr sz="2250" spc="-95" dirty="0">
                <a:solidFill>
                  <a:srgbClr val="FFFFFF"/>
                </a:solidFill>
                <a:latin typeface="Verdana"/>
                <a:cs typeface="Verdana"/>
              </a:rPr>
              <a:t>Excel:</a:t>
            </a:r>
            <a:r>
              <a:rPr sz="225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30" dirty="0">
                <a:solidFill>
                  <a:srgbClr val="FFFFFF"/>
                </a:solidFill>
                <a:latin typeface="Verdana"/>
                <a:cs typeface="Verdana"/>
              </a:rPr>
              <a:t>Utilized</a:t>
            </a:r>
            <a:r>
              <a:rPr sz="2250" spc="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10" dirty="0">
                <a:solidFill>
                  <a:srgbClr val="FFFFFF"/>
                </a:solidFill>
                <a:latin typeface="Verdana"/>
                <a:cs typeface="Verdana"/>
              </a:rPr>
              <a:t>pivot</a:t>
            </a:r>
            <a:r>
              <a:rPr sz="2250" spc="15" dirty="0">
                <a:solidFill>
                  <a:srgbClr val="FFFFFF"/>
                </a:solidFill>
                <a:latin typeface="Verdana"/>
                <a:cs typeface="Verdana"/>
              </a:rPr>
              <a:t> tables</a:t>
            </a:r>
            <a:r>
              <a:rPr sz="2250" spc="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15" dirty="0">
                <a:solidFill>
                  <a:srgbClr val="FFFFFF"/>
                </a:solidFill>
                <a:latin typeface="Verdana"/>
                <a:cs typeface="Verdana"/>
              </a:rPr>
              <a:t>for</a:t>
            </a:r>
            <a:r>
              <a:rPr sz="2250" spc="7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65" dirty="0">
                <a:solidFill>
                  <a:srgbClr val="FFFFFF"/>
                </a:solidFill>
                <a:latin typeface="Verdana"/>
                <a:cs typeface="Verdana"/>
              </a:rPr>
              <a:t>quick</a:t>
            </a:r>
            <a:r>
              <a:rPr sz="2250" spc="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30" dirty="0">
                <a:solidFill>
                  <a:srgbClr val="FFFFFF"/>
                </a:solidFill>
                <a:latin typeface="Verdana"/>
                <a:cs typeface="Verdana"/>
              </a:rPr>
              <a:t>data</a:t>
            </a:r>
            <a:r>
              <a:rPr lang="en-IN" sz="2250" spc="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7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250" spc="9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250" spc="215" dirty="0">
                <a:solidFill>
                  <a:srgbClr val="FFFFFF"/>
                </a:solidFill>
                <a:latin typeface="Verdana"/>
                <a:cs typeface="Verdana"/>
              </a:rPr>
              <a:t>mm</a:t>
            </a:r>
            <a:r>
              <a:rPr sz="2250" spc="-2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250" spc="-7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250" spc="-1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250" spc="-30" dirty="0">
                <a:solidFill>
                  <a:srgbClr val="FFFFFF"/>
                </a:solidFill>
                <a:latin typeface="Verdana"/>
                <a:cs typeface="Verdana"/>
              </a:rPr>
              <a:t>z</a:t>
            </a:r>
            <a:r>
              <a:rPr sz="2250" spc="-2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250" spc="3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250" spc="-1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250" spc="5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250" spc="11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25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2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250" spc="10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250" spc="13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25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3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250" spc="-8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250" spc="2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250" spc="10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250" spc="13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25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2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250" spc="10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250" spc="-2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250" spc="-1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250" spc="-120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2250" spc="-7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250" spc="-1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250" spc="-7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250" spc="-34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2250" dirty="0">
              <a:latin typeface="Verdana"/>
              <a:cs typeface="Verdana"/>
            </a:endParaRPr>
          </a:p>
          <a:p>
            <a:pPr marL="353695" marR="5080" algn="just">
              <a:lnSpc>
                <a:spcPct val="116700"/>
              </a:lnSpc>
              <a:spcBef>
                <a:spcPts val="75"/>
              </a:spcBef>
            </a:pPr>
            <a:r>
              <a:rPr sz="2250" spc="25" dirty="0">
                <a:solidFill>
                  <a:srgbClr val="FFFFFF"/>
                </a:solidFill>
                <a:latin typeface="Verdana"/>
                <a:cs typeface="Verdana"/>
              </a:rPr>
              <a:t>VLOOKUP:</a:t>
            </a:r>
            <a:r>
              <a:rPr sz="2250" spc="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60" dirty="0">
                <a:solidFill>
                  <a:srgbClr val="FFFFFF"/>
                </a:solidFill>
                <a:latin typeface="Verdana"/>
                <a:cs typeface="Verdana"/>
              </a:rPr>
              <a:t>Employed </a:t>
            </a:r>
            <a:r>
              <a:rPr sz="2250" spc="-15" dirty="0">
                <a:solidFill>
                  <a:srgbClr val="FFFFFF"/>
                </a:solidFill>
                <a:latin typeface="Verdana"/>
                <a:cs typeface="Verdana"/>
              </a:rPr>
              <a:t>for</a:t>
            </a:r>
            <a:r>
              <a:rPr sz="225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25" dirty="0">
                <a:solidFill>
                  <a:srgbClr val="FFFFFF"/>
                </a:solidFill>
                <a:latin typeface="Verdana"/>
                <a:cs typeface="Verdana"/>
              </a:rPr>
              <a:t>efﬁcient</a:t>
            </a:r>
            <a:r>
              <a:rPr sz="2250" spc="30" dirty="0">
                <a:solidFill>
                  <a:srgbClr val="FFFFFF"/>
                </a:solidFill>
                <a:latin typeface="Verdana"/>
                <a:cs typeface="Verdana"/>
              </a:rPr>
              <a:t> data</a:t>
            </a:r>
            <a:r>
              <a:rPr sz="2250" spc="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lang="en-IN" sz="2250" spc="-40" dirty="0">
                <a:solidFill>
                  <a:srgbClr val="FFFFFF"/>
                </a:solidFill>
                <a:latin typeface="Verdana"/>
                <a:cs typeface="Verdana"/>
              </a:rPr>
              <a:t>cross-referencing</a:t>
            </a:r>
            <a:r>
              <a:rPr sz="225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2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250" spc="10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250" spc="13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25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2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250" spc="10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250" spc="-7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250" spc="-1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250" spc="8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250" spc="10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250" spc="21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250" spc="2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250" spc="10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250" spc="5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250" spc="-34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2250" dirty="0">
              <a:latin typeface="Verdana"/>
              <a:cs typeface="Verdana"/>
            </a:endParaRPr>
          </a:p>
          <a:p>
            <a:pPr marL="353695" marR="5080" algn="just">
              <a:lnSpc>
                <a:spcPct val="116700"/>
              </a:lnSpc>
              <a:spcBef>
                <a:spcPts val="70"/>
              </a:spcBef>
            </a:pPr>
            <a:r>
              <a:rPr sz="2250" spc="40" dirty="0">
                <a:solidFill>
                  <a:srgbClr val="FFFFFF"/>
                </a:solidFill>
                <a:latin typeface="Verdana"/>
                <a:cs typeface="Verdana"/>
              </a:rPr>
              <a:t>Conditional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Formatting: </a:t>
            </a:r>
            <a:r>
              <a:rPr sz="2250" spc="70" dirty="0">
                <a:solidFill>
                  <a:srgbClr val="FFFFFF"/>
                </a:solidFill>
                <a:latin typeface="Verdana"/>
                <a:cs typeface="Verdana"/>
              </a:rPr>
              <a:t>Highlighted </a:t>
            </a:r>
            <a:r>
              <a:rPr sz="2250" spc="-40" dirty="0">
                <a:solidFill>
                  <a:srgbClr val="FFFFFF"/>
                </a:solidFill>
                <a:latin typeface="Verdana"/>
                <a:cs typeface="Verdana"/>
              </a:rPr>
              <a:t>key </a:t>
            </a:r>
            <a:r>
              <a:rPr sz="2250" spc="25" dirty="0">
                <a:solidFill>
                  <a:srgbClr val="FFFFFF"/>
                </a:solidFill>
                <a:latin typeface="Verdana"/>
                <a:cs typeface="Verdana"/>
              </a:rPr>
              <a:t>trends</a:t>
            </a:r>
            <a:r>
              <a:rPr lang="en-IN" sz="2250" spc="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75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225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5" dirty="0">
                <a:solidFill>
                  <a:srgbClr val="FFFFFF"/>
                </a:solidFill>
                <a:latin typeface="Verdana"/>
                <a:cs typeface="Verdana"/>
              </a:rPr>
              <a:t>outliers</a:t>
            </a:r>
            <a:r>
              <a:rPr sz="225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45" dirty="0">
                <a:solidFill>
                  <a:srgbClr val="FFFFFF"/>
                </a:solidFill>
                <a:latin typeface="Verdana"/>
                <a:cs typeface="Verdana"/>
              </a:rPr>
              <a:t>in</a:t>
            </a:r>
            <a:r>
              <a:rPr sz="225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55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225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15" dirty="0">
                <a:solidFill>
                  <a:srgbClr val="FFFFFF"/>
                </a:solidFill>
                <a:latin typeface="Verdana"/>
                <a:cs typeface="Verdana"/>
              </a:rPr>
              <a:t>dataset</a:t>
            </a:r>
            <a:r>
              <a:rPr sz="225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15" dirty="0">
                <a:solidFill>
                  <a:srgbClr val="FFFFFF"/>
                </a:solidFill>
                <a:latin typeface="Verdana"/>
                <a:cs typeface="Verdana"/>
              </a:rPr>
              <a:t>for</a:t>
            </a:r>
            <a:r>
              <a:rPr sz="225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20" dirty="0">
                <a:solidFill>
                  <a:srgbClr val="FFFFFF"/>
                </a:solidFill>
                <a:latin typeface="Verdana"/>
                <a:cs typeface="Verdana"/>
              </a:rPr>
              <a:t>better</a:t>
            </a:r>
            <a:r>
              <a:rPr sz="225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visualization</a:t>
            </a:r>
            <a:r>
              <a:rPr lang="en-IN" sz="2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2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250" spc="10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250" spc="13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25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9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250" spc="10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250" spc="13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250" spc="2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250" spc="-5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250" spc="-7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250" spc="3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250" spc="-2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250" spc="10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250" spc="13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250" spc="-1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250" spc="10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250" spc="14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2250" spc="-34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225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56714" y="103289"/>
            <a:ext cx="7205345" cy="7454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700" spc="-20" dirty="0">
                <a:solidFill>
                  <a:srgbClr val="FF0000"/>
                </a:solidFill>
                <a:latin typeface="Cambria"/>
                <a:cs typeface="Cambria"/>
              </a:rPr>
              <a:t>Average</a:t>
            </a:r>
            <a:r>
              <a:rPr sz="4700" spc="-1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4700" spc="-60" dirty="0">
                <a:solidFill>
                  <a:srgbClr val="FF0000"/>
                </a:solidFill>
                <a:latin typeface="Cambria"/>
                <a:cs typeface="Cambria"/>
              </a:rPr>
              <a:t>votes</a:t>
            </a:r>
            <a:r>
              <a:rPr sz="4700" spc="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4700" spc="-10" dirty="0">
                <a:solidFill>
                  <a:srgbClr val="FF0000"/>
                </a:solidFill>
                <a:latin typeface="Cambria"/>
                <a:cs typeface="Cambria"/>
              </a:rPr>
              <a:t>per</a:t>
            </a:r>
            <a:r>
              <a:rPr sz="4700" spc="-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4700" spc="50" dirty="0">
                <a:solidFill>
                  <a:srgbClr val="FF0000"/>
                </a:solidFill>
                <a:latin typeface="Cambria"/>
                <a:cs typeface="Cambria"/>
              </a:rPr>
              <a:t>country</a:t>
            </a:r>
            <a:endParaRPr sz="47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7984" y="1053592"/>
            <a:ext cx="7802306" cy="417957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711" y="5886627"/>
            <a:ext cx="104775" cy="10477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6410" y="8105470"/>
            <a:ext cx="114300" cy="11430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203172" y="1270889"/>
            <a:ext cx="16207105" cy="872617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7917180" marR="5080">
              <a:lnSpc>
                <a:spcPct val="100400"/>
              </a:lnSpc>
              <a:spcBef>
                <a:spcPts val="80"/>
              </a:spcBef>
            </a:pPr>
            <a:r>
              <a:rPr sz="3050" spc="-85" dirty="0">
                <a:solidFill>
                  <a:srgbClr val="FFFFFF"/>
                </a:solidFill>
                <a:latin typeface="Verdana"/>
                <a:cs typeface="Verdana"/>
              </a:rPr>
              <a:t>Average</a:t>
            </a:r>
            <a:r>
              <a:rPr sz="3050" spc="2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50" spc="-90" dirty="0">
                <a:solidFill>
                  <a:srgbClr val="FFFFFF"/>
                </a:solidFill>
                <a:latin typeface="Verdana"/>
                <a:cs typeface="Verdana"/>
              </a:rPr>
              <a:t>Votes</a:t>
            </a:r>
            <a:r>
              <a:rPr sz="3050" spc="2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50" spc="-70" dirty="0">
                <a:solidFill>
                  <a:srgbClr val="FFFFFF"/>
                </a:solidFill>
                <a:latin typeface="Verdana"/>
                <a:cs typeface="Verdana"/>
              </a:rPr>
              <a:t>per</a:t>
            </a:r>
            <a:r>
              <a:rPr sz="3050" spc="2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50" spc="-110" dirty="0">
                <a:solidFill>
                  <a:srgbClr val="FFFFFF"/>
                </a:solidFill>
                <a:latin typeface="Verdana"/>
                <a:cs typeface="Verdana"/>
              </a:rPr>
              <a:t>Country:</a:t>
            </a:r>
            <a:r>
              <a:rPr sz="3050" spc="2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50" spc="4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3050" spc="2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50" spc="-80" dirty="0">
                <a:solidFill>
                  <a:srgbClr val="FFFFFF"/>
                </a:solidFill>
                <a:latin typeface="Verdana"/>
                <a:cs typeface="Verdana"/>
              </a:rPr>
              <a:t>Comparative </a:t>
            </a:r>
            <a:r>
              <a:rPr sz="3050" spc="-10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50" spc="-55" dirty="0">
                <a:solidFill>
                  <a:srgbClr val="FFFFFF"/>
                </a:solidFill>
                <a:latin typeface="Verdana"/>
                <a:cs typeface="Verdana"/>
              </a:rPr>
              <a:t>Overview</a:t>
            </a:r>
            <a:endParaRPr sz="3050" dirty="0">
              <a:latin typeface="Verdana"/>
              <a:cs typeface="Verdana"/>
            </a:endParaRPr>
          </a:p>
          <a:p>
            <a:pPr marL="7916545" marR="204470" algn="just">
              <a:lnSpc>
                <a:spcPct val="100000"/>
              </a:lnSpc>
              <a:spcBef>
                <a:spcPts val="2540"/>
              </a:spcBef>
            </a:pPr>
            <a:r>
              <a:rPr sz="2450" spc="75" dirty="0">
                <a:solidFill>
                  <a:srgbClr val="F6F6F6"/>
                </a:solidFill>
                <a:latin typeface="Verdana"/>
                <a:cs typeface="Verdana"/>
              </a:rPr>
              <a:t>A </a:t>
            </a:r>
            <a:r>
              <a:rPr sz="2450" spc="-5" dirty="0">
                <a:solidFill>
                  <a:srgbClr val="F6F6F6"/>
                </a:solidFill>
                <a:latin typeface="Verdana"/>
                <a:cs typeface="Verdana"/>
              </a:rPr>
              <a:t>Comparative </a:t>
            </a:r>
            <a:r>
              <a:rPr sz="2450" spc="-30" dirty="0">
                <a:solidFill>
                  <a:srgbClr val="F6F6F6"/>
                </a:solidFill>
                <a:latin typeface="Verdana"/>
                <a:cs typeface="Verdana"/>
              </a:rPr>
              <a:t>OverviewIn </a:t>
            </a:r>
            <a:r>
              <a:rPr sz="2450" spc="15" dirty="0">
                <a:solidFill>
                  <a:srgbClr val="F6F6F6"/>
                </a:solidFill>
                <a:latin typeface="Verdana"/>
                <a:cs typeface="Verdana"/>
              </a:rPr>
              <a:t>our </a:t>
            </a:r>
            <a:r>
              <a:rPr sz="2450" spc="-45" dirty="0">
                <a:solidFill>
                  <a:srgbClr val="F6F6F6"/>
                </a:solidFill>
                <a:latin typeface="Verdana"/>
                <a:cs typeface="Verdana"/>
              </a:rPr>
              <a:t>analysis </a:t>
            </a:r>
            <a:r>
              <a:rPr sz="2450" dirty="0">
                <a:solidFill>
                  <a:srgbClr val="F6F6F6"/>
                </a:solidFill>
                <a:latin typeface="Verdana"/>
                <a:cs typeface="Verdana"/>
              </a:rPr>
              <a:t>of </a:t>
            </a:r>
            <a:r>
              <a:rPr sz="2450" spc="-25" dirty="0">
                <a:solidFill>
                  <a:srgbClr val="F6F6F6"/>
                </a:solidFill>
                <a:latin typeface="Verdana"/>
                <a:cs typeface="Verdana"/>
              </a:rPr>
              <a:t>Zomato's </a:t>
            </a:r>
            <a:r>
              <a:rPr sz="2450" spc="-850" dirty="0">
                <a:solidFill>
                  <a:srgbClr val="F6F6F6"/>
                </a:solidFill>
                <a:latin typeface="Verdana"/>
                <a:cs typeface="Verdana"/>
              </a:rPr>
              <a:t> </a:t>
            </a:r>
            <a:r>
              <a:rPr sz="2450" spc="-25" dirty="0">
                <a:solidFill>
                  <a:srgbClr val="F6F6F6"/>
                </a:solidFill>
                <a:latin typeface="Verdana"/>
                <a:cs typeface="Verdana"/>
              </a:rPr>
              <a:t>restaurant</a:t>
            </a:r>
            <a:r>
              <a:rPr sz="2450" spc="-55" dirty="0">
                <a:solidFill>
                  <a:srgbClr val="F6F6F6"/>
                </a:solidFill>
                <a:latin typeface="Verdana"/>
                <a:cs typeface="Verdana"/>
              </a:rPr>
              <a:t> </a:t>
            </a:r>
            <a:r>
              <a:rPr sz="2450" spc="-60" dirty="0">
                <a:solidFill>
                  <a:srgbClr val="F6F6F6"/>
                </a:solidFill>
                <a:latin typeface="Verdana"/>
                <a:cs typeface="Verdana"/>
              </a:rPr>
              <a:t>data,</a:t>
            </a:r>
            <a:r>
              <a:rPr sz="2450" spc="-50" dirty="0">
                <a:solidFill>
                  <a:srgbClr val="F6F6F6"/>
                </a:solidFill>
                <a:latin typeface="Verdana"/>
                <a:cs typeface="Verdana"/>
              </a:rPr>
              <a:t> </a:t>
            </a:r>
            <a:r>
              <a:rPr sz="2450" spc="55" dirty="0">
                <a:solidFill>
                  <a:srgbClr val="F6F6F6"/>
                </a:solidFill>
                <a:latin typeface="Verdana"/>
                <a:cs typeface="Verdana"/>
              </a:rPr>
              <a:t>we</a:t>
            </a:r>
            <a:r>
              <a:rPr sz="2450" spc="-50" dirty="0">
                <a:solidFill>
                  <a:srgbClr val="F6F6F6"/>
                </a:solidFill>
                <a:latin typeface="Verdana"/>
                <a:cs typeface="Verdana"/>
              </a:rPr>
              <a:t> </a:t>
            </a:r>
            <a:r>
              <a:rPr sz="2450" dirty="0">
                <a:solidFill>
                  <a:srgbClr val="F6F6F6"/>
                </a:solidFill>
                <a:latin typeface="Verdana"/>
                <a:cs typeface="Verdana"/>
              </a:rPr>
              <a:t>observed</a:t>
            </a:r>
            <a:r>
              <a:rPr sz="2450" spc="-55" dirty="0">
                <a:solidFill>
                  <a:srgbClr val="F6F6F6"/>
                </a:solidFill>
                <a:latin typeface="Verdana"/>
                <a:cs typeface="Verdana"/>
              </a:rPr>
              <a:t> </a:t>
            </a:r>
            <a:r>
              <a:rPr sz="2450" spc="30" dirty="0">
                <a:solidFill>
                  <a:srgbClr val="F6F6F6"/>
                </a:solidFill>
                <a:latin typeface="Verdana"/>
                <a:cs typeface="Verdana"/>
              </a:rPr>
              <a:t>notable</a:t>
            </a:r>
            <a:r>
              <a:rPr sz="2450" spc="-50" dirty="0">
                <a:solidFill>
                  <a:srgbClr val="F6F6F6"/>
                </a:solidFill>
                <a:latin typeface="Verdana"/>
                <a:cs typeface="Verdana"/>
              </a:rPr>
              <a:t> </a:t>
            </a:r>
            <a:r>
              <a:rPr sz="2450" dirty="0">
                <a:solidFill>
                  <a:srgbClr val="F6F6F6"/>
                </a:solidFill>
                <a:latin typeface="Verdana"/>
                <a:cs typeface="Verdana"/>
              </a:rPr>
              <a:t>differences</a:t>
            </a:r>
            <a:r>
              <a:rPr sz="2450" spc="-50" dirty="0">
                <a:solidFill>
                  <a:srgbClr val="F6F6F6"/>
                </a:solidFill>
                <a:latin typeface="Verdana"/>
                <a:cs typeface="Verdana"/>
              </a:rPr>
              <a:t> </a:t>
            </a:r>
            <a:r>
              <a:rPr sz="2450" spc="40" dirty="0">
                <a:solidFill>
                  <a:srgbClr val="F6F6F6"/>
                </a:solidFill>
                <a:latin typeface="Verdana"/>
                <a:cs typeface="Verdana"/>
              </a:rPr>
              <a:t>in </a:t>
            </a:r>
            <a:r>
              <a:rPr sz="2450" spc="-850" dirty="0">
                <a:solidFill>
                  <a:srgbClr val="F6F6F6"/>
                </a:solidFill>
                <a:latin typeface="Verdana"/>
                <a:cs typeface="Verdana"/>
              </a:rPr>
              <a:t> </a:t>
            </a:r>
            <a:r>
              <a:rPr sz="2450" spc="40" dirty="0">
                <a:solidFill>
                  <a:srgbClr val="F6F6F6"/>
                </a:solidFill>
                <a:latin typeface="Verdana"/>
                <a:cs typeface="Verdana"/>
              </a:rPr>
              <a:t>the</a:t>
            </a:r>
            <a:r>
              <a:rPr sz="2450" spc="45" dirty="0">
                <a:solidFill>
                  <a:srgbClr val="F6F6F6"/>
                </a:solidFill>
                <a:latin typeface="Verdana"/>
                <a:cs typeface="Verdana"/>
              </a:rPr>
              <a:t> </a:t>
            </a:r>
            <a:r>
              <a:rPr sz="2450" spc="-40" dirty="0">
                <a:solidFill>
                  <a:srgbClr val="F6F6F6"/>
                </a:solidFill>
                <a:latin typeface="Verdana"/>
                <a:cs typeface="Verdana"/>
              </a:rPr>
              <a:t>average</a:t>
            </a:r>
            <a:r>
              <a:rPr sz="2450" spc="-35" dirty="0">
                <a:solidFill>
                  <a:srgbClr val="F6F6F6"/>
                </a:solidFill>
                <a:latin typeface="Verdana"/>
                <a:cs typeface="Verdana"/>
              </a:rPr>
              <a:t> </a:t>
            </a:r>
            <a:r>
              <a:rPr sz="2450" spc="75" dirty="0">
                <a:solidFill>
                  <a:srgbClr val="F6F6F6"/>
                </a:solidFill>
                <a:latin typeface="Verdana"/>
                <a:cs typeface="Verdana"/>
              </a:rPr>
              <a:t>number</a:t>
            </a:r>
            <a:r>
              <a:rPr sz="2450" spc="80" dirty="0">
                <a:solidFill>
                  <a:srgbClr val="F6F6F6"/>
                </a:solidFill>
                <a:latin typeface="Verdana"/>
                <a:cs typeface="Verdana"/>
              </a:rPr>
              <a:t> </a:t>
            </a:r>
            <a:r>
              <a:rPr sz="2450" dirty="0">
                <a:solidFill>
                  <a:srgbClr val="F6F6F6"/>
                </a:solidFill>
                <a:latin typeface="Verdana"/>
                <a:cs typeface="Verdana"/>
              </a:rPr>
              <a:t>of</a:t>
            </a:r>
            <a:r>
              <a:rPr sz="2450" spc="5" dirty="0">
                <a:solidFill>
                  <a:srgbClr val="F6F6F6"/>
                </a:solidFill>
                <a:latin typeface="Verdana"/>
                <a:cs typeface="Verdana"/>
              </a:rPr>
              <a:t> </a:t>
            </a:r>
            <a:r>
              <a:rPr sz="2450" spc="-45" dirty="0">
                <a:solidFill>
                  <a:srgbClr val="F6F6F6"/>
                </a:solidFill>
                <a:latin typeface="Verdana"/>
                <a:cs typeface="Verdana"/>
              </a:rPr>
              <a:t>votes</a:t>
            </a:r>
            <a:r>
              <a:rPr sz="2450" spc="-40" dirty="0">
                <a:solidFill>
                  <a:srgbClr val="F6F6F6"/>
                </a:solidFill>
                <a:latin typeface="Verdana"/>
                <a:cs typeface="Verdana"/>
              </a:rPr>
              <a:t> </a:t>
            </a:r>
            <a:r>
              <a:rPr sz="2450" spc="-30" dirty="0">
                <a:solidFill>
                  <a:srgbClr val="F6F6F6"/>
                </a:solidFill>
                <a:latin typeface="Verdana"/>
                <a:cs typeface="Verdana"/>
              </a:rPr>
              <a:t>across</a:t>
            </a:r>
            <a:r>
              <a:rPr sz="2450" spc="-25" dirty="0">
                <a:solidFill>
                  <a:srgbClr val="F6F6F6"/>
                </a:solidFill>
                <a:latin typeface="Verdana"/>
                <a:cs typeface="Verdana"/>
              </a:rPr>
              <a:t> </a:t>
            </a:r>
            <a:r>
              <a:rPr sz="2450" spc="-40" dirty="0">
                <a:solidFill>
                  <a:srgbClr val="F6F6F6"/>
                </a:solidFill>
                <a:latin typeface="Verdana"/>
                <a:cs typeface="Verdana"/>
              </a:rPr>
              <a:t>various </a:t>
            </a:r>
            <a:r>
              <a:rPr sz="2450" spc="-35" dirty="0">
                <a:solidFill>
                  <a:srgbClr val="F6F6F6"/>
                </a:solidFill>
                <a:latin typeface="Verdana"/>
                <a:cs typeface="Verdana"/>
              </a:rPr>
              <a:t> </a:t>
            </a:r>
            <a:r>
              <a:rPr sz="2450" spc="-25" dirty="0">
                <a:solidFill>
                  <a:srgbClr val="F6F6F6"/>
                </a:solidFill>
                <a:latin typeface="Verdana"/>
                <a:cs typeface="Verdana"/>
              </a:rPr>
              <a:t>countries.</a:t>
            </a:r>
            <a:r>
              <a:rPr sz="2450" spc="-20" dirty="0">
                <a:solidFill>
                  <a:srgbClr val="F6F6F6"/>
                </a:solidFill>
                <a:latin typeface="Verdana"/>
                <a:cs typeface="Verdana"/>
              </a:rPr>
              <a:t> These</a:t>
            </a:r>
            <a:r>
              <a:rPr sz="2450" spc="-15" dirty="0">
                <a:solidFill>
                  <a:srgbClr val="F6F6F6"/>
                </a:solidFill>
                <a:latin typeface="Verdana"/>
                <a:cs typeface="Verdana"/>
              </a:rPr>
              <a:t> </a:t>
            </a:r>
            <a:r>
              <a:rPr sz="2450" dirty="0">
                <a:solidFill>
                  <a:srgbClr val="F6F6F6"/>
                </a:solidFill>
                <a:latin typeface="Verdana"/>
                <a:cs typeface="Verdana"/>
              </a:rPr>
              <a:t>differences</a:t>
            </a:r>
            <a:r>
              <a:rPr sz="2450" spc="5" dirty="0">
                <a:solidFill>
                  <a:srgbClr val="F6F6F6"/>
                </a:solidFill>
                <a:latin typeface="Verdana"/>
                <a:cs typeface="Verdana"/>
              </a:rPr>
              <a:t> </a:t>
            </a:r>
            <a:r>
              <a:rPr sz="2450" spc="50" dirty="0">
                <a:solidFill>
                  <a:srgbClr val="F6F6F6"/>
                </a:solidFill>
                <a:latin typeface="Verdana"/>
                <a:cs typeface="Verdana"/>
              </a:rPr>
              <a:t>can</a:t>
            </a:r>
            <a:r>
              <a:rPr sz="2450" spc="55" dirty="0">
                <a:solidFill>
                  <a:srgbClr val="F6F6F6"/>
                </a:solidFill>
                <a:latin typeface="Verdana"/>
                <a:cs typeface="Verdana"/>
              </a:rPr>
              <a:t> </a:t>
            </a:r>
            <a:r>
              <a:rPr sz="2450" spc="-25" dirty="0">
                <a:solidFill>
                  <a:srgbClr val="F6F6F6"/>
                </a:solidFill>
                <a:latin typeface="Verdana"/>
                <a:cs typeface="Verdana"/>
              </a:rPr>
              <a:t>largely</a:t>
            </a:r>
            <a:r>
              <a:rPr sz="2450" spc="-20" dirty="0">
                <a:solidFill>
                  <a:srgbClr val="F6F6F6"/>
                </a:solidFill>
                <a:latin typeface="Verdana"/>
                <a:cs typeface="Verdana"/>
              </a:rPr>
              <a:t> </a:t>
            </a:r>
            <a:r>
              <a:rPr sz="2450" spc="70" dirty="0">
                <a:solidFill>
                  <a:srgbClr val="F6F6F6"/>
                </a:solidFill>
                <a:latin typeface="Verdana"/>
                <a:cs typeface="Verdana"/>
              </a:rPr>
              <a:t>be </a:t>
            </a:r>
            <a:r>
              <a:rPr sz="2450" spc="75" dirty="0">
                <a:solidFill>
                  <a:srgbClr val="F6F6F6"/>
                </a:solidFill>
                <a:latin typeface="Verdana"/>
                <a:cs typeface="Verdana"/>
              </a:rPr>
              <a:t> </a:t>
            </a:r>
            <a:r>
              <a:rPr sz="2450" spc="15" dirty="0">
                <a:solidFill>
                  <a:srgbClr val="F6F6F6"/>
                </a:solidFill>
                <a:latin typeface="Verdana"/>
                <a:cs typeface="Verdana"/>
              </a:rPr>
              <a:t>attributed</a:t>
            </a:r>
            <a:r>
              <a:rPr sz="2450" spc="-200" dirty="0">
                <a:solidFill>
                  <a:srgbClr val="F6F6F6"/>
                </a:solidFill>
                <a:latin typeface="Verdana"/>
                <a:cs typeface="Verdana"/>
              </a:rPr>
              <a:t> </a:t>
            </a:r>
            <a:r>
              <a:rPr sz="2450" spc="10" dirty="0">
                <a:solidFill>
                  <a:srgbClr val="F6F6F6"/>
                </a:solidFill>
                <a:latin typeface="Verdana"/>
                <a:cs typeface="Verdana"/>
              </a:rPr>
              <a:t>to</a:t>
            </a:r>
            <a:r>
              <a:rPr sz="2450" spc="-195" dirty="0">
                <a:solidFill>
                  <a:srgbClr val="F6F6F6"/>
                </a:solidFill>
                <a:latin typeface="Verdana"/>
                <a:cs typeface="Verdana"/>
              </a:rPr>
              <a:t> </a:t>
            </a:r>
            <a:r>
              <a:rPr sz="2450" spc="-20" dirty="0">
                <a:solidFill>
                  <a:srgbClr val="F6F6F6"/>
                </a:solidFill>
                <a:latin typeface="Verdana"/>
                <a:cs typeface="Verdana"/>
              </a:rPr>
              <a:t>factors</a:t>
            </a:r>
            <a:r>
              <a:rPr sz="2450" spc="-195" dirty="0">
                <a:solidFill>
                  <a:srgbClr val="F6F6F6"/>
                </a:solidFill>
                <a:latin typeface="Verdana"/>
                <a:cs typeface="Verdana"/>
              </a:rPr>
              <a:t> </a:t>
            </a:r>
            <a:r>
              <a:rPr sz="2450" spc="40" dirty="0">
                <a:solidFill>
                  <a:srgbClr val="F6F6F6"/>
                </a:solidFill>
                <a:latin typeface="Verdana"/>
                <a:cs typeface="Verdana"/>
              </a:rPr>
              <a:t>such</a:t>
            </a:r>
            <a:r>
              <a:rPr sz="2450" spc="-200" dirty="0">
                <a:solidFill>
                  <a:srgbClr val="F6F6F6"/>
                </a:solidFill>
                <a:latin typeface="Verdana"/>
                <a:cs typeface="Verdana"/>
              </a:rPr>
              <a:t> </a:t>
            </a:r>
            <a:r>
              <a:rPr sz="2450" spc="-60" dirty="0">
                <a:solidFill>
                  <a:srgbClr val="F6F6F6"/>
                </a:solidFill>
                <a:latin typeface="Verdana"/>
                <a:cs typeface="Verdana"/>
              </a:rPr>
              <a:t>as</a:t>
            </a:r>
            <a:r>
              <a:rPr sz="2450" spc="-195" dirty="0">
                <a:solidFill>
                  <a:srgbClr val="F6F6F6"/>
                </a:solidFill>
                <a:latin typeface="Verdana"/>
                <a:cs typeface="Verdana"/>
              </a:rPr>
              <a:t> </a:t>
            </a:r>
            <a:r>
              <a:rPr sz="2450" spc="45" dirty="0">
                <a:solidFill>
                  <a:srgbClr val="F6F6F6"/>
                </a:solidFill>
                <a:latin typeface="Verdana"/>
                <a:cs typeface="Verdana"/>
              </a:rPr>
              <a:t>population</a:t>
            </a:r>
            <a:r>
              <a:rPr sz="2450" spc="-195" dirty="0">
                <a:solidFill>
                  <a:srgbClr val="F6F6F6"/>
                </a:solidFill>
                <a:latin typeface="Verdana"/>
                <a:cs typeface="Verdana"/>
              </a:rPr>
              <a:t> </a:t>
            </a:r>
            <a:r>
              <a:rPr sz="2450" spc="-110" dirty="0">
                <a:solidFill>
                  <a:srgbClr val="F6F6F6"/>
                </a:solidFill>
                <a:latin typeface="Verdana"/>
                <a:cs typeface="Verdana"/>
              </a:rPr>
              <a:t>size,</a:t>
            </a:r>
            <a:r>
              <a:rPr sz="2450" spc="-195" dirty="0">
                <a:solidFill>
                  <a:srgbClr val="F6F6F6"/>
                </a:solidFill>
                <a:latin typeface="Verdana"/>
                <a:cs typeface="Verdana"/>
              </a:rPr>
              <a:t> </a:t>
            </a:r>
            <a:r>
              <a:rPr sz="2450" spc="10" dirty="0">
                <a:solidFill>
                  <a:srgbClr val="F6F6F6"/>
                </a:solidFill>
                <a:latin typeface="Verdana"/>
                <a:cs typeface="Verdana"/>
              </a:rPr>
              <a:t>market </a:t>
            </a:r>
            <a:r>
              <a:rPr sz="2450" spc="-850" dirty="0">
                <a:solidFill>
                  <a:srgbClr val="F6F6F6"/>
                </a:solidFill>
                <a:latin typeface="Verdana"/>
                <a:cs typeface="Verdana"/>
              </a:rPr>
              <a:t> </a:t>
            </a:r>
            <a:r>
              <a:rPr sz="2450" spc="-60" dirty="0">
                <a:solidFill>
                  <a:srgbClr val="F6F6F6"/>
                </a:solidFill>
                <a:latin typeface="Verdana"/>
                <a:cs typeface="Verdana"/>
              </a:rPr>
              <a:t>strategies,</a:t>
            </a:r>
            <a:r>
              <a:rPr sz="2450" spc="-225" dirty="0">
                <a:solidFill>
                  <a:srgbClr val="F6F6F6"/>
                </a:solidFill>
                <a:latin typeface="Verdana"/>
                <a:cs typeface="Verdana"/>
              </a:rPr>
              <a:t> </a:t>
            </a:r>
            <a:r>
              <a:rPr sz="2450" spc="60" dirty="0">
                <a:solidFill>
                  <a:srgbClr val="F6F6F6"/>
                </a:solidFill>
                <a:latin typeface="Verdana"/>
                <a:cs typeface="Verdana"/>
              </a:rPr>
              <a:t>and</a:t>
            </a:r>
            <a:r>
              <a:rPr sz="2450" spc="-225" dirty="0">
                <a:solidFill>
                  <a:srgbClr val="F6F6F6"/>
                </a:solidFill>
                <a:latin typeface="Verdana"/>
                <a:cs typeface="Verdana"/>
              </a:rPr>
              <a:t> </a:t>
            </a:r>
            <a:r>
              <a:rPr sz="2450" spc="-60" dirty="0">
                <a:solidFill>
                  <a:srgbClr val="F6F6F6"/>
                </a:solidFill>
                <a:latin typeface="Verdana"/>
                <a:cs typeface="Verdana"/>
              </a:rPr>
              <a:t>overall</a:t>
            </a:r>
            <a:r>
              <a:rPr sz="2450" spc="-225" dirty="0">
                <a:solidFill>
                  <a:srgbClr val="F6F6F6"/>
                </a:solidFill>
                <a:latin typeface="Verdana"/>
                <a:cs typeface="Verdana"/>
              </a:rPr>
              <a:t> </a:t>
            </a:r>
            <a:r>
              <a:rPr sz="2450" spc="-25" dirty="0">
                <a:solidFill>
                  <a:srgbClr val="F6F6F6"/>
                </a:solidFill>
                <a:latin typeface="Verdana"/>
                <a:cs typeface="Verdana"/>
              </a:rPr>
              <a:t>restaurant</a:t>
            </a:r>
            <a:r>
              <a:rPr sz="2450" spc="-225" dirty="0">
                <a:solidFill>
                  <a:srgbClr val="F6F6F6"/>
                </a:solidFill>
                <a:latin typeface="Verdana"/>
                <a:cs typeface="Verdana"/>
              </a:rPr>
              <a:t> </a:t>
            </a:r>
            <a:r>
              <a:rPr sz="2450" spc="-55" dirty="0">
                <a:solidFill>
                  <a:srgbClr val="F6F6F6"/>
                </a:solidFill>
                <a:latin typeface="Verdana"/>
                <a:cs typeface="Verdana"/>
              </a:rPr>
              <a:t>ratings.</a:t>
            </a:r>
            <a:endParaRPr sz="245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30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000" dirty="0">
              <a:latin typeface="Verdana"/>
              <a:cs typeface="Verdana"/>
            </a:endParaRPr>
          </a:p>
          <a:p>
            <a:pPr marL="142875" marR="552450" algn="just">
              <a:lnSpc>
                <a:spcPct val="101000"/>
              </a:lnSpc>
            </a:pPr>
            <a:r>
              <a:rPr sz="2600" b="1" spc="20" dirty="0">
                <a:solidFill>
                  <a:srgbClr val="F6F6F6"/>
                </a:solidFill>
                <a:latin typeface="Tahoma"/>
                <a:cs typeface="Tahoma"/>
              </a:rPr>
              <a:t>Indonesia </a:t>
            </a:r>
            <a:r>
              <a:rPr sz="2600" b="1" spc="-180" dirty="0">
                <a:solidFill>
                  <a:srgbClr val="F6F6F6"/>
                </a:solidFill>
                <a:latin typeface="Tahoma"/>
                <a:cs typeface="Tahoma"/>
              </a:rPr>
              <a:t>&amp;</a:t>
            </a:r>
            <a:r>
              <a:rPr sz="2600" b="1" spc="-175" dirty="0">
                <a:solidFill>
                  <a:srgbClr val="F6F6F6"/>
                </a:solidFill>
                <a:latin typeface="Tahoma"/>
                <a:cs typeface="Tahoma"/>
              </a:rPr>
              <a:t> </a:t>
            </a:r>
            <a:r>
              <a:rPr sz="2600" b="1" spc="70" dirty="0">
                <a:solidFill>
                  <a:srgbClr val="F6F6F6"/>
                </a:solidFill>
                <a:latin typeface="Tahoma"/>
                <a:cs typeface="Tahoma"/>
              </a:rPr>
              <a:t>The </a:t>
            </a:r>
            <a:r>
              <a:rPr sz="2600" b="1" spc="40" dirty="0">
                <a:solidFill>
                  <a:srgbClr val="F6F6F6"/>
                </a:solidFill>
                <a:latin typeface="Tahoma"/>
                <a:cs typeface="Tahoma"/>
              </a:rPr>
              <a:t>Philippines: </a:t>
            </a:r>
            <a:r>
              <a:rPr sz="2600" spc="5" dirty="0">
                <a:solidFill>
                  <a:srgbClr val="F6F6F6"/>
                </a:solidFill>
                <a:latin typeface="Verdana"/>
                <a:cs typeface="Verdana"/>
              </a:rPr>
              <a:t>T</a:t>
            </a:r>
            <a:r>
              <a:rPr sz="2600" spc="5" dirty="0">
                <a:solidFill>
                  <a:srgbClr val="C7C7C7"/>
                </a:solidFill>
                <a:latin typeface="Verdana"/>
                <a:cs typeface="Verdana"/>
              </a:rPr>
              <a:t>hese </a:t>
            </a:r>
            <a:r>
              <a:rPr sz="2600" spc="35" dirty="0">
                <a:solidFill>
                  <a:srgbClr val="C7C7C7"/>
                </a:solidFill>
                <a:latin typeface="Verdana"/>
                <a:cs typeface="Verdana"/>
              </a:rPr>
              <a:t>countries </a:t>
            </a:r>
            <a:r>
              <a:rPr sz="2600" spc="30" dirty="0">
                <a:solidFill>
                  <a:srgbClr val="C7C7C7"/>
                </a:solidFill>
                <a:latin typeface="Verdana"/>
                <a:cs typeface="Verdana"/>
              </a:rPr>
              <a:t>lead </a:t>
            </a:r>
            <a:r>
              <a:rPr sz="2600" spc="60" dirty="0">
                <a:solidFill>
                  <a:srgbClr val="C7C7C7"/>
                </a:solidFill>
                <a:latin typeface="Verdana"/>
                <a:cs typeface="Verdana"/>
              </a:rPr>
              <a:t>in </a:t>
            </a:r>
            <a:r>
              <a:rPr sz="2600" spc="-25" dirty="0">
                <a:solidFill>
                  <a:srgbClr val="C7C7C7"/>
                </a:solidFill>
                <a:latin typeface="Verdana"/>
                <a:cs typeface="Verdana"/>
              </a:rPr>
              <a:t>average </a:t>
            </a:r>
            <a:r>
              <a:rPr sz="2600" spc="-30" dirty="0">
                <a:solidFill>
                  <a:srgbClr val="C7C7C7"/>
                </a:solidFill>
                <a:latin typeface="Verdana"/>
                <a:cs typeface="Verdana"/>
              </a:rPr>
              <a:t>votes </a:t>
            </a:r>
            <a:r>
              <a:rPr sz="2600" spc="45" dirty="0">
                <a:solidFill>
                  <a:srgbClr val="C7C7C7"/>
                </a:solidFill>
                <a:latin typeface="Verdana"/>
                <a:cs typeface="Verdana"/>
              </a:rPr>
              <a:t>per </a:t>
            </a:r>
            <a:r>
              <a:rPr sz="2600" spc="-35" dirty="0">
                <a:solidFill>
                  <a:srgbClr val="C7C7C7"/>
                </a:solidFill>
                <a:latin typeface="Verdana"/>
                <a:cs typeface="Verdana"/>
              </a:rPr>
              <a:t>restaurant. </a:t>
            </a:r>
            <a:r>
              <a:rPr sz="2600" spc="20" dirty="0">
                <a:solidFill>
                  <a:srgbClr val="C7C7C7"/>
                </a:solidFill>
                <a:latin typeface="Verdana"/>
                <a:cs typeface="Verdana"/>
              </a:rPr>
              <a:t>The </a:t>
            </a:r>
            <a:r>
              <a:rPr sz="2600" spc="25" dirty="0">
                <a:solidFill>
                  <a:srgbClr val="C7C7C7"/>
                </a:solidFill>
                <a:latin typeface="Verdana"/>
                <a:cs typeface="Verdana"/>
              </a:rPr>
              <a:t> </a:t>
            </a:r>
            <a:r>
              <a:rPr sz="2600" spc="65" dirty="0">
                <a:solidFill>
                  <a:srgbClr val="C7C7C7"/>
                </a:solidFill>
                <a:latin typeface="Verdana"/>
                <a:cs typeface="Verdana"/>
              </a:rPr>
              <a:t>higher </a:t>
            </a:r>
            <a:r>
              <a:rPr sz="2600" spc="-15" dirty="0">
                <a:solidFill>
                  <a:srgbClr val="C7C7C7"/>
                </a:solidFill>
                <a:latin typeface="Verdana"/>
                <a:cs typeface="Verdana"/>
              </a:rPr>
              <a:t>vote </a:t>
            </a:r>
            <a:r>
              <a:rPr sz="2600" spc="60" dirty="0">
                <a:solidFill>
                  <a:srgbClr val="C7C7C7"/>
                </a:solidFill>
                <a:latin typeface="Verdana"/>
                <a:cs typeface="Verdana"/>
              </a:rPr>
              <a:t>counts </a:t>
            </a:r>
            <a:r>
              <a:rPr sz="2600" spc="75" dirty="0">
                <a:solidFill>
                  <a:srgbClr val="C7C7C7"/>
                </a:solidFill>
                <a:latin typeface="Verdana"/>
                <a:cs typeface="Verdana"/>
              </a:rPr>
              <a:t>can </a:t>
            </a:r>
            <a:r>
              <a:rPr sz="2600" spc="95" dirty="0">
                <a:solidFill>
                  <a:srgbClr val="C7C7C7"/>
                </a:solidFill>
                <a:latin typeface="Verdana"/>
                <a:cs typeface="Verdana"/>
              </a:rPr>
              <a:t>be </a:t>
            </a:r>
            <a:r>
              <a:rPr sz="2600" spc="45" dirty="0">
                <a:solidFill>
                  <a:srgbClr val="C7C7C7"/>
                </a:solidFill>
                <a:latin typeface="Verdana"/>
                <a:cs typeface="Verdana"/>
              </a:rPr>
              <a:t>linked </a:t>
            </a:r>
            <a:r>
              <a:rPr sz="2600" spc="25" dirty="0">
                <a:solidFill>
                  <a:srgbClr val="C7C7C7"/>
                </a:solidFill>
                <a:latin typeface="Verdana"/>
                <a:cs typeface="Verdana"/>
              </a:rPr>
              <a:t>to their </a:t>
            </a:r>
            <a:r>
              <a:rPr sz="2600" spc="20" dirty="0">
                <a:solidFill>
                  <a:srgbClr val="C7C7C7"/>
                </a:solidFill>
                <a:latin typeface="Verdana"/>
                <a:cs typeface="Verdana"/>
              </a:rPr>
              <a:t>large </a:t>
            </a:r>
            <a:r>
              <a:rPr sz="2600" spc="55" dirty="0">
                <a:solidFill>
                  <a:srgbClr val="C7C7C7"/>
                </a:solidFill>
                <a:latin typeface="Verdana"/>
                <a:cs typeface="Verdana"/>
              </a:rPr>
              <a:t>populations </a:t>
            </a:r>
            <a:r>
              <a:rPr sz="2600" spc="90" dirty="0">
                <a:solidFill>
                  <a:srgbClr val="C7C7C7"/>
                </a:solidFill>
                <a:latin typeface="Verdana"/>
                <a:cs typeface="Verdana"/>
              </a:rPr>
              <a:t>and </a:t>
            </a:r>
            <a:r>
              <a:rPr sz="2600" spc="40" dirty="0">
                <a:solidFill>
                  <a:srgbClr val="C7C7C7"/>
                </a:solidFill>
                <a:latin typeface="Verdana"/>
                <a:cs typeface="Verdana"/>
              </a:rPr>
              <a:t>strong </a:t>
            </a:r>
            <a:r>
              <a:rPr sz="2600" spc="100" dirty="0">
                <a:solidFill>
                  <a:srgbClr val="C7C7C7"/>
                </a:solidFill>
                <a:latin typeface="Verdana"/>
                <a:cs typeface="Verdana"/>
              </a:rPr>
              <a:t>engagement </a:t>
            </a:r>
            <a:r>
              <a:rPr sz="2600" spc="85" dirty="0">
                <a:solidFill>
                  <a:srgbClr val="C7C7C7"/>
                </a:solidFill>
                <a:latin typeface="Verdana"/>
                <a:cs typeface="Verdana"/>
              </a:rPr>
              <a:t>with </a:t>
            </a:r>
            <a:r>
              <a:rPr sz="2600" spc="90" dirty="0">
                <a:solidFill>
                  <a:srgbClr val="C7C7C7"/>
                </a:solidFill>
                <a:latin typeface="Verdana"/>
                <a:cs typeface="Verdana"/>
              </a:rPr>
              <a:t> </a:t>
            </a:r>
            <a:r>
              <a:rPr sz="2600" spc="55" dirty="0">
                <a:solidFill>
                  <a:srgbClr val="C7C7C7"/>
                </a:solidFill>
                <a:latin typeface="Verdana"/>
                <a:cs typeface="Verdana"/>
              </a:rPr>
              <a:t>online </a:t>
            </a:r>
            <a:r>
              <a:rPr sz="2600" spc="-10" dirty="0">
                <a:solidFill>
                  <a:srgbClr val="C7C7C7"/>
                </a:solidFill>
                <a:latin typeface="Verdana"/>
                <a:cs typeface="Verdana"/>
              </a:rPr>
              <a:t>platforms.</a:t>
            </a:r>
            <a:r>
              <a:rPr sz="2600" spc="-5" dirty="0">
                <a:solidFill>
                  <a:srgbClr val="C7C7C7"/>
                </a:solidFill>
                <a:latin typeface="Verdana"/>
                <a:cs typeface="Verdana"/>
              </a:rPr>
              <a:t> </a:t>
            </a:r>
            <a:r>
              <a:rPr sz="2600" spc="-30" dirty="0">
                <a:solidFill>
                  <a:srgbClr val="C7C7C7"/>
                </a:solidFill>
                <a:latin typeface="Verdana"/>
                <a:cs typeface="Verdana"/>
              </a:rPr>
              <a:t>Moreover,</a:t>
            </a:r>
            <a:r>
              <a:rPr sz="2600" spc="-25" dirty="0">
                <a:solidFill>
                  <a:srgbClr val="C7C7C7"/>
                </a:solidFill>
                <a:latin typeface="Verdana"/>
                <a:cs typeface="Verdana"/>
              </a:rPr>
              <a:t> </a:t>
            </a:r>
            <a:r>
              <a:rPr sz="2600" spc="5" dirty="0">
                <a:solidFill>
                  <a:srgbClr val="C7C7C7"/>
                </a:solidFill>
                <a:latin typeface="Verdana"/>
                <a:cs typeface="Verdana"/>
              </a:rPr>
              <a:t>effective</a:t>
            </a:r>
            <a:r>
              <a:rPr sz="2600" spc="10" dirty="0">
                <a:solidFill>
                  <a:srgbClr val="C7C7C7"/>
                </a:solidFill>
                <a:latin typeface="Verdana"/>
                <a:cs typeface="Verdana"/>
              </a:rPr>
              <a:t> </a:t>
            </a:r>
            <a:r>
              <a:rPr sz="2600" spc="35" dirty="0">
                <a:solidFill>
                  <a:srgbClr val="C7C7C7"/>
                </a:solidFill>
                <a:latin typeface="Verdana"/>
                <a:cs typeface="Verdana"/>
              </a:rPr>
              <a:t>market</a:t>
            </a:r>
            <a:r>
              <a:rPr sz="2600" spc="40" dirty="0">
                <a:solidFill>
                  <a:srgbClr val="C7C7C7"/>
                </a:solidFill>
                <a:latin typeface="Verdana"/>
                <a:cs typeface="Verdana"/>
              </a:rPr>
              <a:t> </a:t>
            </a:r>
            <a:r>
              <a:rPr sz="2600" spc="-45" dirty="0">
                <a:solidFill>
                  <a:srgbClr val="C7C7C7"/>
                </a:solidFill>
                <a:latin typeface="Verdana"/>
                <a:cs typeface="Verdana"/>
              </a:rPr>
              <a:t>strategies,</a:t>
            </a:r>
            <a:r>
              <a:rPr sz="2600" spc="-40" dirty="0">
                <a:solidFill>
                  <a:srgbClr val="C7C7C7"/>
                </a:solidFill>
                <a:latin typeface="Verdana"/>
                <a:cs typeface="Verdana"/>
              </a:rPr>
              <a:t> </a:t>
            </a:r>
            <a:r>
              <a:rPr sz="2600" spc="65" dirty="0">
                <a:solidFill>
                  <a:srgbClr val="C7C7C7"/>
                </a:solidFill>
                <a:latin typeface="Verdana"/>
                <a:cs typeface="Verdana"/>
              </a:rPr>
              <a:t>such </a:t>
            </a:r>
            <a:r>
              <a:rPr sz="2600" spc="-45" dirty="0">
                <a:solidFill>
                  <a:srgbClr val="C7C7C7"/>
                </a:solidFill>
                <a:latin typeface="Verdana"/>
                <a:cs typeface="Verdana"/>
              </a:rPr>
              <a:t>as</a:t>
            </a:r>
            <a:r>
              <a:rPr sz="2600" spc="-40" dirty="0">
                <a:solidFill>
                  <a:srgbClr val="C7C7C7"/>
                </a:solidFill>
                <a:latin typeface="Verdana"/>
                <a:cs typeface="Verdana"/>
              </a:rPr>
              <a:t> </a:t>
            </a:r>
            <a:r>
              <a:rPr sz="2600" spc="60" dirty="0">
                <a:solidFill>
                  <a:srgbClr val="C7C7C7"/>
                </a:solidFill>
                <a:latin typeface="Verdana"/>
                <a:cs typeface="Verdana"/>
              </a:rPr>
              <a:t>promotions </a:t>
            </a:r>
            <a:r>
              <a:rPr sz="2600" spc="90" dirty="0">
                <a:solidFill>
                  <a:srgbClr val="C7C7C7"/>
                </a:solidFill>
                <a:latin typeface="Verdana"/>
                <a:cs typeface="Verdana"/>
              </a:rPr>
              <a:t>and </a:t>
            </a:r>
            <a:r>
              <a:rPr sz="2600" spc="5" dirty="0">
                <a:solidFill>
                  <a:srgbClr val="C7C7C7"/>
                </a:solidFill>
                <a:latin typeface="Verdana"/>
                <a:cs typeface="Verdana"/>
              </a:rPr>
              <a:t>user </a:t>
            </a:r>
            <a:r>
              <a:rPr sz="2600" spc="10" dirty="0">
                <a:solidFill>
                  <a:srgbClr val="C7C7C7"/>
                </a:solidFill>
                <a:latin typeface="Verdana"/>
                <a:cs typeface="Verdana"/>
              </a:rPr>
              <a:t> </a:t>
            </a:r>
            <a:r>
              <a:rPr sz="2600" spc="-15" dirty="0">
                <a:solidFill>
                  <a:srgbClr val="C7C7C7"/>
                </a:solidFill>
                <a:latin typeface="Verdana"/>
                <a:cs typeface="Verdana"/>
              </a:rPr>
              <a:t>incentives, </a:t>
            </a:r>
            <a:r>
              <a:rPr sz="2600" spc="-10" dirty="0">
                <a:solidFill>
                  <a:srgbClr val="C7C7C7"/>
                </a:solidFill>
                <a:latin typeface="Verdana"/>
                <a:cs typeface="Verdana"/>
              </a:rPr>
              <a:t>have </a:t>
            </a:r>
            <a:r>
              <a:rPr sz="2600" spc="5" dirty="0">
                <a:solidFill>
                  <a:srgbClr val="C7C7C7"/>
                </a:solidFill>
                <a:latin typeface="Verdana"/>
                <a:cs typeface="Verdana"/>
              </a:rPr>
              <a:t>successfully </a:t>
            </a:r>
            <a:r>
              <a:rPr sz="2600" spc="10" dirty="0">
                <a:solidFill>
                  <a:srgbClr val="C7C7C7"/>
                </a:solidFill>
                <a:latin typeface="Verdana"/>
                <a:cs typeface="Verdana"/>
              </a:rPr>
              <a:t>driven </a:t>
            </a:r>
            <a:r>
              <a:rPr sz="2600" spc="55" dirty="0">
                <a:solidFill>
                  <a:srgbClr val="C7C7C7"/>
                </a:solidFill>
                <a:latin typeface="Verdana"/>
                <a:cs typeface="Verdana"/>
              </a:rPr>
              <a:t>customer </a:t>
            </a:r>
            <a:r>
              <a:rPr sz="2600" spc="25" dirty="0">
                <a:solidFill>
                  <a:srgbClr val="C7C7C7"/>
                </a:solidFill>
                <a:latin typeface="Verdana"/>
                <a:cs typeface="Verdana"/>
              </a:rPr>
              <a:t>interaction </a:t>
            </a:r>
            <a:r>
              <a:rPr sz="2600" spc="90" dirty="0">
                <a:solidFill>
                  <a:srgbClr val="C7C7C7"/>
                </a:solidFill>
                <a:latin typeface="Verdana"/>
                <a:cs typeface="Verdana"/>
              </a:rPr>
              <a:t>and </a:t>
            </a:r>
            <a:r>
              <a:rPr sz="2600" spc="10" dirty="0">
                <a:solidFill>
                  <a:srgbClr val="C7C7C7"/>
                </a:solidFill>
                <a:latin typeface="Verdana"/>
                <a:cs typeface="Verdana"/>
              </a:rPr>
              <a:t>feedback, </a:t>
            </a:r>
            <a:r>
              <a:rPr sz="2600" spc="60" dirty="0">
                <a:solidFill>
                  <a:srgbClr val="C7C7C7"/>
                </a:solidFill>
                <a:latin typeface="Verdana"/>
                <a:cs typeface="Verdana"/>
              </a:rPr>
              <a:t>leading </a:t>
            </a:r>
            <a:r>
              <a:rPr sz="2600" spc="25" dirty="0">
                <a:solidFill>
                  <a:srgbClr val="C7C7C7"/>
                </a:solidFill>
                <a:latin typeface="Verdana"/>
                <a:cs typeface="Verdana"/>
              </a:rPr>
              <a:t>to </a:t>
            </a:r>
            <a:r>
              <a:rPr sz="2600" spc="65" dirty="0">
                <a:solidFill>
                  <a:srgbClr val="C7C7C7"/>
                </a:solidFill>
                <a:latin typeface="Verdana"/>
                <a:cs typeface="Verdana"/>
              </a:rPr>
              <a:t>more </a:t>
            </a:r>
            <a:r>
              <a:rPr sz="2600" spc="70" dirty="0">
                <a:solidFill>
                  <a:srgbClr val="C7C7C7"/>
                </a:solidFill>
                <a:latin typeface="Verdana"/>
                <a:cs typeface="Verdana"/>
              </a:rPr>
              <a:t> </a:t>
            </a:r>
            <a:r>
              <a:rPr sz="2600" spc="-30" dirty="0">
                <a:solidFill>
                  <a:srgbClr val="C7C7C7"/>
                </a:solidFill>
                <a:latin typeface="Verdana"/>
                <a:cs typeface="Verdana"/>
              </a:rPr>
              <a:t>votes</a:t>
            </a:r>
            <a:r>
              <a:rPr sz="2600" spc="-235" dirty="0">
                <a:solidFill>
                  <a:srgbClr val="C7C7C7"/>
                </a:solidFill>
                <a:latin typeface="Verdana"/>
                <a:cs typeface="Verdana"/>
              </a:rPr>
              <a:t> </a:t>
            </a:r>
            <a:r>
              <a:rPr sz="2600" spc="95" dirty="0">
                <a:solidFill>
                  <a:srgbClr val="C7C7C7"/>
                </a:solidFill>
                <a:latin typeface="Verdana"/>
                <a:cs typeface="Verdana"/>
              </a:rPr>
              <a:t>on</a:t>
            </a:r>
            <a:r>
              <a:rPr sz="2600" spc="-229" dirty="0">
                <a:solidFill>
                  <a:srgbClr val="C7C7C7"/>
                </a:solidFill>
                <a:latin typeface="Verdana"/>
                <a:cs typeface="Verdana"/>
              </a:rPr>
              <a:t> </a:t>
            </a:r>
            <a:r>
              <a:rPr sz="2600" spc="-25" dirty="0">
                <a:solidFill>
                  <a:srgbClr val="C7C7C7"/>
                </a:solidFill>
                <a:latin typeface="Verdana"/>
                <a:cs typeface="Verdana"/>
              </a:rPr>
              <a:t>Zomato.</a:t>
            </a:r>
            <a:endParaRPr sz="2600" dirty="0">
              <a:latin typeface="Verdana"/>
              <a:cs typeface="Verdana"/>
            </a:endParaRPr>
          </a:p>
          <a:p>
            <a:pPr marL="12700" marR="549910" algn="just">
              <a:lnSpc>
                <a:spcPct val="100099"/>
              </a:lnSpc>
              <a:spcBef>
                <a:spcPts val="1725"/>
              </a:spcBef>
            </a:pPr>
            <a:r>
              <a:rPr sz="2700" spc="-20" dirty="0">
                <a:solidFill>
                  <a:srgbClr val="F6F6F6"/>
                </a:solidFill>
                <a:latin typeface="Verdana"/>
                <a:cs typeface="Verdana"/>
              </a:rPr>
              <a:t>Brazil </a:t>
            </a:r>
            <a:r>
              <a:rPr sz="2700" spc="-160" dirty="0">
                <a:solidFill>
                  <a:srgbClr val="F6F6F6"/>
                </a:solidFill>
                <a:latin typeface="Verdana"/>
                <a:cs typeface="Verdana"/>
              </a:rPr>
              <a:t>&amp; </a:t>
            </a:r>
            <a:r>
              <a:rPr sz="2700" spc="-50" dirty="0">
                <a:solidFill>
                  <a:srgbClr val="F6F6F6"/>
                </a:solidFill>
                <a:latin typeface="Verdana"/>
                <a:cs typeface="Verdana"/>
              </a:rPr>
              <a:t>Singapore: </a:t>
            </a:r>
            <a:r>
              <a:rPr sz="2700" spc="-105" dirty="0">
                <a:solidFill>
                  <a:srgbClr val="D4CCCC"/>
                </a:solidFill>
                <a:latin typeface="Verdana"/>
                <a:cs typeface="Verdana"/>
              </a:rPr>
              <a:t>In </a:t>
            </a:r>
            <a:r>
              <a:rPr sz="2700" spc="-45" dirty="0">
                <a:solidFill>
                  <a:srgbClr val="D4CCCC"/>
                </a:solidFill>
                <a:latin typeface="Verdana"/>
                <a:cs typeface="Verdana"/>
              </a:rPr>
              <a:t>contrast, </a:t>
            </a:r>
            <a:r>
              <a:rPr sz="2700" spc="-20" dirty="0">
                <a:solidFill>
                  <a:srgbClr val="D4CCCC"/>
                </a:solidFill>
                <a:latin typeface="Verdana"/>
                <a:cs typeface="Verdana"/>
              </a:rPr>
              <a:t>Brazil </a:t>
            </a:r>
            <a:r>
              <a:rPr sz="2700" spc="75" dirty="0">
                <a:solidFill>
                  <a:srgbClr val="D4CCCC"/>
                </a:solidFill>
                <a:latin typeface="Verdana"/>
                <a:cs typeface="Verdana"/>
              </a:rPr>
              <a:t>and </a:t>
            </a:r>
            <a:r>
              <a:rPr sz="2700" spc="15" dirty="0">
                <a:solidFill>
                  <a:srgbClr val="D4CCCC"/>
                </a:solidFill>
                <a:latin typeface="Verdana"/>
                <a:cs typeface="Verdana"/>
              </a:rPr>
              <a:t>Singapore </a:t>
            </a:r>
            <a:r>
              <a:rPr sz="2700" spc="-25" dirty="0">
                <a:solidFill>
                  <a:srgbClr val="D4CCCC"/>
                </a:solidFill>
                <a:latin typeface="Verdana"/>
                <a:cs typeface="Verdana"/>
              </a:rPr>
              <a:t>have </a:t>
            </a:r>
            <a:r>
              <a:rPr sz="2700" spc="-5" dirty="0">
                <a:solidFill>
                  <a:srgbClr val="D4CCCC"/>
                </a:solidFill>
                <a:latin typeface="Verdana"/>
                <a:cs typeface="Verdana"/>
              </a:rPr>
              <a:t>comparatively </a:t>
            </a:r>
            <a:r>
              <a:rPr sz="2700" spc="10" dirty="0">
                <a:solidFill>
                  <a:srgbClr val="D4CCCC"/>
                </a:solidFill>
                <a:latin typeface="Verdana"/>
                <a:cs typeface="Verdana"/>
              </a:rPr>
              <a:t>lower </a:t>
            </a:r>
            <a:r>
              <a:rPr sz="2700" spc="-40" dirty="0">
                <a:solidFill>
                  <a:srgbClr val="D4CCCC"/>
                </a:solidFill>
                <a:latin typeface="Verdana"/>
                <a:cs typeface="Verdana"/>
              </a:rPr>
              <a:t>average </a:t>
            </a:r>
            <a:r>
              <a:rPr sz="2700" spc="-35" dirty="0">
                <a:solidFill>
                  <a:srgbClr val="D4CCCC"/>
                </a:solidFill>
                <a:latin typeface="Verdana"/>
                <a:cs typeface="Verdana"/>
              </a:rPr>
              <a:t> </a:t>
            </a:r>
            <a:r>
              <a:rPr sz="2700" spc="-45" dirty="0">
                <a:solidFill>
                  <a:srgbClr val="D4CCCC"/>
                </a:solidFill>
                <a:latin typeface="Verdana"/>
                <a:cs typeface="Verdana"/>
              </a:rPr>
              <a:t>votes </a:t>
            </a:r>
            <a:r>
              <a:rPr sz="2700" spc="30" dirty="0">
                <a:solidFill>
                  <a:srgbClr val="D4CCCC"/>
                </a:solidFill>
                <a:latin typeface="Verdana"/>
                <a:cs typeface="Verdana"/>
              </a:rPr>
              <a:t>per </a:t>
            </a:r>
            <a:r>
              <a:rPr sz="2700" spc="-50" dirty="0">
                <a:solidFill>
                  <a:srgbClr val="D4CCCC"/>
                </a:solidFill>
                <a:latin typeface="Verdana"/>
                <a:cs typeface="Verdana"/>
              </a:rPr>
              <a:t>restaurant. </a:t>
            </a:r>
            <a:r>
              <a:rPr sz="2700" spc="-30" dirty="0">
                <a:solidFill>
                  <a:srgbClr val="D4CCCC"/>
                </a:solidFill>
                <a:latin typeface="Verdana"/>
                <a:cs typeface="Verdana"/>
              </a:rPr>
              <a:t>This </a:t>
            </a:r>
            <a:r>
              <a:rPr sz="2700" spc="40" dirty="0">
                <a:solidFill>
                  <a:srgbClr val="D4CCCC"/>
                </a:solidFill>
                <a:latin typeface="Verdana"/>
                <a:cs typeface="Verdana"/>
              </a:rPr>
              <a:t>trend </a:t>
            </a:r>
            <a:r>
              <a:rPr sz="2700" spc="65" dirty="0">
                <a:solidFill>
                  <a:srgbClr val="D4CCCC"/>
                </a:solidFill>
                <a:latin typeface="Verdana"/>
                <a:cs typeface="Verdana"/>
              </a:rPr>
              <a:t>can </a:t>
            </a:r>
            <a:r>
              <a:rPr sz="2700" spc="85" dirty="0">
                <a:solidFill>
                  <a:srgbClr val="D4CCCC"/>
                </a:solidFill>
                <a:latin typeface="Verdana"/>
                <a:cs typeface="Verdana"/>
              </a:rPr>
              <a:t>be </a:t>
            </a:r>
            <a:r>
              <a:rPr sz="2700" spc="25" dirty="0">
                <a:solidFill>
                  <a:srgbClr val="D4CCCC"/>
                </a:solidFill>
                <a:latin typeface="Verdana"/>
                <a:cs typeface="Verdana"/>
              </a:rPr>
              <a:t>attributed </a:t>
            </a:r>
            <a:r>
              <a:rPr sz="2700" spc="15" dirty="0">
                <a:solidFill>
                  <a:srgbClr val="D4CCCC"/>
                </a:solidFill>
                <a:latin typeface="Verdana"/>
                <a:cs typeface="Verdana"/>
              </a:rPr>
              <a:t>to </a:t>
            </a:r>
            <a:r>
              <a:rPr sz="2700" spc="5" dirty="0">
                <a:solidFill>
                  <a:srgbClr val="D4CCCC"/>
                </a:solidFill>
                <a:latin typeface="Verdana"/>
                <a:cs typeface="Verdana"/>
              </a:rPr>
              <a:t>smaller </a:t>
            </a:r>
            <a:r>
              <a:rPr sz="2700" spc="45" dirty="0">
                <a:solidFill>
                  <a:srgbClr val="D4CCCC"/>
                </a:solidFill>
                <a:latin typeface="Verdana"/>
                <a:cs typeface="Verdana"/>
              </a:rPr>
              <a:t>populations </a:t>
            </a:r>
            <a:r>
              <a:rPr sz="2700" spc="75" dirty="0">
                <a:solidFill>
                  <a:srgbClr val="D4CCCC"/>
                </a:solidFill>
                <a:latin typeface="Verdana"/>
                <a:cs typeface="Verdana"/>
              </a:rPr>
              <a:t>and </a:t>
            </a:r>
            <a:r>
              <a:rPr sz="2700" spc="10" dirty="0">
                <a:solidFill>
                  <a:srgbClr val="D4CCCC"/>
                </a:solidFill>
                <a:latin typeface="Verdana"/>
                <a:cs typeface="Verdana"/>
              </a:rPr>
              <a:t>lower </a:t>
            </a:r>
            <a:r>
              <a:rPr sz="2700" spc="-10" dirty="0">
                <a:solidFill>
                  <a:srgbClr val="D4CCCC"/>
                </a:solidFill>
                <a:latin typeface="Verdana"/>
                <a:cs typeface="Verdana"/>
              </a:rPr>
              <a:t>user </a:t>
            </a:r>
            <a:r>
              <a:rPr sz="2700" spc="-5" dirty="0">
                <a:solidFill>
                  <a:srgbClr val="D4CCCC"/>
                </a:solidFill>
                <a:latin typeface="Verdana"/>
                <a:cs typeface="Verdana"/>
              </a:rPr>
              <a:t> </a:t>
            </a:r>
            <a:r>
              <a:rPr sz="2700" spc="85" dirty="0">
                <a:solidFill>
                  <a:srgbClr val="D4CCCC"/>
                </a:solidFill>
                <a:latin typeface="Verdana"/>
                <a:cs typeface="Verdana"/>
              </a:rPr>
              <a:t>engagement on </a:t>
            </a:r>
            <a:r>
              <a:rPr sz="2700" spc="55" dirty="0">
                <a:solidFill>
                  <a:srgbClr val="D4CCCC"/>
                </a:solidFill>
                <a:latin typeface="Verdana"/>
                <a:cs typeface="Verdana"/>
              </a:rPr>
              <a:t>the </a:t>
            </a:r>
            <a:r>
              <a:rPr sz="2700" spc="-15" dirty="0">
                <a:solidFill>
                  <a:srgbClr val="D4CCCC"/>
                </a:solidFill>
                <a:latin typeface="Verdana"/>
                <a:cs typeface="Verdana"/>
              </a:rPr>
              <a:t>platform. Additionally, </a:t>
            </a:r>
            <a:r>
              <a:rPr sz="2700" spc="20" dirty="0">
                <a:solidFill>
                  <a:srgbClr val="D4CCCC"/>
                </a:solidFill>
                <a:latin typeface="Verdana"/>
                <a:cs typeface="Verdana"/>
              </a:rPr>
              <a:t>these countries </a:t>
            </a:r>
            <a:r>
              <a:rPr sz="2700" spc="25" dirty="0">
                <a:solidFill>
                  <a:srgbClr val="D4CCCC"/>
                </a:solidFill>
                <a:latin typeface="Verdana"/>
                <a:cs typeface="Verdana"/>
              </a:rPr>
              <a:t>often </a:t>
            </a:r>
            <a:r>
              <a:rPr sz="2700" spc="-10" dirty="0">
                <a:solidFill>
                  <a:srgbClr val="D4CCCC"/>
                </a:solidFill>
                <a:latin typeface="Verdana"/>
                <a:cs typeface="Verdana"/>
              </a:rPr>
              <a:t>feature </a:t>
            </a:r>
            <a:r>
              <a:rPr sz="2700" spc="-25" dirty="0">
                <a:solidFill>
                  <a:srgbClr val="D4CCCC"/>
                </a:solidFill>
                <a:latin typeface="Verdana"/>
                <a:cs typeface="Verdana"/>
              </a:rPr>
              <a:t>restaurants </a:t>
            </a:r>
            <a:r>
              <a:rPr sz="2700" spc="70" dirty="0">
                <a:solidFill>
                  <a:srgbClr val="D4CCCC"/>
                </a:solidFill>
                <a:latin typeface="Verdana"/>
                <a:cs typeface="Verdana"/>
              </a:rPr>
              <a:t>with </a:t>
            </a:r>
            <a:r>
              <a:rPr sz="2700" spc="-935" dirty="0">
                <a:solidFill>
                  <a:srgbClr val="D4CCCC"/>
                </a:solidFill>
                <a:latin typeface="Verdana"/>
                <a:cs typeface="Verdana"/>
              </a:rPr>
              <a:t> </a:t>
            </a:r>
            <a:r>
              <a:rPr sz="2700" spc="10" dirty="0">
                <a:solidFill>
                  <a:srgbClr val="D4CCCC"/>
                </a:solidFill>
                <a:latin typeface="Verdana"/>
                <a:cs typeface="Verdana"/>
              </a:rPr>
              <a:t>lower</a:t>
            </a:r>
            <a:r>
              <a:rPr sz="2700" spc="-185" dirty="0">
                <a:solidFill>
                  <a:srgbClr val="D4CCCC"/>
                </a:solidFill>
                <a:latin typeface="Verdana"/>
                <a:cs typeface="Verdana"/>
              </a:rPr>
              <a:t> </a:t>
            </a:r>
            <a:r>
              <a:rPr sz="2700" spc="-55" dirty="0">
                <a:solidFill>
                  <a:srgbClr val="D4CCCC"/>
                </a:solidFill>
                <a:latin typeface="Verdana"/>
                <a:cs typeface="Verdana"/>
              </a:rPr>
              <a:t>ratings,</a:t>
            </a:r>
            <a:r>
              <a:rPr sz="2700" spc="-180" dirty="0">
                <a:solidFill>
                  <a:srgbClr val="D4CCCC"/>
                </a:solidFill>
                <a:latin typeface="Verdana"/>
                <a:cs typeface="Verdana"/>
              </a:rPr>
              <a:t> </a:t>
            </a:r>
            <a:r>
              <a:rPr sz="2700" spc="90" dirty="0">
                <a:solidFill>
                  <a:srgbClr val="D4CCCC"/>
                </a:solidFill>
                <a:latin typeface="Verdana"/>
                <a:cs typeface="Verdana"/>
              </a:rPr>
              <a:t>which</a:t>
            </a:r>
            <a:r>
              <a:rPr sz="2700" spc="-180" dirty="0">
                <a:solidFill>
                  <a:srgbClr val="D4CCCC"/>
                </a:solidFill>
                <a:latin typeface="Verdana"/>
                <a:cs typeface="Verdana"/>
              </a:rPr>
              <a:t> </a:t>
            </a:r>
            <a:r>
              <a:rPr sz="2700" spc="105" dirty="0">
                <a:solidFill>
                  <a:srgbClr val="D4CCCC"/>
                </a:solidFill>
                <a:latin typeface="Verdana"/>
                <a:cs typeface="Verdana"/>
              </a:rPr>
              <a:t>might</a:t>
            </a:r>
            <a:r>
              <a:rPr sz="2700" spc="-180" dirty="0">
                <a:solidFill>
                  <a:srgbClr val="D4CCCC"/>
                </a:solidFill>
                <a:latin typeface="Verdana"/>
                <a:cs typeface="Verdana"/>
              </a:rPr>
              <a:t> </a:t>
            </a:r>
            <a:r>
              <a:rPr sz="2700" spc="25" dirty="0">
                <a:solidFill>
                  <a:srgbClr val="D4CCCC"/>
                </a:solidFill>
                <a:latin typeface="Verdana"/>
                <a:cs typeface="Verdana"/>
              </a:rPr>
              <a:t>discourage</a:t>
            </a:r>
            <a:r>
              <a:rPr sz="2700" spc="-180" dirty="0">
                <a:solidFill>
                  <a:srgbClr val="D4CCCC"/>
                </a:solidFill>
                <a:latin typeface="Verdana"/>
                <a:cs typeface="Verdana"/>
              </a:rPr>
              <a:t> </a:t>
            </a:r>
            <a:r>
              <a:rPr sz="2700" spc="-30" dirty="0">
                <a:solidFill>
                  <a:srgbClr val="D4CCCC"/>
                </a:solidFill>
                <a:latin typeface="Verdana"/>
                <a:cs typeface="Verdana"/>
              </a:rPr>
              <a:t>users</a:t>
            </a:r>
            <a:r>
              <a:rPr sz="2700" spc="-185" dirty="0">
                <a:solidFill>
                  <a:srgbClr val="D4CCCC"/>
                </a:solidFill>
                <a:latin typeface="Verdana"/>
                <a:cs typeface="Verdana"/>
              </a:rPr>
              <a:t> </a:t>
            </a:r>
            <a:r>
              <a:rPr sz="2700" spc="35" dirty="0">
                <a:solidFill>
                  <a:srgbClr val="D4CCCC"/>
                </a:solidFill>
                <a:latin typeface="Verdana"/>
                <a:cs typeface="Verdana"/>
              </a:rPr>
              <a:t>from</a:t>
            </a:r>
            <a:r>
              <a:rPr sz="2700" spc="-180" dirty="0">
                <a:solidFill>
                  <a:srgbClr val="D4CCCC"/>
                </a:solidFill>
                <a:latin typeface="Verdana"/>
                <a:cs typeface="Verdana"/>
              </a:rPr>
              <a:t> </a:t>
            </a:r>
            <a:r>
              <a:rPr sz="2700" spc="5" dirty="0">
                <a:solidFill>
                  <a:srgbClr val="D4CCCC"/>
                </a:solidFill>
                <a:latin typeface="Verdana"/>
                <a:cs typeface="Verdana"/>
              </a:rPr>
              <a:t>leaving</a:t>
            </a:r>
            <a:r>
              <a:rPr sz="2700" spc="-180" dirty="0">
                <a:solidFill>
                  <a:srgbClr val="D4CCCC"/>
                </a:solidFill>
                <a:latin typeface="Verdana"/>
                <a:cs typeface="Verdana"/>
              </a:rPr>
              <a:t> </a:t>
            </a:r>
            <a:r>
              <a:rPr sz="2700" spc="-5" dirty="0">
                <a:solidFill>
                  <a:srgbClr val="D4CCCC"/>
                </a:solidFill>
                <a:latin typeface="Verdana"/>
                <a:cs typeface="Verdana"/>
              </a:rPr>
              <a:t>feedback,</a:t>
            </a:r>
            <a:r>
              <a:rPr sz="2700" spc="-180" dirty="0">
                <a:solidFill>
                  <a:srgbClr val="D4CCCC"/>
                </a:solidFill>
                <a:latin typeface="Verdana"/>
                <a:cs typeface="Verdana"/>
              </a:rPr>
              <a:t> </a:t>
            </a:r>
            <a:r>
              <a:rPr sz="2700" spc="20" dirty="0">
                <a:solidFill>
                  <a:srgbClr val="D4CCCC"/>
                </a:solidFill>
                <a:latin typeface="Verdana"/>
                <a:cs typeface="Verdana"/>
              </a:rPr>
              <a:t>further</a:t>
            </a:r>
            <a:r>
              <a:rPr sz="2700" spc="-180" dirty="0">
                <a:solidFill>
                  <a:srgbClr val="D4CCCC"/>
                </a:solidFill>
                <a:latin typeface="Verdana"/>
                <a:cs typeface="Verdana"/>
              </a:rPr>
              <a:t> </a:t>
            </a:r>
            <a:r>
              <a:rPr sz="2700" spc="60" dirty="0">
                <a:solidFill>
                  <a:srgbClr val="D4CCCC"/>
                </a:solidFill>
                <a:latin typeface="Verdana"/>
                <a:cs typeface="Verdana"/>
              </a:rPr>
              <a:t>contributing</a:t>
            </a:r>
            <a:r>
              <a:rPr sz="2700" spc="-180" dirty="0">
                <a:solidFill>
                  <a:srgbClr val="D4CCCC"/>
                </a:solidFill>
                <a:latin typeface="Verdana"/>
                <a:cs typeface="Verdana"/>
              </a:rPr>
              <a:t> </a:t>
            </a:r>
            <a:r>
              <a:rPr sz="2700" spc="15" dirty="0">
                <a:solidFill>
                  <a:srgbClr val="D4CCCC"/>
                </a:solidFill>
                <a:latin typeface="Verdana"/>
                <a:cs typeface="Verdana"/>
              </a:rPr>
              <a:t>to </a:t>
            </a:r>
            <a:r>
              <a:rPr sz="2700" spc="-940" dirty="0">
                <a:solidFill>
                  <a:srgbClr val="D4CCCC"/>
                </a:solidFill>
                <a:latin typeface="Verdana"/>
                <a:cs typeface="Verdana"/>
              </a:rPr>
              <a:t> </a:t>
            </a:r>
            <a:r>
              <a:rPr sz="2700" spc="55" dirty="0">
                <a:solidFill>
                  <a:srgbClr val="D4CCCC"/>
                </a:solidFill>
                <a:latin typeface="Verdana"/>
                <a:cs typeface="Verdana"/>
              </a:rPr>
              <a:t>the</a:t>
            </a:r>
            <a:r>
              <a:rPr sz="2700" spc="-250" dirty="0">
                <a:solidFill>
                  <a:srgbClr val="D4CCCC"/>
                </a:solidFill>
                <a:latin typeface="Verdana"/>
                <a:cs typeface="Verdana"/>
              </a:rPr>
              <a:t> </a:t>
            </a:r>
            <a:r>
              <a:rPr sz="2700" spc="60" dirty="0">
                <a:solidFill>
                  <a:srgbClr val="D4CCCC"/>
                </a:solidFill>
                <a:latin typeface="Verdana"/>
                <a:cs typeface="Verdana"/>
              </a:rPr>
              <a:t>reduced</a:t>
            </a:r>
            <a:r>
              <a:rPr sz="2700" spc="-245" dirty="0">
                <a:solidFill>
                  <a:srgbClr val="D4CCCC"/>
                </a:solidFill>
                <a:latin typeface="Verdana"/>
                <a:cs typeface="Verdana"/>
              </a:rPr>
              <a:t> </a:t>
            </a:r>
            <a:r>
              <a:rPr sz="2700" spc="-35" dirty="0">
                <a:solidFill>
                  <a:srgbClr val="D4CCCC"/>
                </a:solidFill>
                <a:latin typeface="Verdana"/>
                <a:cs typeface="Verdana"/>
              </a:rPr>
              <a:t>vote</a:t>
            </a:r>
            <a:r>
              <a:rPr sz="2700" spc="-245" dirty="0">
                <a:solidFill>
                  <a:srgbClr val="D4CCCC"/>
                </a:solidFill>
                <a:latin typeface="Verdana"/>
                <a:cs typeface="Verdana"/>
              </a:rPr>
              <a:t> </a:t>
            </a:r>
            <a:r>
              <a:rPr sz="2700" dirty="0">
                <a:solidFill>
                  <a:srgbClr val="D4CCCC"/>
                </a:solidFill>
                <a:latin typeface="Verdana"/>
                <a:cs typeface="Verdana"/>
              </a:rPr>
              <a:t>count</a:t>
            </a:r>
            <a:r>
              <a:rPr sz="2700" dirty="0">
                <a:solidFill>
                  <a:srgbClr val="F6F6F6"/>
                </a:solidFill>
                <a:latin typeface="Verdana"/>
                <a:cs typeface="Verdana"/>
              </a:rPr>
              <a:t>.</a:t>
            </a:r>
            <a:endParaRPr sz="27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50043" y="93611"/>
            <a:ext cx="8229600" cy="512445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11929" y="119024"/>
            <a:ext cx="8773160" cy="59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750" spc="45" dirty="0">
                <a:solidFill>
                  <a:srgbClr val="000000"/>
                </a:solidFill>
                <a:latin typeface="Cambria"/>
                <a:cs typeface="Cambria"/>
              </a:rPr>
              <a:t>Annual</a:t>
            </a:r>
            <a:r>
              <a:rPr sz="3750" spc="1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750" spc="5" dirty="0">
                <a:solidFill>
                  <a:srgbClr val="000000"/>
                </a:solidFill>
                <a:latin typeface="Cambria"/>
                <a:cs typeface="Cambria"/>
              </a:rPr>
              <a:t>Restaurant </a:t>
            </a:r>
            <a:r>
              <a:rPr sz="3750" spc="75" dirty="0">
                <a:solidFill>
                  <a:srgbClr val="000000"/>
                </a:solidFill>
                <a:latin typeface="Cambria"/>
                <a:cs typeface="Cambria"/>
              </a:rPr>
              <a:t>Openings</a:t>
            </a:r>
            <a:r>
              <a:rPr sz="3750" spc="1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750" spc="5" dirty="0">
                <a:solidFill>
                  <a:srgbClr val="000000"/>
                </a:solidFill>
                <a:latin typeface="Cambria"/>
                <a:cs typeface="Cambria"/>
              </a:rPr>
              <a:t>Overview:</a:t>
            </a:r>
            <a:endParaRPr sz="375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4915" y="4221746"/>
            <a:ext cx="95250" cy="952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4915" y="4955171"/>
            <a:ext cx="95250" cy="952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5719" y="5826976"/>
            <a:ext cx="95250" cy="9525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5719" y="6560401"/>
            <a:ext cx="95250" cy="9525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5719" y="6922351"/>
            <a:ext cx="95250" cy="9525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5719" y="7293826"/>
            <a:ext cx="95250" cy="9525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35719" y="7655776"/>
            <a:ext cx="95250" cy="9525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5719" y="8027251"/>
            <a:ext cx="95250" cy="9525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35719" y="8751151"/>
            <a:ext cx="95250" cy="95250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357439" y="858405"/>
            <a:ext cx="17455515" cy="86062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5730" marR="8377555" algn="just">
              <a:lnSpc>
                <a:spcPct val="100000"/>
              </a:lnSpc>
              <a:spcBef>
                <a:spcPts val="100"/>
              </a:spcBef>
            </a:pPr>
            <a:r>
              <a:rPr sz="2400" spc="5" dirty="0">
                <a:latin typeface="Verdana"/>
                <a:cs typeface="Verdana"/>
              </a:rPr>
              <a:t>The </a:t>
            </a:r>
            <a:r>
              <a:rPr sz="2400" spc="25" dirty="0">
                <a:latin typeface="Verdana"/>
                <a:cs typeface="Verdana"/>
              </a:rPr>
              <a:t>data </a:t>
            </a:r>
            <a:r>
              <a:rPr sz="2400" spc="-10" dirty="0">
                <a:latin typeface="Verdana"/>
                <a:cs typeface="Verdana"/>
              </a:rPr>
              <a:t>reﬂects </a:t>
            </a:r>
            <a:r>
              <a:rPr sz="2400" spc="-30" dirty="0">
                <a:latin typeface="Verdana"/>
                <a:cs typeface="Verdana"/>
              </a:rPr>
              <a:t>a </a:t>
            </a:r>
            <a:r>
              <a:rPr sz="2400" spc="-10" dirty="0">
                <a:latin typeface="Verdana"/>
                <a:cs typeface="Verdana"/>
              </a:rPr>
              <a:t>generally </a:t>
            </a:r>
            <a:r>
              <a:rPr sz="2400" spc="10" dirty="0">
                <a:latin typeface="Verdana"/>
                <a:cs typeface="Verdana"/>
              </a:rPr>
              <a:t>stable </a:t>
            </a:r>
            <a:r>
              <a:rPr sz="2400" spc="60" dirty="0">
                <a:latin typeface="Verdana"/>
                <a:cs typeface="Verdana"/>
              </a:rPr>
              <a:t>growth </a:t>
            </a:r>
            <a:r>
              <a:rPr sz="2400" spc="15" dirty="0">
                <a:latin typeface="Verdana"/>
                <a:cs typeface="Verdana"/>
              </a:rPr>
              <a:t>pattern </a:t>
            </a:r>
            <a:r>
              <a:rPr sz="2400" spc="45" dirty="0">
                <a:latin typeface="Verdana"/>
                <a:cs typeface="Verdana"/>
              </a:rPr>
              <a:t>in </a:t>
            </a:r>
            <a:r>
              <a:rPr sz="2400" spc="50" dirty="0">
                <a:latin typeface="Verdana"/>
                <a:cs typeface="Verdana"/>
              </a:rPr>
              <a:t>the</a:t>
            </a:r>
            <a:r>
              <a:rPr lang="en-IN" sz="2400" spc="50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restaurant</a:t>
            </a:r>
            <a:r>
              <a:rPr sz="2400" spc="-90" dirty="0">
                <a:latin typeface="Verdana"/>
                <a:cs typeface="Verdana"/>
              </a:rPr>
              <a:t> </a:t>
            </a:r>
            <a:r>
              <a:rPr sz="2400" spc="-40" dirty="0">
                <a:latin typeface="Verdana"/>
                <a:cs typeface="Verdana"/>
              </a:rPr>
              <a:t>industry,</a:t>
            </a:r>
            <a:r>
              <a:rPr sz="2400" spc="-90" dirty="0">
                <a:latin typeface="Verdana"/>
                <a:cs typeface="Verdana"/>
              </a:rPr>
              <a:t> </a:t>
            </a:r>
            <a:r>
              <a:rPr sz="2400" spc="65" dirty="0">
                <a:latin typeface="Verdana"/>
                <a:cs typeface="Verdana"/>
              </a:rPr>
              <a:t>with</a:t>
            </a:r>
            <a:r>
              <a:rPr sz="2400" spc="-85" dirty="0">
                <a:latin typeface="Verdana"/>
                <a:cs typeface="Verdana"/>
              </a:rPr>
              <a:t> </a:t>
            </a:r>
            <a:r>
              <a:rPr sz="2400" spc="20" dirty="0">
                <a:latin typeface="Verdana"/>
                <a:cs typeface="Verdana"/>
              </a:rPr>
              <a:t>occasional</a:t>
            </a:r>
            <a:r>
              <a:rPr sz="2400" spc="-90" dirty="0">
                <a:latin typeface="Verdana"/>
                <a:cs typeface="Verdana"/>
              </a:rPr>
              <a:t> </a:t>
            </a:r>
            <a:r>
              <a:rPr sz="2400" spc="30" dirty="0">
                <a:latin typeface="Verdana"/>
                <a:cs typeface="Verdana"/>
              </a:rPr>
              <a:t>ﬂuctuations</a:t>
            </a:r>
            <a:r>
              <a:rPr sz="2400" spc="-90" dirty="0">
                <a:latin typeface="Verdana"/>
                <a:cs typeface="Verdana"/>
              </a:rPr>
              <a:t> </a:t>
            </a:r>
            <a:r>
              <a:rPr sz="2400" spc="-30" dirty="0">
                <a:latin typeface="Verdana"/>
                <a:cs typeface="Verdana"/>
              </a:rPr>
              <a:t>likely</a:t>
            </a:r>
            <a:r>
              <a:rPr sz="2400" spc="-85" dirty="0">
                <a:latin typeface="Verdana"/>
                <a:cs typeface="Verdana"/>
              </a:rPr>
              <a:t> </a:t>
            </a:r>
            <a:r>
              <a:rPr sz="2400" spc="80" dirty="0">
                <a:latin typeface="Verdana"/>
                <a:cs typeface="Verdana"/>
              </a:rPr>
              <a:t>due</a:t>
            </a:r>
            <a:r>
              <a:rPr lang="en-IN" sz="2400" spc="80" dirty="0">
                <a:latin typeface="Verdana"/>
                <a:cs typeface="Verdana"/>
              </a:rPr>
              <a:t> </a:t>
            </a:r>
            <a:r>
              <a:rPr sz="2400" spc="10" dirty="0">
                <a:latin typeface="Verdana"/>
                <a:cs typeface="Verdana"/>
              </a:rPr>
              <a:t>to </a:t>
            </a:r>
            <a:r>
              <a:rPr sz="2400" spc="70" dirty="0">
                <a:latin typeface="Verdana"/>
                <a:cs typeface="Verdana"/>
              </a:rPr>
              <a:t>economic </a:t>
            </a:r>
            <a:r>
              <a:rPr sz="2400" spc="40" dirty="0">
                <a:latin typeface="Verdana"/>
                <a:cs typeface="Verdana"/>
              </a:rPr>
              <a:t>conditions </a:t>
            </a:r>
            <a:r>
              <a:rPr sz="2400" spc="-10" dirty="0">
                <a:latin typeface="Verdana"/>
                <a:cs typeface="Verdana"/>
              </a:rPr>
              <a:t>or </a:t>
            </a:r>
            <a:r>
              <a:rPr sz="2400" spc="20" dirty="0">
                <a:latin typeface="Verdana"/>
                <a:cs typeface="Verdana"/>
              </a:rPr>
              <a:t>market </a:t>
            </a:r>
            <a:r>
              <a:rPr sz="2400" spc="-10" dirty="0">
                <a:latin typeface="Verdana"/>
                <a:cs typeface="Verdana"/>
              </a:rPr>
              <a:t>dynamics. </a:t>
            </a:r>
            <a:r>
              <a:rPr sz="2400" spc="5" dirty="0">
                <a:latin typeface="Verdana"/>
                <a:cs typeface="Verdana"/>
              </a:rPr>
              <a:t>The </a:t>
            </a:r>
            <a:r>
              <a:rPr sz="2400" spc="25" dirty="0">
                <a:latin typeface="Verdana"/>
                <a:cs typeface="Verdana"/>
              </a:rPr>
              <a:t>peak </a:t>
            </a:r>
            <a:r>
              <a:rPr sz="2400" spc="45" dirty="0">
                <a:latin typeface="Verdana"/>
                <a:cs typeface="Verdana"/>
              </a:rPr>
              <a:t>in </a:t>
            </a:r>
            <a:r>
              <a:rPr sz="2400" spc="-830" dirty="0">
                <a:latin typeface="Verdana"/>
                <a:cs typeface="Verdana"/>
              </a:rPr>
              <a:t> </a:t>
            </a:r>
            <a:r>
              <a:rPr sz="2400" spc="-170" dirty="0">
                <a:latin typeface="Verdana"/>
                <a:cs typeface="Verdana"/>
              </a:rPr>
              <a:t>2</a:t>
            </a:r>
            <a:r>
              <a:rPr sz="2400" spc="-200" dirty="0">
                <a:latin typeface="Verdana"/>
                <a:cs typeface="Verdana"/>
              </a:rPr>
              <a:t>018</a:t>
            </a:r>
            <a:r>
              <a:rPr sz="2400" spc="-130" dirty="0">
                <a:latin typeface="Verdana"/>
                <a:cs typeface="Verdana"/>
              </a:rPr>
              <a:t> </a:t>
            </a:r>
            <a:r>
              <a:rPr sz="2400" spc="25" dirty="0">
                <a:latin typeface="Verdana"/>
                <a:cs typeface="Verdana"/>
              </a:rPr>
              <a:t>suggests</a:t>
            </a:r>
            <a:r>
              <a:rPr sz="2400" spc="-130" dirty="0">
                <a:latin typeface="Verdana"/>
                <a:cs typeface="Verdana"/>
              </a:rPr>
              <a:t> </a:t>
            </a:r>
            <a:r>
              <a:rPr sz="2400" spc="-30" dirty="0">
                <a:latin typeface="Verdana"/>
                <a:cs typeface="Verdana"/>
              </a:rPr>
              <a:t>a</a:t>
            </a:r>
            <a:r>
              <a:rPr sz="2400" spc="-130" dirty="0">
                <a:latin typeface="Verdana"/>
                <a:cs typeface="Verdana"/>
              </a:rPr>
              <a:t> </a:t>
            </a:r>
            <a:r>
              <a:rPr sz="2400" spc="-40" dirty="0">
                <a:latin typeface="Verdana"/>
                <a:cs typeface="Verdana"/>
              </a:rPr>
              <a:t>st</a:t>
            </a:r>
            <a:r>
              <a:rPr sz="2400" spc="-75" dirty="0">
                <a:latin typeface="Verdana"/>
                <a:cs typeface="Verdana"/>
              </a:rPr>
              <a:t>r</a:t>
            </a:r>
            <a:r>
              <a:rPr sz="2400" spc="100" dirty="0">
                <a:latin typeface="Verdana"/>
                <a:cs typeface="Verdana"/>
              </a:rPr>
              <a:t>ong</a:t>
            </a:r>
            <a:r>
              <a:rPr sz="2400" spc="-130" dirty="0">
                <a:latin typeface="Verdana"/>
                <a:cs typeface="Verdana"/>
              </a:rPr>
              <a:t> </a:t>
            </a:r>
            <a:r>
              <a:rPr sz="2400" spc="85" dirty="0">
                <a:latin typeface="Verdana"/>
                <a:cs typeface="Verdana"/>
              </a:rPr>
              <a:t>end</a:t>
            </a:r>
            <a:r>
              <a:rPr sz="2400" spc="-130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t</a:t>
            </a:r>
            <a:r>
              <a:rPr sz="2400" spc="45" dirty="0">
                <a:latin typeface="Verdana"/>
                <a:cs typeface="Verdana"/>
              </a:rPr>
              <a:t>o</a:t>
            </a:r>
            <a:r>
              <a:rPr sz="2400" spc="-130" dirty="0">
                <a:latin typeface="Verdana"/>
                <a:cs typeface="Verdana"/>
              </a:rPr>
              <a:t> </a:t>
            </a:r>
            <a:r>
              <a:rPr sz="2400" spc="50" dirty="0">
                <a:latin typeface="Verdana"/>
                <a:cs typeface="Verdana"/>
              </a:rPr>
              <a:t>the</a:t>
            </a:r>
            <a:r>
              <a:rPr sz="2400" spc="-1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decade,</a:t>
            </a:r>
            <a:r>
              <a:rPr sz="2400" spc="-130" dirty="0">
                <a:latin typeface="Verdana"/>
                <a:cs typeface="Verdana"/>
              </a:rPr>
              <a:t> </a:t>
            </a:r>
            <a:r>
              <a:rPr sz="2400" spc="65" dirty="0">
                <a:latin typeface="Verdana"/>
                <a:cs typeface="Verdana"/>
              </a:rPr>
              <a:t>with</a:t>
            </a:r>
            <a:r>
              <a:rPr sz="2400" spc="-130" dirty="0">
                <a:latin typeface="Verdana"/>
                <a:cs typeface="Verdana"/>
              </a:rPr>
              <a:t> </a:t>
            </a:r>
            <a:r>
              <a:rPr sz="2400" spc="30" dirty="0">
                <a:latin typeface="Verdana"/>
                <a:cs typeface="Verdana"/>
              </a:rPr>
              <a:t>signiﬁcant</a:t>
            </a:r>
            <a:r>
              <a:rPr lang="en-IN" sz="2400" spc="30" dirty="0">
                <a:latin typeface="Verdana"/>
                <a:cs typeface="Verdana"/>
              </a:rPr>
              <a:t> </a:t>
            </a:r>
            <a:r>
              <a:rPr sz="2400" spc="20" dirty="0">
                <a:latin typeface="Verdana"/>
                <a:cs typeface="Verdana"/>
              </a:rPr>
              <a:t>market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10" dirty="0">
                <a:latin typeface="Verdana"/>
                <a:cs typeface="Verdana"/>
              </a:rPr>
              <a:t>expansion </a:t>
            </a:r>
            <a:r>
              <a:rPr sz="2400" spc="70" dirty="0">
                <a:latin typeface="Verdana"/>
                <a:cs typeface="Verdana"/>
              </a:rPr>
              <a:t>and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50" dirty="0">
                <a:latin typeface="Verdana"/>
                <a:cs typeface="Verdana"/>
              </a:rPr>
              <a:t>consumer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95" dirty="0">
                <a:latin typeface="Verdana"/>
                <a:cs typeface="Verdana"/>
              </a:rPr>
              <a:t>demand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for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80" dirty="0">
                <a:latin typeface="Verdana"/>
                <a:cs typeface="Verdana"/>
              </a:rPr>
              <a:t>new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75" dirty="0">
                <a:latin typeface="Verdana"/>
                <a:cs typeface="Verdana"/>
              </a:rPr>
              <a:t>dining</a:t>
            </a:r>
            <a:r>
              <a:rPr lang="en-IN" sz="2400" spc="75" dirty="0">
                <a:latin typeface="Verdana"/>
                <a:cs typeface="Verdana"/>
              </a:rPr>
              <a:t> </a:t>
            </a:r>
            <a:r>
              <a:rPr sz="2400" spc="-30" dirty="0">
                <a:latin typeface="Verdana"/>
                <a:cs typeface="Verdana"/>
              </a:rPr>
              <a:t>experiences.</a:t>
            </a:r>
            <a:endParaRPr sz="2400" dirty="0">
              <a:latin typeface="Verdana"/>
              <a:cs typeface="Verdana"/>
            </a:endParaRPr>
          </a:p>
          <a:p>
            <a:pPr marL="12700" marR="8373109" algn="just">
              <a:lnSpc>
                <a:spcPct val="101600"/>
              </a:lnSpc>
              <a:spcBef>
                <a:spcPts val="2005"/>
              </a:spcBef>
            </a:pPr>
            <a:r>
              <a:rPr sz="2400" spc="20" dirty="0">
                <a:latin typeface="Verdana"/>
                <a:cs typeface="Verdana"/>
              </a:rPr>
              <a:t>Analyzing</a:t>
            </a:r>
            <a:r>
              <a:rPr sz="2400" spc="-215" dirty="0">
                <a:latin typeface="Verdana"/>
                <a:cs typeface="Verdana"/>
              </a:rPr>
              <a:t> </a:t>
            </a:r>
            <a:r>
              <a:rPr sz="2400" spc="50" dirty="0">
                <a:latin typeface="Verdana"/>
                <a:cs typeface="Verdana"/>
              </a:rPr>
              <a:t>the</a:t>
            </a:r>
            <a:r>
              <a:rPr sz="2400" spc="-210" dirty="0">
                <a:latin typeface="Verdana"/>
                <a:cs typeface="Verdana"/>
              </a:rPr>
              <a:t> </a:t>
            </a:r>
            <a:r>
              <a:rPr sz="2400" spc="-55" dirty="0">
                <a:latin typeface="Verdana"/>
                <a:cs typeface="Verdana"/>
              </a:rPr>
              <a:t>data,</a:t>
            </a:r>
            <a:r>
              <a:rPr sz="2400" spc="-210" dirty="0">
                <a:latin typeface="Verdana"/>
                <a:cs typeface="Verdana"/>
              </a:rPr>
              <a:t> </a:t>
            </a:r>
            <a:r>
              <a:rPr sz="2400" spc="60" dirty="0">
                <a:latin typeface="Verdana"/>
                <a:cs typeface="Verdana"/>
              </a:rPr>
              <a:t>we</a:t>
            </a:r>
            <a:r>
              <a:rPr sz="2400" spc="-210" dirty="0">
                <a:latin typeface="Verdana"/>
                <a:cs typeface="Verdana"/>
              </a:rPr>
              <a:t> </a:t>
            </a:r>
            <a:r>
              <a:rPr sz="2400" spc="55" dirty="0">
                <a:latin typeface="Verdana"/>
                <a:cs typeface="Verdana"/>
              </a:rPr>
              <a:t>can</a:t>
            </a:r>
            <a:r>
              <a:rPr sz="2400" spc="-21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observe</a:t>
            </a:r>
            <a:r>
              <a:rPr sz="2400" spc="-210" dirty="0">
                <a:latin typeface="Verdana"/>
                <a:cs typeface="Verdana"/>
              </a:rPr>
              <a:t> </a:t>
            </a:r>
            <a:r>
              <a:rPr sz="2400" spc="50" dirty="0">
                <a:latin typeface="Verdana"/>
                <a:cs typeface="Verdana"/>
              </a:rPr>
              <a:t>the</a:t>
            </a:r>
            <a:r>
              <a:rPr sz="2400" spc="-210" dirty="0">
                <a:latin typeface="Verdana"/>
                <a:cs typeface="Verdana"/>
              </a:rPr>
              <a:t> </a:t>
            </a:r>
            <a:r>
              <a:rPr sz="2400" spc="15" dirty="0">
                <a:latin typeface="Verdana"/>
                <a:cs typeface="Verdana"/>
              </a:rPr>
              <a:t>trends</a:t>
            </a:r>
            <a:r>
              <a:rPr sz="2400" spc="-210" dirty="0">
                <a:latin typeface="Verdana"/>
                <a:cs typeface="Verdana"/>
              </a:rPr>
              <a:t> </a:t>
            </a:r>
            <a:r>
              <a:rPr sz="2400" spc="45" dirty="0">
                <a:latin typeface="Verdana"/>
                <a:cs typeface="Verdana"/>
              </a:rPr>
              <a:t>in</a:t>
            </a:r>
            <a:r>
              <a:rPr sz="2400" spc="-215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restaurant </a:t>
            </a:r>
            <a:r>
              <a:rPr sz="2400" spc="-825" dirty="0">
                <a:latin typeface="Verdana"/>
                <a:cs typeface="Verdana"/>
              </a:rPr>
              <a:t> </a:t>
            </a:r>
            <a:r>
              <a:rPr sz="2400" spc="55" dirty="0">
                <a:latin typeface="Verdana"/>
                <a:cs typeface="Verdana"/>
              </a:rPr>
              <a:t>openings</a:t>
            </a:r>
            <a:r>
              <a:rPr sz="2400" spc="-2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ac</a:t>
            </a:r>
            <a:r>
              <a:rPr sz="2400" spc="-35" dirty="0">
                <a:latin typeface="Verdana"/>
                <a:cs typeface="Verdana"/>
              </a:rPr>
              <a:t>r</a:t>
            </a:r>
            <a:r>
              <a:rPr sz="2400" spc="-40" dirty="0">
                <a:latin typeface="Verdana"/>
                <a:cs typeface="Verdana"/>
              </a:rPr>
              <a:t>oss</a:t>
            </a:r>
            <a:r>
              <a:rPr sz="2400" spc="-215" dirty="0">
                <a:latin typeface="Verdana"/>
                <a:cs typeface="Verdana"/>
              </a:rPr>
              <a:t> </a:t>
            </a:r>
            <a:r>
              <a:rPr sz="2400" spc="25" dirty="0">
                <a:latin typeface="Verdana"/>
                <a:cs typeface="Verdana"/>
              </a:rPr>
              <a:t>dif</a:t>
            </a:r>
            <a:r>
              <a:rPr sz="2400" spc="-60" dirty="0">
                <a:latin typeface="Verdana"/>
                <a:cs typeface="Verdana"/>
              </a:rPr>
              <a:t>f</a:t>
            </a:r>
            <a:r>
              <a:rPr sz="2400" spc="-25" dirty="0">
                <a:latin typeface="Verdana"/>
                <a:cs typeface="Verdana"/>
              </a:rPr>
              <a:t>e</a:t>
            </a:r>
            <a:r>
              <a:rPr sz="2400" spc="-55" dirty="0">
                <a:latin typeface="Verdana"/>
                <a:cs typeface="Verdana"/>
              </a:rPr>
              <a:t>r</a:t>
            </a:r>
            <a:r>
              <a:rPr sz="2400" spc="50" dirty="0">
                <a:latin typeface="Verdana"/>
                <a:cs typeface="Verdana"/>
              </a:rPr>
              <a:t>ent</a:t>
            </a:r>
            <a:r>
              <a:rPr sz="2400" spc="-215" dirty="0">
                <a:latin typeface="Verdana"/>
                <a:cs typeface="Verdana"/>
              </a:rPr>
              <a:t> </a:t>
            </a:r>
            <a:r>
              <a:rPr sz="2400" spc="-160" dirty="0">
                <a:latin typeface="Verdana"/>
                <a:cs typeface="Verdana"/>
              </a:rPr>
              <a:t>y</a:t>
            </a:r>
            <a:r>
              <a:rPr sz="2400" spc="-25" dirty="0">
                <a:latin typeface="Verdana"/>
                <a:cs typeface="Verdana"/>
              </a:rPr>
              <a:t>e</a:t>
            </a:r>
            <a:r>
              <a:rPr sz="2400" spc="-55" dirty="0">
                <a:latin typeface="Verdana"/>
                <a:cs typeface="Verdana"/>
              </a:rPr>
              <a:t>a</a:t>
            </a:r>
            <a:r>
              <a:rPr sz="2400" spc="-45" dirty="0">
                <a:latin typeface="Verdana"/>
                <a:cs typeface="Verdana"/>
              </a:rPr>
              <a:t>r</a:t>
            </a:r>
            <a:r>
              <a:rPr sz="2400" spc="-335" dirty="0">
                <a:latin typeface="Verdana"/>
                <a:cs typeface="Verdana"/>
              </a:rPr>
              <a:t>s:</a:t>
            </a:r>
            <a:endParaRPr sz="2400" dirty="0">
              <a:latin typeface="Verdana"/>
              <a:cs typeface="Verdana"/>
            </a:endParaRPr>
          </a:p>
          <a:p>
            <a:pPr marL="377825" marR="8532495" algn="just">
              <a:lnSpc>
                <a:spcPts val="2850"/>
              </a:lnSpc>
              <a:spcBef>
                <a:spcPts val="90"/>
              </a:spcBef>
            </a:pPr>
            <a:r>
              <a:rPr sz="2400" b="1" spc="-175" dirty="0">
                <a:latin typeface="Tahoma"/>
                <a:cs typeface="Tahoma"/>
              </a:rPr>
              <a:t>2010:</a:t>
            </a:r>
            <a:r>
              <a:rPr sz="2400" b="1" spc="-75" dirty="0">
                <a:latin typeface="Tahoma"/>
                <a:cs typeface="Tahoma"/>
              </a:rPr>
              <a:t> </a:t>
            </a:r>
            <a:r>
              <a:rPr sz="2400" spc="-185" dirty="0">
                <a:latin typeface="Verdana"/>
                <a:cs typeface="Verdana"/>
              </a:rPr>
              <a:t>1,080</a:t>
            </a:r>
            <a:r>
              <a:rPr sz="2400" spc="-215" dirty="0">
                <a:latin typeface="Verdana"/>
                <a:cs typeface="Verdana"/>
              </a:rPr>
              <a:t> </a:t>
            </a:r>
            <a:r>
              <a:rPr sz="2400" spc="80" dirty="0">
                <a:latin typeface="Verdana"/>
                <a:cs typeface="Verdana"/>
              </a:rPr>
              <a:t>new</a:t>
            </a:r>
            <a:r>
              <a:rPr sz="2400" spc="-21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restaurants</a:t>
            </a:r>
            <a:r>
              <a:rPr sz="2400" spc="-215" dirty="0">
                <a:latin typeface="Verdana"/>
                <a:cs typeface="Verdana"/>
              </a:rPr>
              <a:t> </a:t>
            </a:r>
            <a:r>
              <a:rPr sz="2400" spc="10" dirty="0">
                <a:latin typeface="Verdana"/>
                <a:cs typeface="Verdana"/>
              </a:rPr>
              <a:t>were</a:t>
            </a:r>
            <a:r>
              <a:rPr sz="2400" spc="-215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established,</a:t>
            </a:r>
            <a:r>
              <a:rPr sz="2400" spc="-215" dirty="0">
                <a:latin typeface="Verdana"/>
                <a:cs typeface="Verdana"/>
              </a:rPr>
              <a:t> </a:t>
            </a:r>
            <a:r>
              <a:rPr sz="2400" spc="50" dirty="0">
                <a:latin typeface="Verdana"/>
                <a:cs typeface="Verdana"/>
              </a:rPr>
              <a:t>marking</a:t>
            </a:r>
            <a:r>
              <a:rPr sz="2400" spc="-215" dirty="0">
                <a:latin typeface="Verdana"/>
                <a:cs typeface="Verdana"/>
              </a:rPr>
              <a:t> </a:t>
            </a:r>
            <a:r>
              <a:rPr sz="2400" spc="-30" dirty="0">
                <a:latin typeface="Verdana"/>
                <a:cs typeface="Verdana"/>
              </a:rPr>
              <a:t>a</a:t>
            </a:r>
            <a:r>
              <a:rPr lang="en-IN" sz="2400" spc="-30" dirty="0">
                <a:latin typeface="Verdana"/>
                <a:cs typeface="Verdana"/>
              </a:rPr>
              <a:t> </a:t>
            </a:r>
            <a:r>
              <a:rPr sz="2400" spc="-40" dirty="0">
                <a:latin typeface="Verdana"/>
                <a:cs typeface="Verdana"/>
              </a:rPr>
              <a:t>st</a:t>
            </a:r>
            <a:r>
              <a:rPr sz="2400" spc="-75" dirty="0">
                <a:latin typeface="Verdana"/>
                <a:cs typeface="Verdana"/>
              </a:rPr>
              <a:t>r</a:t>
            </a:r>
            <a:r>
              <a:rPr sz="2400" spc="100" dirty="0">
                <a:latin typeface="Verdana"/>
                <a:cs typeface="Verdana"/>
              </a:rPr>
              <a:t>ong</a:t>
            </a:r>
            <a:r>
              <a:rPr sz="2400" spc="-215" dirty="0">
                <a:latin typeface="Verdana"/>
                <a:cs typeface="Verdana"/>
              </a:rPr>
              <a:t> </a:t>
            </a:r>
            <a:r>
              <a:rPr sz="2400" spc="-40" dirty="0">
                <a:latin typeface="Verdana"/>
                <a:cs typeface="Verdana"/>
              </a:rPr>
              <a:t>sta</a:t>
            </a:r>
            <a:r>
              <a:rPr sz="2400" dirty="0">
                <a:latin typeface="Verdana"/>
                <a:cs typeface="Verdana"/>
              </a:rPr>
              <a:t>r</a:t>
            </a:r>
            <a:r>
              <a:rPr sz="2400" spc="25" dirty="0">
                <a:latin typeface="Verdana"/>
                <a:cs typeface="Verdana"/>
              </a:rPr>
              <a:t>t</a:t>
            </a:r>
            <a:r>
              <a:rPr sz="2400" spc="-215" dirty="0">
                <a:latin typeface="Verdana"/>
                <a:cs typeface="Verdana"/>
              </a:rPr>
              <a:t> </a:t>
            </a:r>
            <a:r>
              <a:rPr sz="2400" spc="45" dirty="0">
                <a:latin typeface="Verdana"/>
                <a:cs typeface="Verdana"/>
              </a:rPr>
              <a:t>in</a:t>
            </a:r>
            <a:r>
              <a:rPr sz="2400" spc="-215" dirty="0">
                <a:latin typeface="Verdana"/>
                <a:cs typeface="Verdana"/>
              </a:rPr>
              <a:t> </a:t>
            </a:r>
            <a:r>
              <a:rPr sz="2400" spc="50" dirty="0">
                <a:latin typeface="Verdana"/>
                <a:cs typeface="Verdana"/>
              </a:rPr>
              <a:t>the</a:t>
            </a:r>
            <a:r>
              <a:rPr sz="2400" spc="-215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e</a:t>
            </a:r>
            <a:r>
              <a:rPr sz="2400" spc="-55" dirty="0">
                <a:latin typeface="Verdana"/>
                <a:cs typeface="Verdana"/>
              </a:rPr>
              <a:t>a</a:t>
            </a:r>
            <a:r>
              <a:rPr sz="2400" spc="-60" dirty="0">
                <a:latin typeface="Verdana"/>
                <a:cs typeface="Verdana"/>
              </a:rPr>
              <a:t>r</a:t>
            </a:r>
            <a:r>
              <a:rPr sz="2400" spc="-70" dirty="0">
                <a:latin typeface="Verdana"/>
                <a:cs typeface="Verdana"/>
              </a:rPr>
              <a:t>ly</a:t>
            </a:r>
            <a:r>
              <a:rPr sz="2400" spc="-215" dirty="0">
                <a:latin typeface="Verdana"/>
                <a:cs typeface="Verdana"/>
              </a:rPr>
              <a:t> </a:t>
            </a:r>
            <a:r>
              <a:rPr sz="2400" spc="120" dirty="0">
                <a:latin typeface="Verdana"/>
                <a:cs typeface="Verdana"/>
              </a:rPr>
              <a:t>p</a:t>
            </a:r>
            <a:r>
              <a:rPr sz="2400" spc="-55" dirty="0">
                <a:latin typeface="Verdana"/>
                <a:cs typeface="Verdana"/>
              </a:rPr>
              <a:t>a</a:t>
            </a:r>
            <a:r>
              <a:rPr sz="2400" spc="-5" dirty="0">
                <a:latin typeface="Verdana"/>
                <a:cs typeface="Verdana"/>
              </a:rPr>
              <a:t>r</a:t>
            </a:r>
            <a:r>
              <a:rPr sz="2400" spc="25" dirty="0">
                <a:latin typeface="Verdana"/>
                <a:cs typeface="Verdana"/>
              </a:rPr>
              <a:t>t</a:t>
            </a:r>
            <a:r>
              <a:rPr sz="2400" spc="-215" dirty="0">
                <a:latin typeface="Verdana"/>
                <a:cs typeface="Verdana"/>
              </a:rPr>
              <a:t> </a:t>
            </a:r>
            <a:r>
              <a:rPr sz="2400" spc="5" dirty="0">
                <a:latin typeface="Verdana"/>
                <a:cs typeface="Verdana"/>
              </a:rPr>
              <a:t>of</a:t>
            </a:r>
            <a:r>
              <a:rPr sz="2400" spc="-215" dirty="0">
                <a:latin typeface="Verdana"/>
                <a:cs typeface="Verdana"/>
              </a:rPr>
              <a:t> </a:t>
            </a:r>
            <a:r>
              <a:rPr sz="2400" spc="50" dirty="0">
                <a:latin typeface="Verdana"/>
                <a:cs typeface="Verdana"/>
              </a:rPr>
              <a:t>the</a:t>
            </a:r>
            <a:r>
              <a:rPr sz="2400" spc="-2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decade.</a:t>
            </a:r>
          </a:p>
          <a:p>
            <a:pPr marL="377825" marR="8216900" algn="just">
              <a:lnSpc>
                <a:spcPts val="2850"/>
              </a:lnSpc>
              <a:spcBef>
                <a:spcPts val="75"/>
              </a:spcBef>
            </a:pPr>
            <a:r>
              <a:rPr sz="2400" b="1" spc="-25" dirty="0">
                <a:latin typeface="Tahoma"/>
                <a:cs typeface="Tahoma"/>
              </a:rPr>
              <a:t>2</a:t>
            </a:r>
            <a:r>
              <a:rPr sz="2400" b="1" spc="-30" dirty="0">
                <a:latin typeface="Tahoma"/>
                <a:cs typeface="Tahoma"/>
              </a:rPr>
              <a:t>0</a:t>
            </a:r>
            <a:r>
              <a:rPr sz="2400" b="1" spc="-505" dirty="0">
                <a:latin typeface="Tahoma"/>
                <a:cs typeface="Tahoma"/>
              </a:rPr>
              <a:t>11:</a:t>
            </a:r>
            <a:r>
              <a:rPr sz="2400" b="1" spc="-75" dirty="0">
                <a:latin typeface="Tahoma"/>
                <a:cs typeface="Tahoma"/>
              </a:rPr>
              <a:t> </a:t>
            </a:r>
            <a:r>
              <a:rPr sz="2400" spc="5" dirty="0">
                <a:latin typeface="Verdana"/>
                <a:cs typeface="Verdana"/>
              </a:rPr>
              <a:t>The</a:t>
            </a:r>
            <a:r>
              <a:rPr sz="2400" spc="-215" dirty="0">
                <a:latin typeface="Verdana"/>
                <a:cs typeface="Verdana"/>
              </a:rPr>
              <a:t> </a:t>
            </a:r>
            <a:r>
              <a:rPr sz="2400" spc="114" dirty="0">
                <a:latin typeface="Verdana"/>
                <a:cs typeface="Verdana"/>
              </a:rPr>
              <a:t>momentum</a:t>
            </a:r>
            <a:r>
              <a:rPr sz="2400" spc="-215" dirty="0">
                <a:latin typeface="Verdana"/>
                <a:cs typeface="Verdana"/>
              </a:rPr>
              <a:t> </a:t>
            </a:r>
            <a:r>
              <a:rPr sz="2400" spc="75" dirty="0">
                <a:latin typeface="Verdana"/>
                <a:cs typeface="Verdana"/>
              </a:rPr>
              <a:t>c</a:t>
            </a:r>
            <a:r>
              <a:rPr sz="2400" spc="60" dirty="0">
                <a:latin typeface="Verdana"/>
                <a:cs typeface="Verdana"/>
              </a:rPr>
              <a:t>ontinued</a:t>
            </a:r>
            <a:r>
              <a:rPr sz="2400" spc="-215" dirty="0">
                <a:latin typeface="Verdana"/>
                <a:cs typeface="Verdana"/>
              </a:rPr>
              <a:t> </a:t>
            </a:r>
            <a:r>
              <a:rPr sz="2400" spc="65" dirty="0">
                <a:latin typeface="Verdana"/>
                <a:cs typeface="Verdana"/>
              </a:rPr>
              <a:t>with</a:t>
            </a:r>
            <a:r>
              <a:rPr sz="2400" spc="-215" dirty="0">
                <a:latin typeface="Verdana"/>
                <a:cs typeface="Verdana"/>
              </a:rPr>
              <a:t> </a:t>
            </a:r>
            <a:r>
              <a:rPr sz="2400" spc="-655" dirty="0">
                <a:latin typeface="Verdana"/>
                <a:cs typeface="Verdana"/>
              </a:rPr>
              <a:t>1</a:t>
            </a:r>
            <a:r>
              <a:rPr sz="2400" spc="-405" dirty="0">
                <a:latin typeface="Verdana"/>
                <a:cs typeface="Verdana"/>
              </a:rPr>
              <a:t>,</a:t>
            </a:r>
            <a:r>
              <a:rPr sz="2400" dirty="0">
                <a:latin typeface="Verdana"/>
                <a:cs typeface="Verdana"/>
              </a:rPr>
              <a:t>098</a:t>
            </a:r>
            <a:r>
              <a:rPr sz="2400" spc="-215" dirty="0">
                <a:latin typeface="Verdana"/>
                <a:cs typeface="Verdana"/>
              </a:rPr>
              <a:t> </a:t>
            </a:r>
            <a:r>
              <a:rPr sz="2400" spc="60" dirty="0">
                <a:latin typeface="Verdana"/>
                <a:cs typeface="Verdana"/>
              </a:rPr>
              <a:t>n</a:t>
            </a:r>
            <a:r>
              <a:rPr sz="2400" spc="30" dirty="0">
                <a:latin typeface="Verdana"/>
                <a:cs typeface="Verdana"/>
              </a:rPr>
              <a:t>e</a:t>
            </a:r>
            <a:r>
              <a:rPr sz="2400" spc="145" dirty="0">
                <a:latin typeface="Verdana"/>
                <a:cs typeface="Verdana"/>
              </a:rPr>
              <a:t>w</a:t>
            </a:r>
            <a:r>
              <a:rPr sz="2400" spc="-215" dirty="0">
                <a:latin typeface="Verdana"/>
                <a:cs typeface="Verdana"/>
              </a:rPr>
              <a:t> </a:t>
            </a:r>
            <a:r>
              <a:rPr sz="2400" spc="10" dirty="0">
                <a:latin typeface="Verdana"/>
                <a:cs typeface="Verdana"/>
              </a:rPr>
              <a:t>openings,  </a:t>
            </a:r>
            <a:r>
              <a:rPr sz="2400" spc="55" dirty="0">
                <a:latin typeface="Verdana"/>
                <a:cs typeface="Verdana"/>
              </a:rPr>
              <a:t>showing</a:t>
            </a:r>
            <a:r>
              <a:rPr sz="2400" spc="-215" dirty="0">
                <a:latin typeface="Verdana"/>
                <a:cs typeface="Verdana"/>
              </a:rPr>
              <a:t> </a:t>
            </a:r>
            <a:r>
              <a:rPr sz="2400" spc="-30" dirty="0">
                <a:latin typeface="Verdana"/>
                <a:cs typeface="Verdana"/>
              </a:rPr>
              <a:t>a</a:t>
            </a:r>
            <a:r>
              <a:rPr sz="2400" spc="-215" dirty="0">
                <a:latin typeface="Verdana"/>
                <a:cs typeface="Verdana"/>
              </a:rPr>
              <a:t> </a:t>
            </a:r>
            <a:r>
              <a:rPr sz="2400" spc="25" dirty="0">
                <a:latin typeface="Verdana"/>
                <a:cs typeface="Verdana"/>
              </a:rPr>
              <a:t>slight</a:t>
            </a:r>
            <a:r>
              <a:rPr sz="2400" spc="-2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increase</a:t>
            </a:r>
            <a:r>
              <a:rPr sz="2400" spc="-215" dirty="0">
                <a:latin typeface="Verdana"/>
                <a:cs typeface="Verdana"/>
              </a:rPr>
              <a:t> </a:t>
            </a:r>
            <a:r>
              <a:rPr sz="2400" spc="30" dirty="0">
                <a:latin typeface="Verdana"/>
                <a:cs typeface="Verdana"/>
              </a:rPr>
              <a:t>from</a:t>
            </a:r>
            <a:r>
              <a:rPr sz="2400" spc="-210" dirty="0">
                <a:latin typeface="Verdana"/>
                <a:cs typeface="Verdana"/>
              </a:rPr>
              <a:t> </a:t>
            </a:r>
            <a:r>
              <a:rPr sz="2400" spc="50" dirty="0">
                <a:latin typeface="Verdana"/>
                <a:cs typeface="Verdana"/>
              </a:rPr>
              <a:t>the</a:t>
            </a:r>
            <a:r>
              <a:rPr sz="2400" spc="-2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previous</a:t>
            </a:r>
            <a:r>
              <a:rPr sz="2400" spc="-215" dirty="0">
                <a:latin typeface="Verdana"/>
                <a:cs typeface="Verdana"/>
              </a:rPr>
              <a:t> </a:t>
            </a:r>
            <a:r>
              <a:rPr sz="2400" spc="-135" dirty="0">
                <a:latin typeface="Verdana"/>
                <a:cs typeface="Verdana"/>
              </a:rPr>
              <a:t>year.</a:t>
            </a:r>
            <a:endParaRPr sz="2400" dirty="0">
              <a:latin typeface="Verdana"/>
              <a:cs typeface="Verdana"/>
            </a:endParaRPr>
          </a:p>
          <a:p>
            <a:pPr marL="339090" marR="353695" algn="just">
              <a:lnSpc>
                <a:spcPct val="101600"/>
              </a:lnSpc>
              <a:spcBef>
                <a:spcPts val="1000"/>
              </a:spcBef>
            </a:pPr>
            <a:r>
              <a:rPr sz="2400" b="1" spc="-220" dirty="0">
                <a:latin typeface="Tahoma"/>
                <a:cs typeface="Tahoma"/>
              </a:rPr>
              <a:t>2012:</a:t>
            </a:r>
            <a:r>
              <a:rPr sz="2400" b="1" spc="-70" dirty="0">
                <a:latin typeface="Tahoma"/>
                <a:cs typeface="Tahoma"/>
              </a:rPr>
              <a:t> </a:t>
            </a:r>
            <a:r>
              <a:rPr sz="2400" spc="-15" dirty="0">
                <a:latin typeface="Verdana"/>
                <a:cs typeface="Verdana"/>
              </a:rPr>
              <a:t>There</a:t>
            </a:r>
            <a:r>
              <a:rPr sz="2400" spc="-204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was</a:t>
            </a:r>
            <a:r>
              <a:rPr sz="2400" spc="-210" dirty="0">
                <a:latin typeface="Verdana"/>
                <a:cs typeface="Verdana"/>
              </a:rPr>
              <a:t> </a:t>
            </a:r>
            <a:r>
              <a:rPr sz="2400" spc="-30" dirty="0">
                <a:latin typeface="Verdana"/>
                <a:cs typeface="Verdana"/>
              </a:rPr>
              <a:t>a</a:t>
            </a:r>
            <a:r>
              <a:rPr sz="2400" spc="-204" dirty="0">
                <a:latin typeface="Verdana"/>
                <a:cs typeface="Verdana"/>
              </a:rPr>
              <a:t> </a:t>
            </a:r>
            <a:r>
              <a:rPr sz="2400" spc="15" dirty="0">
                <a:latin typeface="Verdana"/>
                <a:cs typeface="Verdana"/>
              </a:rPr>
              <a:t>small</a:t>
            </a:r>
            <a:r>
              <a:rPr sz="2400" spc="-204" dirty="0">
                <a:latin typeface="Verdana"/>
                <a:cs typeface="Verdana"/>
              </a:rPr>
              <a:t> </a:t>
            </a:r>
            <a:r>
              <a:rPr sz="2400" spc="-40" dirty="0">
                <a:latin typeface="Verdana"/>
                <a:cs typeface="Verdana"/>
              </a:rPr>
              <a:t>dip,</a:t>
            </a:r>
            <a:r>
              <a:rPr sz="2400" spc="-210" dirty="0">
                <a:latin typeface="Verdana"/>
                <a:cs typeface="Verdana"/>
              </a:rPr>
              <a:t> </a:t>
            </a:r>
            <a:r>
              <a:rPr sz="2400" spc="65" dirty="0">
                <a:latin typeface="Verdana"/>
                <a:cs typeface="Verdana"/>
              </a:rPr>
              <a:t>with</a:t>
            </a:r>
            <a:r>
              <a:rPr sz="2400" spc="-204" dirty="0">
                <a:latin typeface="Verdana"/>
                <a:cs typeface="Verdana"/>
              </a:rPr>
              <a:t> </a:t>
            </a:r>
            <a:r>
              <a:rPr sz="2400" spc="-265" dirty="0">
                <a:latin typeface="Verdana"/>
                <a:cs typeface="Verdana"/>
              </a:rPr>
              <a:t>1,022</a:t>
            </a:r>
            <a:r>
              <a:rPr sz="2400" spc="-204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restaurants</a:t>
            </a:r>
            <a:r>
              <a:rPr sz="2400" spc="-210" dirty="0">
                <a:latin typeface="Verdana"/>
                <a:cs typeface="Verdana"/>
              </a:rPr>
              <a:t> </a:t>
            </a:r>
            <a:r>
              <a:rPr sz="2400" spc="20" dirty="0">
                <a:latin typeface="Verdana"/>
                <a:cs typeface="Verdana"/>
              </a:rPr>
              <a:t>opening,</a:t>
            </a:r>
            <a:r>
              <a:rPr sz="2400" spc="-204" dirty="0">
                <a:latin typeface="Verdana"/>
                <a:cs typeface="Verdana"/>
              </a:rPr>
              <a:t> </a:t>
            </a:r>
            <a:r>
              <a:rPr sz="2400" spc="50" dirty="0">
                <a:latin typeface="Verdana"/>
                <a:cs typeface="Verdana"/>
              </a:rPr>
              <a:t>suggesting</a:t>
            </a:r>
            <a:r>
              <a:rPr sz="2400" spc="-210" dirty="0">
                <a:latin typeface="Verdana"/>
                <a:cs typeface="Verdana"/>
              </a:rPr>
              <a:t> </a:t>
            </a:r>
            <a:r>
              <a:rPr sz="2400" spc="-30" dirty="0">
                <a:latin typeface="Verdana"/>
                <a:cs typeface="Verdana"/>
              </a:rPr>
              <a:t>a</a:t>
            </a:r>
            <a:r>
              <a:rPr sz="2400" spc="-204" dirty="0">
                <a:latin typeface="Verdana"/>
                <a:cs typeface="Verdana"/>
              </a:rPr>
              <a:t> </a:t>
            </a:r>
            <a:r>
              <a:rPr sz="2400" spc="25" dirty="0">
                <a:latin typeface="Verdana"/>
                <a:cs typeface="Verdana"/>
              </a:rPr>
              <a:t>slight</a:t>
            </a:r>
            <a:r>
              <a:rPr sz="2400" spc="-204" dirty="0">
                <a:latin typeface="Verdana"/>
                <a:cs typeface="Verdana"/>
              </a:rPr>
              <a:t> </a:t>
            </a:r>
            <a:r>
              <a:rPr sz="2400" spc="20" dirty="0">
                <a:latin typeface="Verdana"/>
                <a:cs typeface="Verdana"/>
              </a:rPr>
              <a:t>market</a:t>
            </a:r>
            <a:r>
              <a:rPr sz="2400" spc="-2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saturation</a:t>
            </a:r>
            <a:r>
              <a:rPr sz="2400" spc="-204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or</a:t>
            </a:r>
            <a:r>
              <a:rPr sz="2400" spc="-210" dirty="0">
                <a:latin typeface="Verdana"/>
                <a:cs typeface="Verdana"/>
              </a:rPr>
              <a:t> </a:t>
            </a:r>
            <a:r>
              <a:rPr sz="2400" spc="70" dirty="0">
                <a:latin typeface="Verdana"/>
                <a:cs typeface="Verdana"/>
              </a:rPr>
              <a:t>economic</a:t>
            </a:r>
            <a:r>
              <a:rPr lang="en-IN" sz="2400" spc="70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factors</a:t>
            </a:r>
            <a:r>
              <a:rPr sz="2400" spc="-2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at</a:t>
            </a:r>
            <a:r>
              <a:rPr sz="2400" spc="-215" dirty="0">
                <a:latin typeface="Verdana"/>
                <a:cs typeface="Verdana"/>
              </a:rPr>
              <a:t> </a:t>
            </a:r>
            <a:r>
              <a:rPr sz="2400" spc="-105" dirty="0">
                <a:latin typeface="Verdana"/>
                <a:cs typeface="Verdana"/>
              </a:rPr>
              <a:t>play.</a:t>
            </a:r>
            <a:endParaRPr sz="2400" dirty="0">
              <a:latin typeface="Verdana"/>
              <a:cs typeface="Verdana"/>
            </a:endParaRPr>
          </a:p>
          <a:p>
            <a:pPr marL="339090" algn="just">
              <a:lnSpc>
                <a:spcPts val="2835"/>
              </a:lnSpc>
            </a:pPr>
            <a:r>
              <a:rPr sz="2400" b="1" spc="-220" dirty="0">
                <a:latin typeface="Tahoma"/>
                <a:cs typeface="Tahoma"/>
              </a:rPr>
              <a:t>2013:</a:t>
            </a:r>
            <a:r>
              <a:rPr sz="2400" b="1" spc="-70" dirty="0">
                <a:latin typeface="Tahoma"/>
                <a:cs typeface="Tahoma"/>
              </a:rPr>
              <a:t> </a:t>
            </a:r>
            <a:r>
              <a:rPr sz="2400" spc="5" dirty="0">
                <a:latin typeface="Verdana"/>
                <a:cs typeface="Verdana"/>
              </a:rPr>
              <a:t>The</a:t>
            </a:r>
            <a:r>
              <a:rPr sz="2400" spc="-210" dirty="0">
                <a:latin typeface="Verdana"/>
                <a:cs typeface="Verdana"/>
              </a:rPr>
              <a:t> </a:t>
            </a:r>
            <a:r>
              <a:rPr sz="2400" spc="20" dirty="0">
                <a:latin typeface="Verdana"/>
                <a:cs typeface="Verdana"/>
              </a:rPr>
              <a:t>market</a:t>
            </a:r>
            <a:r>
              <a:rPr sz="2400" spc="-210" dirty="0">
                <a:latin typeface="Verdana"/>
                <a:cs typeface="Verdana"/>
              </a:rPr>
              <a:t> </a:t>
            </a:r>
            <a:r>
              <a:rPr sz="2400" spc="60" dirty="0">
                <a:latin typeface="Verdana"/>
                <a:cs typeface="Verdana"/>
              </a:rPr>
              <a:t>rebounded</a:t>
            </a:r>
            <a:r>
              <a:rPr sz="2400" spc="-210" dirty="0">
                <a:latin typeface="Verdana"/>
                <a:cs typeface="Verdana"/>
              </a:rPr>
              <a:t> </a:t>
            </a:r>
            <a:r>
              <a:rPr sz="2400" spc="65" dirty="0">
                <a:latin typeface="Verdana"/>
                <a:cs typeface="Verdana"/>
              </a:rPr>
              <a:t>with</a:t>
            </a:r>
            <a:r>
              <a:rPr sz="2400" spc="-210" dirty="0">
                <a:latin typeface="Verdana"/>
                <a:cs typeface="Verdana"/>
              </a:rPr>
              <a:t> </a:t>
            </a:r>
            <a:r>
              <a:rPr sz="2400" spc="-345" dirty="0">
                <a:latin typeface="Verdana"/>
                <a:cs typeface="Verdana"/>
              </a:rPr>
              <a:t>1,061</a:t>
            </a:r>
            <a:r>
              <a:rPr sz="2400" spc="-210" dirty="0">
                <a:latin typeface="Verdana"/>
                <a:cs typeface="Verdana"/>
              </a:rPr>
              <a:t> </a:t>
            </a:r>
            <a:r>
              <a:rPr sz="2400" spc="80" dirty="0">
                <a:latin typeface="Verdana"/>
                <a:cs typeface="Verdana"/>
              </a:rPr>
              <a:t>new</a:t>
            </a:r>
            <a:r>
              <a:rPr sz="2400" spc="-204" dirty="0">
                <a:latin typeface="Verdana"/>
                <a:cs typeface="Verdana"/>
              </a:rPr>
              <a:t> </a:t>
            </a:r>
            <a:r>
              <a:rPr sz="2400" spc="10" dirty="0">
                <a:latin typeface="Verdana"/>
                <a:cs typeface="Verdana"/>
              </a:rPr>
              <a:t>openings,</a:t>
            </a:r>
            <a:r>
              <a:rPr sz="2400" spc="-210" dirty="0">
                <a:latin typeface="Verdana"/>
                <a:cs typeface="Verdana"/>
              </a:rPr>
              <a:t> </a:t>
            </a:r>
            <a:r>
              <a:rPr sz="2400" spc="55" dirty="0">
                <a:latin typeface="Verdana"/>
                <a:cs typeface="Verdana"/>
              </a:rPr>
              <a:t>indicating</a:t>
            </a:r>
            <a:r>
              <a:rPr sz="2400" spc="-210" dirty="0">
                <a:latin typeface="Verdana"/>
                <a:cs typeface="Verdana"/>
              </a:rPr>
              <a:t> </a:t>
            </a:r>
            <a:r>
              <a:rPr sz="2400" spc="35" dirty="0">
                <a:latin typeface="Verdana"/>
                <a:cs typeface="Verdana"/>
              </a:rPr>
              <a:t>renewed</a:t>
            </a:r>
            <a:r>
              <a:rPr sz="2400" spc="-210" dirty="0">
                <a:latin typeface="Verdana"/>
                <a:cs typeface="Verdana"/>
              </a:rPr>
              <a:t> </a:t>
            </a:r>
            <a:r>
              <a:rPr sz="2400" spc="60" dirty="0">
                <a:latin typeface="Verdana"/>
                <a:cs typeface="Verdana"/>
              </a:rPr>
              <a:t>growth</a:t>
            </a:r>
            <a:r>
              <a:rPr sz="2400" spc="-210" dirty="0">
                <a:latin typeface="Verdana"/>
                <a:cs typeface="Verdana"/>
              </a:rPr>
              <a:t> </a:t>
            </a:r>
            <a:r>
              <a:rPr sz="2400" spc="45" dirty="0">
                <a:latin typeface="Verdana"/>
                <a:cs typeface="Verdana"/>
              </a:rPr>
              <a:t>in</a:t>
            </a:r>
            <a:r>
              <a:rPr sz="2400" spc="-210" dirty="0">
                <a:latin typeface="Verdana"/>
                <a:cs typeface="Verdana"/>
              </a:rPr>
              <a:t> </a:t>
            </a:r>
            <a:r>
              <a:rPr sz="2400" spc="50" dirty="0">
                <a:latin typeface="Verdana"/>
                <a:cs typeface="Verdana"/>
              </a:rPr>
              <a:t>the</a:t>
            </a:r>
            <a:r>
              <a:rPr sz="2400" spc="-210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restaurant</a:t>
            </a:r>
            <a:r>
              <a:rPr sz="2400" spc="-204" dirty="0">
                <a:latin typeface="Verdana"/>
                <a:cs typeface="Verdana"/>
              </a:rPr>
              <a:t> </a:t>
            </a:r>
            <a:r>
              <a:rPr sz="2400" spc="-55" dirty="0">
                <a:latin typeface="Verdana"/>
                <a:cs typeface="Verdana"/>
              </a:rPr>
              <a:t>sector.</a:t>
            </a:r>
            <a:endParaRPr sz="2400" dirty="0">
              <a:latin typeface="Verdana"/>
              <a:cs typeface="Verdana"/>
            </a:endParaRPr>
          </a:p>
          <a:p>
            <a:pPr marL="339090" algn="just">
              <a:lnSpc>
                <a:spcPts val="2865"/>
              </a:lnSpc>
            </a:pPr>
            <a:r>
              <a:rPr sz="2400" b="1" spc="-170" dirty="0">
                <a:latin typeface="Tahoma"/>
                <a:cs typeface="Tahoma"/>
              </a:rPr>
              <a:t>2014:</a:t>
            </a:r>
            <a:r>
              <a:rPr sz="2400" b="1" spc="-70" dirty="0">
                <a:latin typeface="Tahoma"/>
                <a:cs typeface="Tahoma"/>
              </a:rPr>
              <a:t> </a:t>
            </a:r>
            <a:r>
              <a:rPr sz="2400" spc="80" dirty="0">
                <a:latin typeface="Verdana"/>
                <a:cs typeface="Verdana"/>
              </a:rPr>
              <a:t>A</a:t>
            </a:r>
            <a:r>
              <a:rPr sz="2400" spc="-204" dirty="0">
                <a:latin typeface="Verdana"/>
                <a:cs typeface="Verdana"/>
              </a:rPr>
              <a:t> </a:t>
            </a:r>
            <a:r>
              <a:rPr sz="2400" spc="25" dirty="0">
                <a:latin typeface="Verdana"/>
                <a:cs typeface="Verdana"/>
              </a:rPr>
              <a:t>slight</a:t>
            </a:r>
            <a:r>
              <a:rPr sz="2400" spc="-210" dirty="0">
                <a:latin typeface="Verdana"/>
                <a:cs typeface="Verdana"/>
              </a:rPr>
              <a:t> </a:t>
            </a:r>
            <a:r>
              <a:rPr sz="2400" spc="5" dirty="0">
                <a:latin typeface="Verdana"/>
                <a:cs typeface="Verdana"/>
              </a:rPr>
              <a:t>decrease</a:t>
            </a:r>
            <a:r>
              <a:rPr sz="2400" spc="-210" dirty="0">
                <a:latin typeface="Verdana"/>
                <a:cs typeface="Verdana"/>
              </a:rPr>
              <a:t> </a:t>
            </a:r>
            <a:r>
              <a:rPr sz="2400" spc="10" dirty="0">
                <a:latin typeface="Verdana"/>
                <a:cs typeface="Verdana"/>
              </a:rPr>
              <a:t>to</a:t>
            </a:r>
            <a:r>
              <a:rPr sz="2400" spc="-204" dirty="0">
                <a:latin typeface="Verdana"/>
                <a:cs typeface="Verdana"/>
              </a:rPr>
              <a:t> </a:t>
            </a:r>
            <a:r>
              <a:rPr sz="2400" spc="-365" dirty="0">
                <a:latin typeface="Verdana"/>
                <a:cs typeface="Verdana"/>
              </a:rPr>
              <a:t>1,051</a:t>
            </a:r>
            <a:r>
              <a:rPr sz="2400" spc="-210" dirty="0">
                <a:latin typeface="Verdana"/>
                <a:cs typeface="Verdana"/>
              </a:rPr>
              <a:t> </a:t>
            </a:r>
            <a:r>
              <a:rPr sz="2400" spc="80" dirty="0">
                <a:latin typeface="Verdana"/>
                <a:cs typeface="Verdana"/>
              </a:rPr>
              <a:t>new</a:t>
            </a:r>
            <a:r>
              <a:rPr sz="2400" spc="-204" dirty="0">
                <a:latin typeface="Verdana"/>
                <a:cs typeface="Verdana"/>
              </a:rPr>
              <a:t> </a:t>
            </a:r>
            <a:r>
              <a:rPr sz="2400" spc="-50" dirty="0">
                <a:latin typeface="Verdana"/>
                <a:cs typeface="Verdana"/>
              </a:rPr>
              <a:t>restaurants,</a:t>
            </a:r>
            <a:r>
              <a:rPr sz="2400" spc="-210" dirty="0">
                <a:latin typeface="Verdana"/>
                <a:cs typeface="Verdana"/>
              </a:rPr>
              <a:t> </a:t>
            </a:r>
            <a:r>
              <a:rPr sz="2400" spc="55" dirty="0">
                <a:latin typeface="Verdana"/>
                <a:cs typeface="Verdana"/>
              </a:rPr>
              <a:t>maintaining</a:t>
            </a:r>
            <a:r>
              <a:rPr sz="2400" spc="-204" dirty="0">
                <a:latin typeface="Verdana"/>
                <a:cs typeface="Verdana"/>
              </a:rPr>
              <a:t> </a:t>
            </a:r>
            <a:r>
              <a:rPr sz="2400" spc="-30" dirty="0">
                <a:latin typeface="Verdana"/>
                <a:cs typeface="Verdana"/>
              </a:rPr>
              <a:t>a</a:t>
            </a:r>
            <a:r>
              <a:rPr sz="2400" spc="-210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steady</a:t>
            </a:r>
            <a:r>
              <a:rPr sz="2400" spc="-204" dirty="0">
                <a:latin typeface="Verdana"/>
                <a:cs typeface="Verdana"/>
              </a:rPr>
              <a:t> </a:t>
            </a:r>
            <a:r>
              <a:rPr sz="2400" spc="45" dirty="0">
                <a:latin typeface="Verdana"/>
                <a:cs typeface="Verdana"/>
              </a:rPr>
              <a:t>pace</a:t>
            </a:r>
            <a:r>
              <a:rPr sz="2400" spc="-210" dirty="0">
                <a:latin typeface="Verdana"/>
                <a:cs typeface="Verdana"/>
              </a:rPr>
              <a:t> </a:t>
            </a:r>
            <a:r>
              <a:rPr sz="2400" spc="25" dirty="0">
                <a:latin typeface="Verdana"/>
                <a:cs typeface="Verdana"/>
              </a:rPr>
              <a:t>despite</a:t>
            </a:r>
            <a:r>
              <a:rPr sz="2400" spc="-204" dirty="0">
                <a:latin typeface="Verdana"/>
                <a:cs typeface="Verdana"/>
              </a:rPr>
              <a:t> </a:t>
            </a:r>
            <a:r>
              <a:rPr sz="2400" spc="55" dirty="0">
                <a:latin typeface="Verdana"/>
                <a:cs typeface="Verdana"/>
              </a:rPr>
              <a:t>minor</a:t>
            </a:r>
            <a:r>
              <a:rPr sz="2400" spc="-2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ﬂuctuations.</a:t>
            </a:r>
            <a:endParaRPr sz="2400" dirty="0">
              <a:latin typeface="Verdana"/>
              <a:cs typeface="Verdana"/>
            </a:endParaRPr>
          </a:p>
          <a:p>
            <a:pPr marL="339090" algn="just">
              <a:lnSpc>
                <a:spcPts val="2865"/>
              </a:lnSpc>
              <a:spcBef>
                <a:spcPts val="45"/>
              </a:spcBef>
            </a:pPr>
            <a:r>
              <a:rPr sz="2400" b="1" spc="-220" dirty="0">
                <a:latin typeface="Tahoma"/>
                <a:cs typeface="Tahoma"/>
              </a:rPr>
              <a:t>2015:</a:t>
            </a:r>
            <a:r>
              <a:rPr sz="2400" b="1" spc="-70" dirty="0">
                <a:latin typeface="Tahoma"/>
                <a:cs typeface="Tahoma"/>
              </a:rPr>
              <a:t> </a:t>
            </a:r>
            <a:r>
              <a:rPr sz="2400" spc="-235" dirty="0">
                <a:latin typeface="Verdana"/>
                <a:cs typeface="Verdana"/>
              </a:rPr>
              <a:t>1,024</a:t>
            </a:r>
            <a:r>
              <a:rPr sz="2400" spc="-210" dirty="0">
                <a:latin typeface="Verdana"/>
                <a:cs typeface="Verdana"/>
              </a:rPr>
              <a:t> </a:t>
            </a:r>
            <a:r>
              <a:rPr sz="2400" spc="80" dirty="0">
                <a:latin typeface="Verdana"/>
                <a:cs typeface="Verdana"/>
              </a:rPr>
              <a:t>new</a:t>
            </a:r>
            <a:r>
              <a:rPr sz="2400" spc="-210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restaurants</a:t>
            </a:r>
            <a:r>
              <a:rPr sz="2400" spc="-204" dirty="0">
                <a:latin typeface="Verdana"/>
                <a:cs typeface="Verdana"/>
              </a:rPr>
              <a:t> </a:t>
            </a:r>
            <a:r>
              <a:rPr sz="2400" spc="10" dirty="0">
                <a:latin typeface="Verdana"/>
                <a:cs typeface="Verdana"/>
              </a:rPr>
              <a:t>opened,</a:t>
            </a:r>
            <a:r>
              <a:rPr sz="2400" spc="-210" dirty="0">
                <a:latin typeface="Verdana"/>
                <a:cs typeface="Verdana"/>
              </a:rPr>
              <a:t> </a:t>
            </a:r>
            <a:r>
              <a:rPr sz="2400" spc="30" dirty="0">
                <a:latin typeface="Verdana"/>
                <a:cs typeface="Verdana"/>
              </a:rPr>
              <a:t>reﬂecting</a:t>
            </a:r>
            <a:r>
              <a:rPr sz="2400" spc="-210" dirty="0">
                <a:latin typeface="Verdana"/>
                <a:cs typeface="Verdana"/>
              </a:rPr>
              <a:t> </a:t>
            </a:r>
            <a:r>
              <a:rPr sz="2400" spc="-30" dirty="0">
                <a:latin typeface="Verdana"/>
                <a:cs typeface="Verdana"/>
              </a:rPr>
              <a:t>a</a:t>
            </a:r>
            <a:r>
              <a:rPr sz="2400" spc="-204" dirty="0">
                <a:latin typeface="Verdana"/>
                <a:cs typeface="Verdana"/>
              </a:rPr>
              <a:t> </a:t>
            </a:r>
            <a:r>
              <a:rPr sz="2400" spc="15" dirty="0">
                <a:latin typeface="Verdana"/>
                <a:cs typeface="Verdana"/>
              </a:rPr>
              <a:t>consistent</a:t>
            </a:r>
            <a:r>
              <a:rPr sz="2400" spc="-210" dirty="0">
                <a:latin typeface="Verdana"/>
                <a:cs typeface="Verdana"/>
              </a:rPr>
              <a:t> </a:t>
            </a:r>
            <a:r>
              <a:rPr sz="2400" spc="95" dirty="0">
                <a:latin typeface="Verdana"/>
                <a:cs typeface="Verdana"/>
              </a:rPr>
              <a:t>demand</a:t>
            </a:r>
            <a:r>
              <a:rPr sz="2400" spc="-210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for</a:t>
            </a:r>
            <a:r>
              <a:rPr sz="2400" spc="-204" dirty="0">
                <a:latin typeface="Verdana"/>
                <a:cs typeface="Verdana"/>
              </a:rPr>
              <a:t> </a:t>
            </a:r>
            <a:r>
              <a:rPr sz="2400" spc="80" dirty="0">
                <a:latin typeface="Verdana"/>
                <a:cs typeface="Verdana"/>
              </a:rPr>
              <a:t>new</a:t>
            </a:r>
            <a:r>
              <a:rPr sz="2400" spc="-210" dirty="0">
                <a:latin typeface="Verdana"/>
                <a:cs typeface="Verdana"/>
              </a:rPr>
              <a:t> </a:t>
            </a:r>
            <a:r>
              <a:rPr sz="2400" spc="75" dirty="0">
                <a:latin typeface="Verdana"/>
                <a:cs typeface="Verdana"/>
              </a:rPr>
              <a:t>dining</a:t>
            </a:r>
            <a:r>
              <a:rPr sz="2400" spc="-210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options.</a:t>
            </a:r>
            <a:endParaRPr sz="2400" dirty="0">
              <a:latin typeface="Verdana"/>
              <a:cs typeface="Verdana"/>
            </a:endParaRPr>
          </a:p>
          <a:p>
            <a:pPr marL="339090" algn="just">
              <a:lnSpc>
                <a:spcPts val="2865"/>
              </a:lnSpc>
            </a:pPr>
            <a:r>
              <a:rPr sz="2400" b="1" spc="-195" dirty="0">
                <a:latin typeface="Tahoma"/>
                <a:cs typeface="Tahoma"/>
              </a:rPr>
              <a:t>2016:</a:t>
            </a:r>
            <a:r>
              <a:rPr sz="2400" b="1" spc="-70" dirty="0">
                <a:latin typeface="Tahoma"/>
                <a:cs typeface="Tahoma"/>
              </a:rPr>
              <a:t> </a:t>
            </a:r>
            <a:r>
              <a:rPr sz="2400" spc="5" dirty="0">
                <a:latin typeface="Verdana"/>
                <a:cs typeface="Verdana"/>
              </a:rPr>
              <a:t>The</a:t>
            </a:r>
            <a:r>
              <a:rPr sz="2400" spc="-204" dirty="0">
                <a:latin typeface="Verdana"/>
                <a:cs typeface="Verdana"/>
              </a:rPr>
              <a:t> </a:t>
            </a:r>
            <a:r>
              <a:rPr sz="2400" spc="35" dirty="0">
                <a:latin typeface="Verdana"/>
                <a:cs typeface="Verdana"/>
              </a:rPr>
              <a:t>trend</a:t>
            </a:r>
            <a:r>
              <a:rPr sz="2400" spc="-204" dirty="0">
                <a:latin typeface="Verdana"/>
                <a:cs typeface="Verdana"/>
              </a:rPr>
              <a:t> </a:t>
            </a:r>
            <a:r>
              <a:rPr sz="2400" spc="40" dirty="0">
                <a:latin typeface="Verdana"/>
                <a:cs typeface="Verdana"/>
              </a:rPr>
              <a:t>remained</a:t>
            </a:r>
            <a:r>
              <a:rPr sz="2400" spc="-204" dirty="0">
                <a:latin typeface="Verdana"/>
                <a:cs typeface="Verdana"/>
              </a:rPr>
              <a:t> </a:t>
            </a:r>
            <a:r>
              <a:rPr sz="2400" spc="10" dirty="0">
                <a:latin typeface="Verdana"/>
                <a:cs typeface="Verdana"/>
              </a:rPr>
              <a:t>stable</a:t>
            </a:r>
            <a:r>
              <a:rPr sz="2400" spc="-204" dirty="0">
                <a:latin typeface="Verdana"/>
                <a:cs typeface="Verdana"/>
              </a:rPr>
              <a:t> </a:t>
            </a:r>
            <a:r>
              <a:rPr sz="2400" spc="65" dirty="0">
                <a:latin typeface="Verdana"/>
                <a:cs typeface="Verdana"/>
              </a:rPr>
              <a:t>with</a:t>
            </a:r>
            <a:r>
              <a:rPr sz="2400" spc="-204" dirty="0">
                <a:latin typeface="Verdana"/>
                <a:cs typeface="Verdana"/>
              </a:rPr>
              <a:t> </a:t>
            </a:r>
            <a:r>
              <a:rPr sz="2400" spc="-254" dirty="0">
                <a:latin typeface="Verdana"/>
                <a:cs typeface="Verdana"/>
              </a:rPr>
              <a:t>1,027</a:t>
            </a:r>
            <a:r>
              <a:rPr sz="2400" spc="-210" dirty="0">
                <a:latin typeface="Verdana"/>
                <a:cs typeface="Verdana"/>
              </a:rPr>
              <a:t> </a:t>
            </a:r>
            <a:r>
              <a:rPr sz="2400" spc="80" dirty="0">
                <a:latin typeface="Verdana"/>
                <a:cs typeface="Verdana"/>
              </a:rPr>
              <a:t>new</a:t>
            </a:r>
            <a:r>
              <a:rPr sz="2400" spc="-204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establishments,</a:t>
            </a:r>
            <a:r>
              <a:rPr sz="2400" spc="-204" dirty="0">
                <a:latin typeface="Verdana"/>
                <a:cs typeface="Verdana"/>
              </a:rPr>
              <a:t> </a:t>
            </a:r>
            <a:r>
              <a:rPr sz="2400" spc="55" dirty="0">
                <a:latin typeface="Verdana"/>
                <a:cs typeface="Verdana"/>
              </a:rPr>
              <a:t>showing</a:t>
            </a:r>
            <a:r>
              <a:rPr sz="2400" spc="-204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resilience</a:t>
            </a:r>
            <a:r>
              <a:rPr sz="2400" spc="-204" dirty="0">
                <a:latin typeface="Verdana"/>
                <a:cs typeface="Verdana"/>
              </a:rPr>
              <a:t> </a:t>
            </a:r>
            <a:r>
              <a:rPr sz="2400" spc="45" dirty="0">
                <a:latin typeface="Verdana"/>
                <a:cs typeface="Verdana"/>
              </a:rPr>
              <a:t>in</a:t>
            </a:r>
            <a:r>
              <a:rPr sz="2400" spc="-204" dirty="0">
                <a:latin typeface="Verdana"/>
                <a:cs typeface="Verdana"/>
              </a:rPr>
              <a:t> </a:t>
            </a:r>
            <a:r>
              <a:rPr sz="2400" spc="50" dirty="0">
                <a:latin typeface="Verdana"/>
                <a:cs typeface="Verdana"/>
              </a:rPr>
              <a:t>the</a:t>
            </a:r>
            <a:r>
              <a:rPr sz="2400" spc="-210" dirty="0">
                <a:latin typeface="Verdana"/>
                <a:cs typeface="Verdana"/>
              </a:rPr>
              <a:t> </a:t>
            </a:r>
            <a:r>
              <a:rPr sz="2400" spc="-40" dirty="0">
                <a:latin typeface="Verdana"/>
                <a:cs typeface="Verdana"/>
              </a:rPr>
              <a:t>industry.</a:t>
            </a:r>
            <a:endParaRPr sz="2400" dirty="0">
              <a:latin typeface="Verdana"/>
              <a:cs typeface="Verdana"/>
            </a:endParaRPr>
          </a:p>
          <a:p>
            <a:pPr marL="339090" marR="5080" algn="just">
              <a:lnSpc>
                <a:spcPts val="2850"/>
              </a:lnSpc>
              <a:spcBef>
                <a:spcPts val="165"/>
              </a:spcBef>
            </a:pPr>
            <a:r>
              <a:rPr sz="2400" b="1" spc="-215" dirty="0">
                <a:latin typeface="Tahoma"/>
                <a:cs typeface="Tahoma"/>
              </a:rPr>
              <a:t>2017:</a:t>
            </a:r>
            <a:r>
              <a:rPr sz="2400" b="1" spc="-75" dirty="0">
                <a:latin typeface="Tahoma"/>
                <a:cs typeface="Tahoma"/>
              </a:rPr>
              <a:t> </a:t>
            </a:r>
            <a:r>
              <a:rPr sz="2400" spc="-15" dirty="0">
                <a:latin typeface="Verdana"/>
                <a:cs typeface="Verdana"/>
              </a:rPr>
              <a:t>There</a:t>
            </a:r>
            <a:r>
              <a:rPr sz="2400" spc="-2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was</a:t>
            </a:r>
            <a:r>
              <a:rPr sz="2400" spc="-215" dirty="0">
                <a:latin typeface="Verdana"/>
                <a:cs typeface="Verdana"/>
              </a:rPr>
              <a:t> </a:t>
            </a:r>
            <a:r>
              <a:rPr sz="2400" spc="-30" dirty="0">
                <a:latin typeface="Verdana"/>
                <a:cs typeface="Verdana"/>
              </a:rPr>
              <a:t>a</a:t>
            </a:r>
            <a:r>
              <a:rPr sz="2400" spc="-210" dirty="0">
                <a:latin typeface="Verdana"/>
                <a:cs typeface="Verdana"/>
              </a:rPr>
              <a:t> </a:t>
            </a:r>
            <a:r>
              <a:rPr sz="2400" spc="30" dirty="0">
                <a:latin typeface="Verdana"/>
                <a:cs typeface="Verdana"/>
              </a:rPr>
              <a:t>noticeable</a:t>
            </a:r>
            <a:r>
              <a:rPr sz="2400" spc="-2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uptick,</a:t>
            </a:r>
            <a:r>
              <a:rPr sz="2400" spc="-215" dirty="0">
                <a:latin typeface="Verdana"/>
                <a:cs typeface="Verdana"/>
              </a:rPr>
              <a:t> </a:t>
            </a:r>
            <a:r>
              <a:rPr sz="2400" spc="65" dirty="0">
                <a:latin typeface="Verdana"/>
                <a:cs typeface="Verdana"/>
              </a:rPr>
              <a:t>with</a:t>
            </a:r>
            <a:r>
              <a:rPr sz="2400" spc="-210" dirty="0">
                <a:latin typeface="Verdana"/>
                <a:cs typeface="Verdana"/>
              </a:rPr>
              <a:t> 1,086</a:t>
            </a:r>
            <a:r>
              <a:rPr sz="2400" spc="-215" dirty="0">
                <a:latin typeface="Verdana"/>
                <a:cs typeface="Verdana"/>
              </a:rPr>
              <a:t> </a:t>
            </a:r>
            <a:r>
              <a:rPr sz="2400" spc="80" dirty="0">
                <a:latin typeface="Verdana"/>
                <a:cs typeface="Verdana"/>
              </a:rPr>
              <a:t>new</a:t>
            </a:r>
            <a:r>
              <a:rPr sz="2400" spc="-210" dirty="0">
                <a:latin typeface="Verdana"/>
                <a:cs typeface="Verdana"/>
              </a:rPr>
              <a:t> </a:t>
            </a:r>
            <a:r>
              <a:rPr sz="2400" spc="10" dirty="0">
                <a:latin typeface="Verdana"/>
                <a:cs typeface="Verdana"/>
              </a:rPr>
              <a:t>openings,</a:t>
            </a:r>
            <a:r>
              <a:rPr sz="2400" spc="-2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possibly</a:t>
            </a:r>
            <a:r>
              <a:rPr sz="2400" spc="-2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driven</a:t>
            </a:r>
            <a:r>
              <a:rPr sz="2400" spc="-210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by</a:t>
            </a:r>
            <a:r>
              <a:rPr sz="2400" spc="-215" dirty="0">
                <a:latin typeface="Verdana"/>
                <a:cs typeface="Verdana"/>
              </a:rPr>
              <a:t> </a:t>
            </a:r>
            <a:r>
              <a:rPr sz="2400" spc="35" dirty="0">
                <a:latin typeface="Verdana"/>
                <a:cs typeface="Verdana"/>
              </a:rPr>
              <a:t>renewed</a:t>
            </a:r>
            <a:r>
              <a:rPr sz="2400" spc="-210" dirty="0">
                <a:latin typeface="Verdana"/>
                <a:cs typeface="Verdana"/>
              </a:rPr>
              <a:t> </a:t>
            </a:r>
            <a:r>
              <a:rPr sz="2400" spc="50" dirty="0">
                <a:latin typeface="Verdana"/>
                <a:cs typeface="Verdana"/>
              </a:rPr>
              <a:t>consumer</a:t>
            </a:r>
            <a:r>
              <a:rPr sz="2400" spc="-2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interest</a:t>
            </a:r>
            <a:r>
              <a:rPr sz="2400" spc="-215" dirty="0">
                <a:latin typeface="Verdana"/>
                <a:cs typeface="Verdana"/>
              </a:rPr>
              <a:t> </a:t>
            </a:r>
            <a:r>
              <a:rPr sz="2400" spc="70" dirty="0">
                <a:latin typeface="Verdana"/>
                <a:cs typeface="Verdana"/>
              </a:rPr>
              <a:t>and</a:t>
            </a:r>
            <a:r>
              <a:rPr lang="en-IN" sz="2400" spc="70" dirty="0">
                <a:latin typeface="Verdana"/>
                <a:cs typeface="Verdana"/>
              </a:rPr>
              <a:t> </a:t>
            </a:r>
            <a:r>
              <a:rPr sz="2400" spc="20" dirty="0">
                <a:latin typeface="Verdana"/>
                <a:cs typeface="Verdana"/>
              </a:rPr>
              <a:t>market</a:t>
            </a:r>
            <a:r>
              <a:rPr sz="2400" spc="-220" dirty="0">
                <a:latin typeface="Verdana"/>
                <a:cs typeface="Verdana"/>
              </a:rPr>
              <a:t> </a:t>
            </a:r>
            <a:r>
              <a:rPr sz="2400" spc="-30" dirty="0">
                <a:latin typeface="Verdana"/>
                <a:cs typeface="Verdana"/>
              </a:rPr>
              <a:t>expansion.</a:t>
            </a:r>
            <a:endParaRPr sz="2400" dirty="0">
              <a:latin typeface="Verdana"/>
              <a:cs typeface="Verdana"/>
            </a:endParaRPr>
          </a:p>
          <a:p>
            <a:pPr marL="339090" algn="just">
              <a:lnSpc>
                <a:spcPts val="2760"/>
              </a:lnSpc>
            </a:pPr>
            <a:r>
              <a:rPr sz="2400" b="1" spc="-185" dirty="0">
                <a:latin typeface="Tahoma"/>
                <a:cs typeface="Tahoma"/>
              </a:rPr>
              <a:t>2018:</a:t>
            </a:r>
            <a:r>
              <a:rPr sz="2400" b="1" spc="-45" dirty="0">
                <a:latin typeface="Tahoma"/>
                <a:cs typeface="Tahoma"/>
              </a:rPr>
              <a:t> </a:t>
            </a:r>
            <a:r>
              <a:rPr sz="2400" spc="5" dirty="0">
                <a:latin typeface="Verdana"/>
                <a:cs typeface="Verdana"/>
              </a:rPr>
              <a:t>The</a:t>
            </a:r>
            <a:r>
              <a:rPr sz="2400" spc="-210" dirty="0">
                <a:latin typeface="Verdana"/>
                <a:cs typeface="Verdana"/>
              </a:rPr>
              <a:t> </a:t>
            </a:r>
            <a:r>
              <a:rPr sz="2400" spc="60" dirty="0">
                <a:latin typeface="Verdana"/>
                <a:cs typeface="Verdana"/>
              </a:rPr>
              <a:t>decade</a:t>
            </a:r>
            <a:r>
              <a:rPr sz="2400" spc="-210" dirty="0">
                <a:latin typeface="Verdana"/>
                <a:cs typeface="Verdana"/>
              </a:rPr>
              <a:t> </a:t>
            </a:r>
            <a:r>
              <a:rPr sz="2400" spc="30" dirty="0">
                <a:latin typeface="Verdana"/>
                <a:cs typeface="Verdana"/>
              </a:rPr>
              <a:t>closed</a:t>
            </a:r>
            <a:r>
              <a:rPr sz="2400" spc="-210" dirty="0">
                <a:latin typeface="Verdana"/>
                <a:cs typeface="Verdana"/>
              </a:rPr>
              <a:t> </a:t>
            </a:r>
            <a:r>
              <a:rPr sz="2400" spc="75" dirty="0">
                <a:latin typeface="Verdana"/>
                <a:cs typeface="Verdana"/>
              </a:rPr>
              <a:t>on</a:t>
            </a:r>
            <a:r>
              <a:rPr sz="2400" spc="-210" dirty="0">
                <a:latin typeface="Verdana"/>
                <a:cs typeface="Verdana"/>
              </a:rPr>
              <a:t> </a:t>
            </a:r>
            <a:r>
              <a:rPr sz="2400" spc="-30" dirty="0">
                <a:latin typeface="Verdana"/>
                <a:cs typeface="Verdana"/>
              </a:rPr>
              <a:t>a</a:t>
            </a:r>
            <a:r>
              <a:rPr sz="2400" spc="-215" dirty="0">
                <a:latin typeface="Verdana"/>
                <a:cs typeface="Verdana"/>
              </a:rPr>
              <a:t> </a:t>
            </a:r>
            <a:r>
              <a:rPr sz="2400" spc="85" dirty="0">
                <a:latin typeface="Verdana"/>
                <a:cs typeface="Verdana"/>
              </a:rPr>
              <a:t>high</a:t>
            </a:r>
            <a:r>
              <a:rPr sz="2400" spc="-210" dirty="0">
                <a:latin typeface="Verdana"/>
                <a:cs typeface="Verdana"/>
              </a:rPr>
              <a:t> </a:t>
            </a:r>
            <a:r>
              <a:rPr sz="2400" spc="-45" dirty="0">
                <a:latin typeface="Verdana"/>
                <a:cs typeface="Verdana"/>
              </a:rPr>
              <a:t>note,</a:t>
            </a:r>
            <a:r>
              <a:rPr sz="2400" spc="-210" dirty="0">
                <a:latin typeface="Verdana"/>
                <a:cs typeface="Verdana"/>
              </a:rPr>
              <a:t> </a:t>
            </a:r>
            <a:r>
              <a:rPr sz="2400" spc="65" dirty="0">
                <a:latin typeface="Verdana"/>
                <a:cs typeface="Verdana"/>
              </a:rPr>
              <a:t>with</a:t>
            </a:r>
            <a:r>
              <a:rPr sz="2400" spc="-210" dirty="0">
                <a:latin typeface="Verdana"/>
                <a:cs typeface="Verdana"/>
              </a:rPr>
              <a:t> </a:t>
            </a:r>
            <a:r>
              <a:rPr sz="2400" spc="-365" dirty="0">
                <a:latin typeface="Verdana"/>
                <a:cs typeface="Verdana"/>
              </a:rPr>
              <a:t>1,102</a:t>
            </a:r>
            <a:r>
              <a:rPr sz="2400" spc="-210" dirty="0">
                <a:latin typeface="Verdana"/>
                <a:cs typeface="Verdana"/>
              </a:rPr>
              <a:t> </a:t>
            </a:r>
            <a:r>
              <a:rPr sz="2400" spc="80" dirty="0">
                <a:latin typeface="Verdana"/>
                <a:cs typeface="Verdana"/>
              </a:rPr>
              <a:t>new</a:t>
            </a:r>
            <a:r>
              <a:rPr sz="2400" spc="-210" dirty="0">
                <a:latin typeface="Verdana"/>
                <a:cs typeface="Verdana"/>
              </a:rPr>
              <a:t> </a:t>
            </a:r>
            <a:r>
              <a:rPr sz="2400" spc="-50" dirty="0">
                <a:latin typeface="Verdana"/>
                <a:cs typeface="Verdana"/>
              </a:rPr>
              <a:t>restaurants,</a:t>
            </a:r>
            <a:r>
              <a:rPr sz="2400" spc="-215" dirty="0">
                <a:latin typeface="Verdana"/>
                <a:cs typeface="Verdana"/>
              </a:rPr>
              <a:t> </a:t>
            </a:r>
            <a:r>
              <a:rPr sz="2400" spc="50" dirty="0">
                <a:latin typeface="Verdana"/>
                <a:cs typeface="Verdana"/>
              </a:rPr>
              <a:t>the</a:t>
            </a:r>
            <a:r>
              <a:rPr sz="2400" spc="-210" dirty="0">
                <a:latin typeface="Verdana"/>
                <a:cs typeface="Verdana"/>
              </a:rPr>
              <a:t> </a:t>
            </a:r>
            <a:r>
              <a:rPr sz="2400" spc="40" dirty="0">
                <a:latin typeface="Verdana"/>
                <a:cs typeface="Verdana"/>
              </a:rPr>
              <a:t>highest</a:t>
            </a:r>
            <a:r>
              <a:rPr sz="2400" spc="-210" dirty="0">
                <a:latin typeface="Verdana"/>
                <a:cs typeface="Verdana"/>
              </a:rPr>
              <a:t> </a:t>
            </a:r>
            <a:r>
              <a:rPr sz="2400" spc="80" dirty="0">
                <a:latin typeface="Verdana"/>
                <a:cs typeface="Verdana"/>
              </a:rPr>
              <a:t>number</a:t>
            </a:r>
            <a:r>
              <a:rPr sz="2400" spc="-210" dirty="0">
                <a:latin typeface="Verdana"/>
                <a:cs typeface="Verdana"/>
              </a:rPr>
              <a:t> </a:t>
            </a:r>
            <a:r>
              <a:rPr sz="2400" spc="45" dirty="0">
                <a:latin typeface="Verdana"/>
                <a:cs typeface="Verdana"/>
              </a:rPr>
              <a:t>in</a:t>
            </a:r>
            <a:r>
              <a:rPr sz="2400" spc="-210" dirty="0">
                <a:latin typeface="Verdana"/>
                <a:cs typeface="Verdana"/>
              </a:rPr>
              <a:t> </a:t>
            </a:r>
            <a:r>
              <a:rPr sz="2400" spc="50" dirty="0">
                <a:latin typeface="Verdana"/>
                <a:cs typeface="Verdana"/>
              </a:rPr>
              <a:t>the</a:t>
            </a:r>
            <a:r>
              <a:rPr sz="2400" spc="-215" dirty="0">
                <a:latin typeface="Verdana"/>
                <a:cs typeface="Verdana"/>
              </a:rPr>
              <a:t> </a:t>
            </a:r>
            <a:r>
              <a:rPr sz="2400" spc="20" dirty="0">
                <a:latin typeface="Verdana"/>
                <a:cs typeface="Verdana"/>
              </a:rPr>
              <a:t>given</a:t>
            </a:r>
            <a:r>
              <a:rPr sz="2400" spc="-210" dirty="0">
                <a:latin typeface="Verdana"/>
                <a:cs typeface="Verdana"/>
              </a:rPr>
              <a:t> </a:t>
            </a:r>
            <a:r>
              <a:rPr lang="en-IN" sz="2400" spc="-120" dirty="0">
                <a:latin typeface="Verdana"/>
                <a:cs typeface="Verdana"/>
              </a:rPr>
              <a:t>year</a:t>
            </a:r>
            <a:r>
              <a:rPr sz="2400" spc="-120" dirty="0">
                <a:latin typeface="Verdana"/>
                <a:cs typeface="Verdana"/>
              </a:rPr>
              <a:t>,</a:t>
            </a:r>
            <a:endParaRPr sz="2400" dirty="0">
              <a:latin typeface="Verdana"/>
              <a:cs typeface="Verdana"/>
            </a:endParaRPr>
          </a:p>
          <a:p>
            <a:pPr marL="339090" algn="just">
              <a:lnSpc>
                <a:spcPct val="100000"/>
              </a:lnSpc>
              <a:spcBef>
                <a:spcPts val="45"/>
              </a:spcBef>
            </a:pPr>
            <a:r>
              <a:rPr sz="2400" spc="55" dirty="0">
                <a:latin typeface="Verdana"/>
                <a:cs typeface="Verdana"/>
              </a:rPr>
              <a:t>indicating</a:t>
            </a:r>
            <a:r>
              <a:rPr sz="2400" spc="-215" dirty="0">
                <a:latin typeface="Verdana"/>
                <a:cs typeface="Verdana"/>
              </a:rPr>
              <a:t> </a:t>
            </a:r>
            <a:r>
              <a:rPr sz="2400" spc="-100" dirty="0">
                <a:latin typeface="Verdana"/>
                <a:cs typeface="Verdana"/>
              </a:rPr>
              <a:t>r</a:t>
            </a:r>
            <a:r>
              <a:rPr sz="2400" spc="40" dirty="0">
                <a:latin typeface="Verdana"/>
                <a:cs typeface="Verdana"/>
              </a:rPr>
              <a:t>obust</a:t>
            </a:r>
            <a:r>
              <a:rPr sz="2400" spc="-215" dirty="0">
                <a:latin typeface="Verdana"/>
                <a:cs typeface="Verdana"/>
              </a:rPr>
              <a:t> </a:t>
            </a:r>
            <a:r>
              <a:rPr sz="2400" spc="50" dirty="0">
                <a:latin typeface="Verdana"/>
                <a:cs typeface="Verdana"/>
              </a:rPr>
              <a:t>g</a:t>
            </a:r>
            <a:r>
              <a:rPr sz="2400" dirty="0">
                <a:latin typeface="Verdana"/>
                <a:cs typeface="Verdana"/>
              </a:rPr>
              <a:t>r</a:t>
            </a:r>
            <a:r>
              <a:rPr sz="2400" spc="5" dirty="0">
                <a:latin typeface="Verdana"/>
                <a:cs typeface="Verdana"/>
              </a:rPr>
              <a:t>o</a:t>
            </a:r>
            <a:r>
              <a:rPr sz="2400" spc="180" dirty="0">
                <a:latin typeface="Verdana"/>
                <a:cs typeface="Verdana"/>
              </a:rPr>
              <a:t>w</a:t>
            </a:r>
            <a:r>
              <a:rPr sz="2400" spc="65" dirty="0">
                <a:latin typeface="Verdana"/>
                <a:cs typeface="Verdana"/>
              </a:rPr>
              <a:t>th</a:t>
            </a:r>
            <a:r>
              <a:rPr sz="2400" spc="-215" dirty="0">
                <a:latin typeface="Verdana"/>
                <a:cs typeface="Verdana"/>
              </a:rPr>
              <a:t> </a:t>
            </a:r>
            <a:r>
              <a:rPr sz="2400" spc="70" dirty="0">
                <a:latin typeface="Verdana"/>
                <a:cs typeface="Verdana"/>
              </a:rPr>
              <a:t>and</a:t>
            </a:r>
            <a:r>
              <a:rPr sz="2400" spc="-215" dirty="0">
                <a:latin typeface="Verdana"/>
                <a:cs typeface="Verdana"/>
              </a:rPr>
              <a:t> </a:t>
            </a:r>
            <a:r>
              <a:rPr sz="2400" spc="45" dirty="0">
                <a:latin typeface="Verdana"/>
                <a:cs typeface="Verdana"/>
              </a:rPr>
              <a:t>ma</a:t>
            </a:r>
            <a:r>
              <a:rPr sz="2400" spc="5" dirty="0">
                <a:latin typeface="Verdana"/>
                <a:cs typeface="Verdana"/>
              </a:rPr>
              <a:t>r</a:t>
            </a:r>
            <a:r>
              <a:rPr sz="2400" spc="-35" dirty="0">
                <a:latin typeface="Verdana"/>
                <a:cs typeface="Verdana"/>
              </a:rPr>
              <a:t>k</a:t>
            </a:r>
            <a:r>
              <a:rPr sz="2400" spc="20" dirty="0">
                <a:latin typeface="Verdana"/>
                <a:cs typeface="Verdana"/>
              </a:rPr>
              <a:t>et</a:t>
            </a:r>
            <a:r>
              <a:rPr sz="2400" spc="-215" dirty="0">
                <a:latin typeface="Verdana"/>
                <a:cs typeface="Verdana"/>
              </a:rPr>
              <a:t> </a:t>
            </a:r>
            <a:r>
              <a:rPr sz="2400" spc="75" dirty="0">
                <a:latin typeface="Verdana"/>
                <a:cs typeface="Verdana"/>
              </a:rPr>
              <a:t>c</a:t>
            </a:r>
            <a:r>
              <a:rPr sz="2400" spc="65" dirty="0">
                <a:latin typeface="Verdana"/>
                <a:cs typeface="Verdana"/>
              </a:rPr>
              <a:t>onﬁden</a:t>
            </a:r>
            <a:r>
              <a:rPr sz="2400" spc="30" dirty="0">
                <a:latin typeface="Verdana"/>
                <a:cs typeface="Verdana"/>
              </a:rPr>
              <a:t>c</a:t>
            </a:r>
            <a:r>
              <a:rPr sz="2400" spc="-175" dirty="0">
                <a:latin typeface="Verdana"/>
                <a:cs typeface="Verdana"/>
              </a:rPr>
              <a:t>e.</a:t>
            </a:r>
            <a:endParaRPr sz="24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C004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5644" y="197066"/>
            <a:ext cx="7886700" cy="394826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15950" y="5522976"/>
            <a:ext cx="16764000" cy="354956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just">
              <a:lnSpc>
                <a:spcPts val="3085"/>
              </a:lnSpc>
              <a:spcBef>
                <a:spcPts val="125"/>
              </a:spcBef>
            </a:pPr>
            <a:r>
              <a:rPr sz="2800" b="1" i="1" spc="-145" dirty="0">
                <a:solidFill>
                  <a:srgbClr val="FF0000"/>
                </a:solidFill>
                <a:latin typeface="Verdana"/>
                <a:cs typeface="Verdana"/>
              </a:rPr>
              <a:t>Recommendations:</a:t>
            </a:r>
            <a:endParaRPr sz="2800" dirty="0">
              <a:solidFill>
                <a:srgbClr val="FF0000"/>
              </a:solidFill>
              <a:latin typeface="Verdana"/>
              <a:cs typeface="Verdana"/>
            </a:endParaRPr>
          </a:p>
          <a:p>
            <a:pPr marL="12700" marR="5080" algn="just">
              <a:lnSpc>
                <a:spcPts val="3080"/>
              </a:lnSpc>
              <a:spcBef>
                <a:spcPts val="55"/>
              </a:spcBef>
              <a:buFont typeface="Verdana"/>
              <a:buAutoNum type="arabicPeriod"/>
              <a:tabLst>
                <a:tab pos="294005" algn="l"/>
              </a:tabLst>
            </a:pPr>
            <a:r>
              <a:rPr sz="2550" b="1" spc="80" dirty="0">
                <a:solidFill>
                  <a:srgbClr val="FFFFFF"/>
                </a:solidFill>
                <a:latin typeface="Tahoma"/>
                <a:cs typeface="Tahoma"/>
              </a:rPr>
              <a:t>Focus</a:t>
            </a:r>
            <a:r>
              <a:rPr sz="2550" b="1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50" b="1" spc="90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2550" b="1" spc="45" dirty="0">
                <a:solidFill>
                  <a:srgbClr val="FFFFFF"/>
                </a:solidFill>
                <a:latin typeface="Tahoma"/>
                <a:cs typeface="Tahoma"/>
              </a:rPr>
              <a:t> High-Rating </a:t>
            </a:r>
            <a:r>
              <a:rPr sz="2550" b="1" spc="-25" dirty="0">
                <a:solidFill>
                  <a:srgbClr val="FFFFFF"/>
                </a:solidFill>
                <a:latin typeface="Tahoma"/>
                <a:cs typeface="Tahoma"/>
              </a:rPr>
              <a:t>Areas:</a:t>
            </a:r>
            <a:r>
              <a:rPr sz="2550" b="1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50" spc="15" dirty="0">
                <a:solidFill>
                  <a:srgbClr val="C8C8C8"/>
                </a:solidFill>
                <a:latin typeface="Verdana"/>
                <a:cs typeface="Verdana"/>
              </a:rPr>
              <a:t>Consider</a:t>
            </a:r>
            <a:r>
              <a:rPr sz="2550" spc="-145" dirty="0">
                <a:solidFill>
                  <a:srgbClr val="C8C8C8"/>
                </a:solidFill>
                <a:latin typeface="Verdana"/>
                <a:cs typeface="Verdana"/>
              </a:rPr>
              <a:t> </a:t>
            </a:r>
            <a:r>
              <a:rPr sz="2550" spc="45" dirty="0">
                <a:solidFill>
                  <a:srgbClr val="C8C8C8"/>
                </a:solidFill>
                <a:latin typeface="Verdana"/>
                <a:cs typeface="Verdana"/>
              </a:rPr>
              <a:t>expanding</a:t>
            </a:r>
            <a:r>
              <a:rPr sz="2550" spc="-140" dirty="0">
                <a:solidFill>
                  <a:srgbClr val="C8C8C8"/>
                </a:solidFill>
                <a:latin typeface="Verdana"/>
                <a:cs typeface="Verdana"/>
              </a:rPr>
              <a:t> </a:t>
            </a:r>
            <a:r>
              <a:rPr sz="2550" spc="45" dirty="0">
                <a:solidFill>
                  <a:srgbClr val="C8C8C8"/>
                </a:solidFill>
                <a:latin typeface="Verdana"/>
                <a:cs typeface="Verdana"/>
              </a:rPr>
              <a:t>in</a:t>
            </a:r>
            <a:r>
              <a:rPr sz="2550" spc="-140" dirty="0">
                <a:solidFill>
                  <a:srgbClr val="C8C8C8"/>
                </a:solidFill>
                <a:latin typeface="Verdana"/>
                <a:cs typeface="Verdana"/>
              </a:rPr>
              <a:t> </a:t>
            </a:r>
            <a:r>
              <a:rPr sz="2550" dirty="0">
                <a:solidFill>
                  <a:srgbClr val="C8C8C8"/>
                </a:solidFill>
                <a:latin typeface="Verdana"/>
                <a:cs typeface="Verdana"/>
              </a:rPr>
              <a:t>cities</a:t>
            </a:r>
            <a:r>
              <a:rPr sz="2550" spc="-145" dirty="0">
                <a:solidFill>
                  <a:srgbClr val="C8C8C8"/>
                </a:solidFill>
                <a:latin typeface="Verdana"/>
                <a:cs typeface="Verdana"/>
              </a:rPr>
              <a:t> </a:t>
            </a:r>
            <a:r>
              <a:rPr sz="2550" spc="-10" dirty="0">
                <a:solidFill>
                  <a:srgbClr val="C8C8C8"/>
                </a:solidFill>
                <a:latin typeface="Verdana"/>
                <a:cs typeface="Verdana"/>
              </a:rPr>
              <a:t>or</a:t>
            </a:r>
            <a:r>
              <a:rPr sz="2550" spc="-140" dirty="0">
                <a:solidFill>
                  <a:srgbClr val="C8C8C8"/>
                </a:solidFill>
                <a:latin typeface="Verdana"/>
                <a:cs typeface="Verdana"/>
              </a:rPr>
              <a:t> </a:t>
            </a:r>
            <a:r>
              <a:rPr sz="2550" spc="20" dirty="0">
                <a:solidFill>
                  <a:srgbClr val="C8C8C8"/>
                </a:solidFill>
                <a:latin typeface="Verdana"/>
                <a:cs typeface="Verdana"/>
              </a:rPr>
              <a:t>regions</a:t>
            </a:r>
            <a:r>
              <a:rPr sz="2550" spc="-140" dirty="0">
                <a:solidFill>
                  <a:srgbClr val="C8C8C8"/>
                </a:solidFill>
                <a:latin typeface="Verdana"/>
                <a:cs typeface="Verdana"/>
              </a:rPr>
              <a:t> </a:t>
            </a:r>
            <a:r>
              <a:rPr sz="2550" spc="70" dirty="0">
                <a:solidFill>
                  <a:srgbClr val="C8C8C8"/>
                </a:solidFill>
                <a:latin typeface="Verdana"/>
                <a:cs typeface="Verdana"/>
              </a:rPr>
              <a:t>with</a:t>
            </a:r>
            <a:r>
              <a:rPr sz="2550" spc="-145" dirty="0">
                <a:solidFill>
                  <a:srgbClr val="C8C8C8"/>
                </a:solidFill>
                <a:latin typeface="Verdana"/>
                <a:cs typeface="Verdana"/>
              </a:rPr>
              <a:t> </a:t>
            </a:r>
            <a:r>
              <a:rPr sz="2550" spc="50" dirty="0">
                <a:solidFill>
                  <a:srgbClr val="C8C8C8"/>
                </a:solidFill>
                <a:latin typeface="Verdana"/>
                <a:cs typeface="Verdana"/>
              </a:rPr>
              <a:t>higher</a:t>
            </a:r>
            <a:r>
              <a:rPr sz="2550" spc="-140" dirty="0">
                <a:solidFill>
                  <a:srgbClr val="C8C8C8"/>
                </a:solidFill>
                <a:latin typeface="Verdana"/>
                <a:cs typeface="Verdana"/>
              </a:rPr>
              <a:t> </a:t>
            </a:r>
            <a:r>
              <a:rPr sz="2550" spc="-35" dirty="0">
                <a:solidFill>
                  <a:srgbClr val="C8C8C8"/>
                </a:solidFill>
                <a:latin typeface="Verdana"/>
                <a:cs typeface="Verdana"/>
              </a:rPr>
              <a:t>average</a:t>
            </a:r>
            <a:r>
              <a:rPr sz="2550" spc="-140" dirty="0">
                <a:solidFill>
                  <a:srgbClr val="C8C8C8"/>
                </a:solidFill>
                <a:latin typeface="Verdana"/>
                <a:cs typeface="Verdana"/>
              </a:rPr>
              <a:t> </a:t>
            </a:r>
            <a:r>
              <a:rPr sz="2550" spc="-5" dirty="0">
                <a:solidFill>
                  <a:srgbClr val="C8C8C8"/>
                </a:solidFill>
                <a:latin typeface="Verdana"/>
                <a:cs typeface="Verdana"/>
              </a:rPr>
              <a:t>ratings</a:t>
            </a:r>
            <a:r>
              <a:rPr sz="2550" spc="-145" dirty="0">
                <a:solidFill>
                  <a:srgbClr val="C8C8C8"/>
                </a:solidFill>
                <a:latin typeface="Verdana"/>
                <a:cs typeface="Verdana"/>
              </a:rPr>
              <a:t> </a:t>
            </a:r>
            <a:r>
              <a:rPr sz="2550" spc="-60" dirty="0">
                <a:solidFill>
                  <a:srgbClr val="C8C8C8"/>
                </a:solidFill>
                <a:latin typeface="Verdana"/>
                <a:cs typeface="Verdana"/>
              </a:rPr>
              <a:t>as</a:t>
            </a:r>
            <a:r>
              <a:rPr sz="2550" spc="-140" dirty="0">
                <a:solidFill>
                  <a:srgbClr val="C8C8C8"/>
                </a:solidFill>
                <a:latin typeface="Verdana"/>
                <a:cs typeface="Verdana"/>
              </a:rPr>
              <a:t> </a:t>
            </a:r>
            <a:r>
              <a:rPr sz="2550" dirty="0">
                <a:solidFill>
                  <a:srgbClr val="C8C8C8"/>
                </a:solidFill>
                <a:latin typeface="Verdana"/>
                <a:cs typeface="Verdana"/>
              </a:rPr>
              <a:t>they</a:t>
            </a:r>
            <a:r>
              <a:rPr lang="en-IN" sz="2550" dirty="0">
                <a:solidFill>
                  <a:srgbClr val="C8C8C8"/>
                </a:solidFill>
                <a:latin typeface="Verdana"/>
                <a:cs typeface="Verdana"/>
              </a:rPr>
              <a:t> </a:t>
            </a:r>
            <a:r>
              <a:rPr sz="2550" spc="35" dirty="0">
                <a:solidFill>
                  <a:srgbClr val="C8C8C8"/>
                </a:solidFill>
                <a:latin typeface="Verdana"/>
                <a:cs typeface="Verdana"/>
              </a:rPr>
              <a:t>indicate</a:t>
            </a:r>
            <a:r>
              <a:rPr sz="2550" spc="-229" dirty="0">
                <a:solidFill>
                  <a:srgbClr val="C8C8C8"/>
                </a:solidFill>
                <a:latin typeface="Verdana"/>
                <a:cs typeface="Verdana"/>
              </a:rPr>
              <a:t> </a:t>
            </a:r>
            <a:r>
              <a:rPr sz="2550" spc="10" dirty="0">
                <a:solidFill>
                  <a:srgbClr val="C8C8C8"/>
                </a:solidFill>
                <a:latin typeface="Verdana"/>
                <a:cs typeface="Verdana"/>
              </a:rPr>
              <a:t>better</a:t>
            </a:r>
            <a:r>
              <a:rPr sz="2550" spc="-229" dirty="0">
                <a:solidFill>
                  <a:srgbClr val="C8C8C8"/>
                </a:solidFill>
                <a:latin typeface="Verdana"/>
                <a:cs typeface="Verdana"/>
              </a:rPr>
              <a:t> </a:t>
            </a:r>
            <a:r>
              <a:rPr sz="2550" spc="20" dirty="0">
                <a:solidFill>
                  <a:srgbClr val="C8C8C8"/>
                </a:solidFill>
                <a:latin typeface="Verdana"/>
                <a:cs typeface="Verdana"/>
              </a:rPr>
              <a:t>market</a:t>
            </a:r>
            <a:r>
              <a:rPr sz="2550" spc="-229" dirty="0">
                <a:solidFill>
                  <a:srgbClr val="C8C8C8"/>
                </a:solidFill>
                <a:latin typeface="Verdana"/>
                <a:cs typeface="Verdana"/>
              </a:rPr>
              <a:t> </a:t>
            </a:r>
            <a:r>
              <a:rPr sz="2550" spc="45" dirty="0">
                <a:solidFill>
                  <a:srgbClr val="C8C8C8"/>
                </a:solidFill>
                <a:latin typeface="Verdana"/>
                <a:cs typeface="Verdana"/>
              </a:rPr>
              <a:t>conditions</a:t>
            </a:r>
            <a:r>
              <a:rPr sz="2550" spc="-229" dirty="0">
                <a:solidFill>
                  <a:srgbClr val="C8C8C8"/>
                </a:solidFill>
                <a:latin typeface="Verdana"/>
                <a:cs typeface="Verdana"/>
              </a:rPr>
              <a:t> </a:t>
            </a:r>
            <a:r>
              <a:rPr sz="2550" spc="70" dirty="0">
                <a:solidFill>
                  <a:srgbClr val="C8C8C8"/>
                </a:solidFill>
                <a:latin typeface="Verdana"/>
                <a:cs typeface="Verdana"/>
              </a:rPr>
              <a:t>and</a:t>
            </a:r>
            <a:r>
              <a:rPr sz="2550" spc="-229" dirty="0">
                <a:solidFill>
                  <a:srgbClr val="C8C8C8"/>
                </a:solidFill>
                <a:latin typeface="Verdana"/>
                <a:cs typeface="Verdana"/>
              </a:rPr>
              <a:t> </a:t>
            </a:r>
            <a:r>
              <a:rPr sz="2550" spc="40" dirty="0">
                <a:solidFill>
                  <a:srgbClr val="C8C8C8"/>
                </a:solidFill>
                <a:latin typeface="Verdana"/>
                <a:cs typeface="Verdana"/>
              </a:rPr>
              <a:t>customer</a:t>
            </a:r>
            <a:r>
              <a:rPr sz="2550" spc="-229" dirty="0">
                <a:solidFill>
                  <a:srgbClr val="C8C8C8"/>
                </a:solidFill>
                <a:latin typeface="Verdana"/>
                <a:cs typeface="Verdana"/>
              </a:rPr>
              <a:t> </a:t>
            </a:r>
            <a:r>
              <a:rPr sz="2550" spc="-30" dirty="0">
                <a:solidFill>
                  <a:srgbClr val="C8C8C8"/>
                </a:solidFill>
                <a:latin typeface="Verdana"/>
                <a:cs typeface="Verdana"/>
              </a:rPr>
              <a:t>satisfaction.</a:t>
            </a:r>
            <a:endParaRPr sz="2550" dirty="0">
              <a:latin typeface="Verdana"/>
              <a:cs typeface="Verdana"/>
            </a:endParaRPr>
          </a:p>
          <a:p>
            <a:pPr marL="366395" indent="-354330" algn="just">
              <a:lnSpc>
                <a:spcPts val="2965"/>
              </a:lnSpc>
              <a:buFont typeface="Verdana"/>
              <a:buAutoNum type="arabicPeriod"/>
              <a:tabLst>
                <a:tab pos="367030" algn="l"/>
              </a:tabLst>
            </a:pPr>
            <a:r>
              <a:rPr sz="2550" b="1" spc="-5" dirty="0">
                <a:solidFill>
                  <a:srgbClr val="FFFFFF"/>
                </a:solidFill>
                <a:latin typeface="Tahoma"/>
                <a:cs typeface="Tahoma"/>
              </a:rPr>
              <a:t>Improve</a:t>
            </a:r>
            <a:r>
              <a:rPr sz="2550" b="1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50" b="1" spc="40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2550" b="1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50" b="1" spc="25" dirty="0">
                <a:solidFill>
                  <a:srgbClr val="FFFFFF"/>
                </a:solidFill>
                <a:latin typeface="Tahoma"/>
                <a:cs typeface="Tahoma"/>
              </a:rPr>
              <a:t>Low-Rating </a:t>
            </a:r>
            <a:r>
              <a:rPr sz="2550" b="1" spc="-25" dirty="0">
                <a:solidFill>
                  <a:srgbClr val="FFFFFF"/>
                </a:solidFill>
                <a:latin typeface="Tahoma"/>
                <a:cs typeface="Tahoma"/>
              </a:rPr>
              <a:t>Areas:</a:t>
            </a:r>
            <a:r>
              <a:rPr sz="2550" b="1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50" spc="-20" dirty="0">
                <a:solidFill>
                  <a:srgbClr val="B4B0B0"/>
                </a:solidFill>
                <a:latin typeface="Verdana"/>
                <a:cs typeface="Verdana"/>
              </a:rPr>
              <a:t>Identify</a:t>
            </a:r>
            <a:r>
              <a:rPr sz="2550" spc="-160" dirty="0">
                <a:solidFill>
                  <a:srgbClr val="B4B0B0"/>
                </a:solidFill>
                <a:latin typeface="Verdana"/>
                <a:cs typeface="Verdana"/>
              </a:rPr>
              <a:t> </a:t>
            </a:r>
            <a:r>
              <a:rPr sz="2550" spc="70" dirty="0">
                <a:solidFill>
                  <a:srgbClr val="B4B0B0"/>
                </a:solidFill>
                <a:latin typeface="Verdana"/>
                <a:cs typeface="Verdana"/>
              </a:rPr>
              <a:t>and</a:t>
            </a:r>
            <a:r>
              <a:rPr sz="2550" spc="-160" dirty="0">
                <a:solidFill>
                  <a:srgbClr val="B4B0B0"/>
                </a:solidFill>
                <a:latin typeface="Verdana"/>
                <a:cs typeface="Verdana"/>
              </a:rPr>
              <a:t> </a:t>
            </a:r>
            <a:r>
              <a:rPr sz="2550" dirty="0">
                <a:solidFill>
                  <a:srgbClr val="B4B0B0"/>
                </a:solidFill>
                <a:latin typeface="Verdana"/>
                <a:cs typeface="Verdana"/>
              </a:rPr>
              <a:t>address</a:t>
            </a:r>
            <a:r>
              <a:rPr sz="2550" spc="-155" dirty="0">
                <a:solidFill>
                  <a:srgbClr val="B4B0B0"/>
                </a:solidFill>
                <a:latin typeface="Verdana"/>
                <a:cs typeface="Verdana"/>
              </a:rPr>
              <a:t> </a:t>
            </a:r>
            <a:r>
              <a:rPr sz="2550" spc="50" dirty="0">
                <a:solidFill>
                  <a:srgbClr val="B4B0B0"/>
                </a:solidFill>
                <a:latin typeface="Verdana"/>
                <a:cs typeface="Verdana"/>
              </a:rPr>
              <a:t>the</a:t>
            </a:r>
            <a:r>
              <a:rPr sz="2550" spc="-160" dirty="0">
                <a:solidFill>
                  <a:srgbClr val="B4B0B0"/>
                </a:solidFill>
                <a:latin typeface="Verdana"/>
                <a:cs typeface="Verdana"/>
              </a:rPr>
              <a:t> </a:t>
            </a:r>
            <a:r>
              <a:rPr sz="2550" spc="-25" dirty="0">
                <a:solidFill>
                  <a:srgbClr val="B4B0B0"/>
                </a:solidFill>
                <a:latin typeface="Verdana"/>
                <a:cs typeface="Verdana"/>
              </a:rPr>
              <a:t>reasons</a:t>
            </a:r>
            <a:r>
              <a:rPr sz="2550" spc="-155" dirty="0">
                <a:solidFill>
                  <a:srgbClr val="B4B0B0"/>
                </a:solidFill>
                <a:latin typeface="Verdana"/>
                <a:cs typeface="Verdana"/>
              </a:rPr>
              <a:t> </a:t>
            </a:r>
            <a:r>
              <a:rPr sz="2550" spc="-25" dirty="0">
                <a:solidFill>
                  <a:srgbClr val="B4B0B0"/>
                </a:solidFill>
                <a:latin typeface="Verdana"/>
                <a:cs typeface="Verdana"/>
              </a:rPr>
              <a:t>for</a:t>
            </a:r>
            <a:r>
              <a:rPr sz="2550" spc="-160" dirty="0">
                <a:solidFill>
                  <a:srgbClr val="B4B0B0"/>
                </a:solidFill>
                <a:latin typeface="Verdana"/>
                <a:cs typeface="Verdana"/>
              </a:rPr>
              <a:t> </a:t>
            </a:r>
            <a:r>
              <a:rPr sz="2550" spc="50" dirty="0">
                <a:solidFill>
                  <a:srgbClr val="B4B0B0"/>
                </a:solidFill>
                <a:latin typeface="Verdana"/>
                <a:cs typeface="Verdana"/>
              </a:rPr>
              <a:t>low</a:t>
            </a:r>
            <a:r>
              <a:rPr sz="2550" spc="-155" dirty="0">
                <a:solidFill>
                  <a:srgbClr val="B4B0B0"/>
                </a:solidFill>
                <a:latin typeface="Verdana"/>
                <a:cs typeface="Verdana"/>
              </a:rPr>
              <a:t> </a:t>
            </a:r>
            <a:r>
              <a:rPr sz="2550" spc="-5" dirty="0">
                <a:solidFill>
                  <a:srgbClr val="B4B0B0"/>
                </a:solidFill>
                <a:latin typeface="Verdana"/>
                <a:cs typeface="Verdana"/>
              </a:rPr>
              <a:t>ratings</a:t>
            </a:r>
            <a:r>
              <a:rPr sz="2550" spc="-160" dirty="0">
                <a:solidFill>
                  <a:srgbClr val="B4B0B0"/>
                </a:solidFill>
                <a:latin typeface="Verdana"/>
                <a:cs typeface="Verdana"/>
              </a:rPr>
              <a:t> </a:t>
            </a:r>
            <a:r>
              <a:rPr sz="2550" spc="45" dirty="0">
                <a:solidFill>
                  <a:srgbClr val="B4B0B0"/>
                </a:solidFill>
                <a:latin typeface="Verdana"/>
                <a:cs typeface="Verdana"/>
              </a:rPr>
              <a:t>in</a:t>
            </a:r>
            <a:r>
              <a:rPr sz="2550" spc="-155" dirty="0">
                <a:solidFill>
                  <a:srgbClr val="B4B0B0"/>
                </a:solidFill>
                <a:latin typeface="Verdana"/>
                <a:cs typeface="Verdana"/>
              </a:rPr>
              <a:t> </a:t>
            </a:r>
            <a:r>
              <a:rPr sz="2550" spc="20" dirty="0">
                <a:solidFill>
                  <a:srgbClr val="B4B0B0"/>
                </a:solidFill>
                <a:latin typeface="Verdana"/>
                <a:cs typeface="Verdana"/>
              </a:rPr>
              <a:t>certain</a:t>
            </a:r>
            <a:r>
              <a:rPr sz="2550" spc="-160" dirty="0">
                <a:solidFill>
                  <a:srgbClr val="B4B0B0"/>
                </a:solidFill>
                <a:latin typeface="Verdana"/>
                <a:cs typeface="Verdana"/>
              </a:rPr>
              <a:t> </a:t>
            </a:r>
            <a:r>
              <a:rPr sz="2550" spc="-110" dirty="0">
                <a:solidFill>
                  <a:srgbClr val="B4B0B0"/>
                </a:solidFill>
                <a:latin typeface="Verdana"/>
                <a:cs typeface="Verdana"/>
              </a:rPr>
              <a:t>areas</a:t>
            </a:r>
            <a:r>
              <a:rPr lang="en-IN" sz="2550" spc="-110" dirty="0">
                <a:solidFill>
                  <a:srgbClr val="B4B0B0"/>
                </a:solidFill>
                <a:latin typeface="Verdana"/>
                <a:cs typeface="Verdana"/>
              </a:rPr>
              <a:t>, </a:t>
            </a:r>
            <a:r>
              <a:rPr sz="2550" spc="50" dirty="0">
                <a:solidFill>
                  <a:srgbClr val="B4B0B0"/>
                </a:solidFill>
                <a:latin typeface="Verdana"/>
                <a:cs typeface="Verdana"/>
              </a:rPr>
              <a:t>Focus</a:t>
            </a:r>
            <a:r>
              <a:rPr sz="2550" spc="-160" dirty="0">
                <a:solidFill>
                  <a:srgbClr val="B4B0B0"/>
                </a:solidFill>
                <a:latin typeface="Verdana"/>
                <a:cs typeface="Verdana"/>
              </a:rPr>
              <a:t> </a:t>
            </a:r>
            <a:r>
              <a:rPr sz="2550" spc="80" dirty="0">
                <a:solidFill>
                  <a:srgbClr val="B4B0B0"/>
                </a:solidFill>
                <a:latin typeface="Verdana"/>
                <a:cs typeface="Verdana"/>
              </a:rPr>
              <a:t>on</a:t>
            </a:r>
            <a:r>
              <a:rPr lang="en-IN" sz="2550" dirty="0">
                <a:latin typeface="Verdana"/>
                <a:cs typeface="Verdana"/>
              </a:rPr>
              <a:t> </a:t>
            </a:r>
            <a:r>
              <a:rPr sz="2550" spc="40" dirty="0">
                <a:solidFill>
                  <a:srgbClr val="B4B0B0"/>
                </a:solidFill>
                <a:latin typeface="Verdana"/>
                <a:cs typeface="Verdana"/>
              </a:rPr>
              <a:t>improving</a:t>
            </a:r>
            <a:r>
              <a:rPr sz="2550" spc="-229" dirty="0">
                <a:solidFill>
                  <a:srgbClr val="B4B0B0"/>
                </a:solidFill>
                <a:latin typeface="Verdana"/>
                <a:cs typeface="Verdana"/>
              </a:rPr>
              <a:t> </a:t>
            </a:r>
            <a:r>
              <a:rPr sz="2550" spc="-65" dirty="0">
                <a:solidFill>
                  <a:srgbClr val="B4B0B0"/>
                </a:solidFill>
                <a:latin typeface="Verdana"/>
                <a:cs typeface="Verdana"/>
              </a:rPr>
              <a:t>service,</a:t>
            </a:r>
            <a:r>
              <a:rPr sz="2550" spc="-229" dirty="0">
                <a:solidFill>
                  <a:srgbClr val="B4B0B0"/>
                </a:solidFill>
                <a:latin typeface="Verdana"/>
                <a:cs typeface="Verdana"/>
              </a:rPr>
              <a:t> </a:t>
            </a:r>
            <a:r>
              <a:rPr sz="2550" spc="45" dirty="0">
                <a:solidFill>
                  <a:srgbClr val="B4B0B0"/>
                </a:solidFill>
                <a:latin typeface="Verdana"/>
                <a:cs typeface="Verdana"/>
              </a:rPr>
              <a:t>food</a:t>
            </a:r>
            <a:r>
              <a:rPr sz="2550" spc="-229" dirty="0">
                <a:solidFill>
                  <a:srgbClr val="B4B0B0"/>
                </a:solidFill>
                <a:latin typeface="Verdana"/>
                <a:cs typeface="Verdana"/>
              </a:rPr>
              <a:t> </a:t>
            </a:r>
            <a:r>
              <a:rPr sz="2550" spc="-55" dirty="0">
                <a:solidFill>
                  <a:srgbClr val="B4B0B0"/>
                </a:solidFill>
                <a:latin typeface="Verdana"/>
                <a:cs typeface="Verdana"/>
              </a:rPr>
              <a:t>quality,</a:t>
            </a:r>
            <a:r>
              <a:rPr sz="2550" spc="-225" dirty="0">
                <a:solidFill>
                  <a:srgbClr val="B4B0B0"/>
                </a:solidFill>
                <a:latin typeface="Verdana"/>
                <a:cs typeface="Verdana"/>
              </a:rPr>
              <a:t> </a:t>
            </a:r>
            <a:r>
              <a:rPr sz="2550" spc="70" dirty="0">
                <a:solidFill>
                  <a:srgbClr val="B4B0B0"/>
                </a:solidFill>
                <a:latin typeface="Verdana"/>
                <a:cs typeface="Verdana"/>
              </a:rPr>
              <a:t>and</a:t>
            </a:r>
            <a:r>
              <a:rPr sz="2550" spc="-229" dirty="0">
                <a:solidFill>
                  <a:srgbClr val="B4B0B0"/>
                </a:solidFill>
                <a:latin typeface="Verdana"/>
                <a:cs typeface="Verdana"/>
              </a:rPr>
              <a:t> </a:t>
            </a:r>
            <a:r>
              <a:rPr sz="2550" spc="-55" dirty="0">
                <a:solidFill>
                  <a:srgbClr val="B4B0B0"/>
                </a:solidFill>
                <a:latin typeface="Verdana"/>
                <a:cs typeface="Verdana"/>
              </a:rPr>
              <a:t>overall</a:t>
            </a:r>
            <a:r>
              <a:rPr sz="2550" spc="-229" dirty="0">
                <a:solidFill>
                  <a:srgbClr val="B4B0B0"/>
                </a:solidFill>
                <a:latin typeface="Verdana"/>
                <a:cs typeface="Verdana"/>
              </a:rPr>
              <a:t> </a:t>
            </a:r>
            <a:r>
              <a:rPr sz="2550" spc="40" dirty="0">
                <a:solidFill>
                  <a:srgbClr val="B4B0B0"/>
                </a:solidFill>
                <a:latin typeface="Verdana"/>
                <a:cs typeface="Verdana"/>
              </a:rPr>
              <a:t>customer</a:t>
            </a:r>
            <a:r>
              <a:rPr sz="2550" spc="-229" dirty="0">
                <a:solidFill>
                  <a:srgbClr val="B4B0B0"/>
                </a:solidFill>
                <a:latin typeface="Verdana"/>
                <a:cs typeface="Verdana"/>
              </a:rPr>
              <a:t> </a:t>
            </a:r>
            <a:r>
              <a:rPr sz="2550" spc="-25" dirty="0">
                <a:solidFill>
                  <a:srgbClr val="B4B0B0"/>
                </a:solidFill>
                <a:latin typeface="Verdana"/>
                <a:cs typeface="Verdana"/>
              </a:rPr>
              <a:t>experience.</a:t>
            </a:r>
            <a:endParaRPr sz="2550" dirty="0">
              <a:latin typeface="Verdana"/>
              <a:cs typeface="Verdana"/>
            </a:endParaRPr>
          </a:p>
          <a:p>
            <a:pPr marL="12700" marR="5080" indent="-635" algn="just">
              <a:lnSpc>
                <a:spcPts val="3000"/>
              </a:lnSpc>
              <a:spcBef>
                <a:spcPts val="165"/>
              </a:spcBef>
              <a:buFont typeface="Verdana"/>
              <a:buAutoNum type="arabicPeriod" startAt="3"/>
              <a:tabLst>
                <a:tab pos="370205" algn="l"/>
              </a:tabLst>
            </a:pPr>
            <a:r>
              <a:rPr sz="2550" b="1" spc="65" dirty="0">
                <a:solidFill>
                  <a:srgbClr val="FFFFFF"/>
                </a:solidFill>
                <a:latin typeface="Tahoma"/>
                <a:cs typeface="Tahoma"/>
              </a:rPr>
              <a:t>Customer</a:t>
            </a:r>
            <a:r>
              <a:rPr sz="2550" b="1" spc="1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50" b="1" spc="45" dirty="0">
                <a:solidFill>
                  <a:srgbClr val="FFFFFF"/>
                </a:solidFill>
                <a:latin typeface="Tahoma"/>
                <a:cs typeface="Tahoma"/>
              </a:rPr>
              <a:t>Feedback:</a:t>
            </a:r>
            <a:r>
              <a:rPr sz="2550" b="1" spc="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50" spc="5" dirty="0">
                <a:solidFill>
                  <a:srgbClr val="C4BFBF"/>
                </a:solidFill>
                <a:latin typeface="Verdana"/>
                <a:cs typeface="Verdana"/>
              </a:rPr>
              <a:t>Regularly</a:t>
            </a:r>
            <a:r>
              <a:rPr sz="2550" spc="-55" dirty="0">
                <a:solidFill>
                  <a:srgbClr val="C4BFBF"/>
                </a:solidFill>
                <a:latin typeface="Verdana"/>
                <a:cs typeface="Verdana"/>
              </a:rPr>
              <a:t> </a:t>
            </a:r>
            <a:r>
              <a:rPr sz="2550" spc="35" dirty="0">
                <a:solidFill>
                  <a:srgbClr val="C4BFBF"/>
                </a:solidFill>
                <a:latin typeface="Verdana"/>
                <a:cs typeface="Verdana"/>
              </a:rPr>
              <a:t>gather</a:t>
            </a:r>
            <a:r>
              <a:rPr sz="2550" spc="-55" dirty="0">
                <a:solidFill>
                  <a:srgbClr val="C4BFBF"/>
                </a:solidFill>
                <a:latin typeface="Verdana"/>
                <a:cs typeface="Verdana"/>
              </a:rPr>
              <a:t> </a:t>
            </a:r>
            <a:r>
              <a:rPr sz="2550" spc="70" dirty="0">
                <a:solidFill>
                  <a:srgbClr val="C4BFBF"/>
                </a:solidFill>
                <a:latin typeface="Verdana"/>
                <a:cs typeface="Verdana"/>
              </a:rPr>
              <a:t>and</a:t>
            </a:r>
            <a:r>
              <a:rPr sz="2550" spc="-55" dirty="0">
                <a:solidFill>
                  <a:srgbClr val="C4BFBF"/>
                </a:solidFill>
                <a:latin typeface="Verdana"/>
                <a:cs typeface="Verdana"/>
              </a:rPr>
              <a:t> </a:t>
            </a:r>
            <a:r>
              <a:rPr sz="2550" spc="-25" dirty="0">
                <a:solidFill>
                  <a:srgbClr val="C4BFBF"/>
                </a:solidFill>
                <a:latin typeface="Verdana"/>
                <a:cs typeface="Verdana"/>
              </a:rPr>
              <a:t>analyse</a:t>
            </a:r>
            <a:r>
              <a:rPr sz="2550" spc="-55" dirty="0">
                <a:solidFill>
                  <a:srgbClr val="C4BFBF"/>
                </a:solidFill>
                <a:latin typeface="Verdana"/>
                <a:cs typeface="Verdana"/>
              </a:rPr>
              <a:t> </a:t>
            </a:r>
            <a:r>
              <a:rPr sz="2550" spc="40" dirty="0">
                <a:solidFill>
                  <a:srgbClr val="C4BFBF"/>
                </a:solidFill>
                <a:latin typeface="Verdana"/>
                <a:cs typeface="Verdana"/>
              </a:rPr>
              <a:t>customer</a:t>
            </a:r>
            <a:r>
              <a:rPr sz="2550" spc="-55" dirty="0">
                <a:solidFill>
                  <a:srgbClr val="C4BFBF"/>
                </a:solidFill>
                <a:latin typeface="Verdana"/>
                <a:cs typeface="Verdana"/>
              </a:rPr>
              <a:t> </a:t>
            </a:r>
            <a:r>
              <a:rPr sz="2550" spc="40" dirty="0">
                <a:solidFill>
                  <a:srgbClr val="C4BFBF"/>
                </a:solidFill>
                <a:latin typeface="Verdana"/>
                <a:cs typeface="Verdana"/>
              </a:rPr>
              <a:t>feedback</a:t>
            </a:r>
            <a:r>
              <a:rPr sz="2550" spc="-55" dirty="0">
                <a:solidFill>
                  <a:srgbClr val="C4BFBF"/>
                </a:solidFill>
                <a:latin typeface="Verdana"/>
                <a:cs typeface="Verdana"/>
              </a:rPr>
              <a:t> </a:t>
            </a:r>
            <a:r>
              <a:rPr sz="2550" spc="15" dirty="0">
                <a:solidFill>
                  <a:srgbClr val="C4BFBF"/>
                </a:solidFill>
                <a:latin typeface="Verdana"/>
                <a:cs typeface="Verdana"/>
              </a:rPr>
              <a:t>to</a:t>
            </a:r>
            <a:r>
              <a:rPr sz="2550" spc="-60" dirty="0">
                <a:solidFill>
                  <a:srgbClr val="C4BFBF"/>
                </a:solidFill>
                <a:latin typeface="Verdana"/>
                <a:cs typeface="Verdana"/>
              </a:rPr>
              <a:t> </a:t>
            </a:r>
            <a:r>
              <a:rPr sz="2550" spc="45" dirty="0">
                <a:solidFill>
                  <a:srgbClr val="C4BFBF"/>
                </a:solidFill>
                <a:latin typeface="Verdana"/>
                <a:cs typeface="Verdana"/>
              </a:rPr>
              <a:t>understand</a:t>
            </a:r>
            <a:r>
              <a:rPr sz="2550" spc="-55" dirty="0">
                <a:solidFill>
                  <a:srgbClr val="C4BFBF"/>
                </a:solidFill>
                <a:latin typeface="Verdana"/>
                <a:cs typeface="Verdana"/>
              </a:rPr>
              <a:t> </a:t>
            </a:r>
            <a:r>
              <a:rPr sz="2550" spc="15" dirty="0">
                <a:solidFill>
                  <a:srgbClr val="C4BFBF"/>
                </a:solidFill>
                <a:latin typeface="Verdana"/>
                <a:cs typeface="Verdana"/>
              </a:rPr>
              <a:t>their</a:t>
            </a:r>
            <a:r>
              <a:rPr sz="2550" spc="-55" dirty="0">
                <a:solidFill>
                  <a:srgbClr val="C4BFBF"/>
                </a:solidFill>
                <a:latin typeface="Verdana"/>
                <a:cs typeface="Verdana"/>
              </a:rPr>
              <a:t> </a:t>
            </a:r>
            <a:r>
              <a:rPr sz="2550" spc="5" dirty="0">
                <a:solidFill>
                  <a:srgbClr val="C4BFBF"/>
                </a:solidFill>
                <a:latin typeface="Verdana"/>
                <a:cs typeface="Verdana"/>
              </a:rPr>
              <a:t>preferences</a:t>
            </a:r>
            <a:r>
              <a:rPr lang="en-IN" sz="2550" spc="5" dirty="0">
                <a:solidFill>
                  <a:srgbClr val="C4BFBF"/>
                </a:solidFill>
                <a:latin typeface="Verdana"/>
                <a:cs typeface="Verdana"/>
              </a:rPr>
              <a:t> </a:t>
            </a:r>
            <a:r>
              <a:rPr sz="2550" spc="70" dirty="0">
                <a:solidFill>
                  <a:srgbClr val="C4BFBF"/>
                </a:solidFill>
                <a:latin typeface="Verdana"/>
                <a:cs typeface="Verdana"/>
              </a:rPr>
              <a:t>and</a:t>
            </a:r>
            <a:r>
              <a:rPr sz="2550" spc="-235" dirty="0">
                <a:solidFill>
                  <a:srgbClr val="C4BFBF"/>
                </a:solidFill>
                <a:latin typeface="Verdana"/>
                <a:cs typeface="Verdana"/>
              </a:rPr>
              <a:t> </a:t>
            </a:r>
            <a:r>
              <a:rPr sz="2550" spc="15" dirty="0">
                <a:solidFill>
                  <a:srgbClr val="C4BFBF"/>
                </a:solidFill>
                <a:latin typeface="Verdana"/>
                <a:cs typeface="Verdana"/>
              </a:rPr>
              <a:t>expectations</a:t>
            </a:r>
            <a:r>
              <a:rPr sz="2550" spc="-229" dirty="0">
                <a:solidFill>
                  <a:srgbClr val="C4BFBF"/>
                </a:solidFill>
                <a:latin typeface="Verdana"/>
                <a:cs typeface="Verdana"/>
              </a:rPr>
              <a:t> </a:t>
            </a:r>
            <a:r>
              <a:rPr sz="2550" spc="-50" dirty="0">
                <a:solidFill>
                  <a:srgbClr val="C4BFBF"/>
                </a:solidFill>
                <a:latin typeface="Verdana"/>
                <a:cs typeface="Verdana"/>
              </a:rPr>
              <a:t>better.</a:t>
            </a:r>
            <a:endParaRPr sz="2550" dirty="0">
              <a:latin typeface="Verdana"/>
              <a:cs typeface="Verdana"/>
            </a:endParaRPr>
          </a:p>
          <a:p>
            <a:pPr marL="12700" marR="5080" indent="-635" algn="just">
              <a:lnSpc>
                <a:spcPts val="3080"/>
              </a:lnSpc>
              <a:buFont typeface="Verdana"/>
              <a:buAutoNum type="arabicPeriod" startAt="3"/>
              <a:tabLst>
                <a:tab pos="451484" algn="l"/>
                <a:tab pos="1969770" algn="l"/>
                <a:tab pos="2764155" algn="l"/>
                <a:tab pos="4116070" algn="l"/>
                <a:tab pos="5581015" algn="l"/>
              </a:tabLst>
            </a:pPr>
            <a:r>
              <a:rPr sz="2550" b="1" spc="15" dirty="0">
                <a:solidFill>
                  <a:srgbClr val="FFFFFF"/>
                </a:solidFill>
                <a:latin typeface="Tahoma"/>
                <a:cs typeface="Tahoma"/>
              </a:rPr>
              <a:t>Training	</a:t>
            </a:r>
            <a:r>
              <a:rPr sz="2550" b="1" spc="90" dirty="0">
                <a:solidFill>
                  <a:srgbClr val="FFFFFF"/>
                </a:solidFill>
                <a:latin typeface="Tahoma"/>
                <a:cs typeface="Tahoma"/>
              </a:rPr>
              <a:t>and	</a:t>
            </a:r>
            <a:r>
              <a:rPr sz="2550" b="1" spc="30" dirty="0">
                <a:solidFill>
                  <a:srgbClr val="FFFFFF"/>
                </a:solidFill>
                <a:latin typeface="Tahoma"/>
                <a:cs typeface="Tahoma"/>
              </a:rPr>
              <a:t>Quality	</a:t>
            </a:r>
            <a:r>
              <a:rPr sz="2550" b="1" spc="-5" dirty="0">
                <a:solidFill>
                  <a:srgbClr val="FFFFFF"/>
                </a:solidFill>
                <a:latin typeface="Tahoma"/>
                <a:cs typeface="Tahoma"/>
              </a:rPr>
              <a:t>Control:	</a:t>
            </a:r>
            <a:r>
              <a:rPr sz="2550" spc="-7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550" spc="-75" dirty="0">
                <a:solidFill>
                  <a:srgbClr val="D6D0D0"/>
                </a:solidFill>
                <a:latin typeface="Verdana"/>
                <a:cs typeface="Verdana"/>
              </a:rPr>
              <a:t>nvest</a:t>
            </a:r>
            <a:r>
              <a:rPr sz="2550" spc="280" dirty="0">
                <a:solidFill>
                  <a:srgbClr val="D6D0D0"/>
                </a:solidFill>
                <a:latin typeface="Verdana"/>
                <a:cs typeface="Verdana"/>
              </a:rPr>
              <a:t> </a:t>
            </a:r>
            <a:r>
              <a:rPr sz="2550" spc="45" dirty="0">
                <a:solidFill>
                  <a:srgbClr val="D6D0D0"/>
                </a:solidFill>
                <a:latin typeface="Verdana"/>
                <a:cs typeface="Verdana"/>
              </a:rPr>
              <a:t>in</a:t>
            </a:r>
            <a:r>
              <a:rPr sz="2550" spc="280" dirty="0">
                <a:solidFill>
                  <a:srgbClr val="D6D0D0"/>
                </a:solidFill>
                <a:latin typeface="Verdana"/>
                <a:cs typeface="Verdana"/>
              </a:rPr>
              <a:t> </a:t>
            </a:r>
            <a:r>
              <a:rPr sz="2550" spc="-30" dirty="0">
                <a:solidFill>
                  <a:srgbClr val="D6D0D0"/>
                </a:solidFill>
                <a:latin typeface="Verdana"/>
                <a:cs typeface="Verdana"/>
              </a:rPr>
              <a:t>staff</a:t>
            </a:r>
            <a:r>
              <a:rPr sz="2550" spc="280" dirty="0">
                <a:solidFill>
                  <a:srgbClr val="D6D0D0"/>
                </a:solidFill>
                <a:latin typeface="Verdana"/>
                <a:cs typeface="Verdana"/>
              </a:rPr>
              <a:t> </a:t>
            </a:r>
            <a:r>
              <a:rPr sz="2550" spc="20" dirty="0">
                <a:solidFill>
                  <a:srgbClr val="D6D0D0"/>
                </a:solidFill>
                <a:latin typeface="Verdana"/>
                <a:cs typeface="Verdana"/>
              </a:rPr>
              <a:t>training</a:t>
            </a:r>
            <a:r>
              <a:rPr sz="2550" spc="280" dirty="0">
                <a:solidFill>
                  <a:srgbClr val="D6D0D0"/>
                </a:solidFill>
                <a:latin typeface="Verdana"/>
                <a:cs typeface="Verdana"/>
              </a:rPr>
              <a:t> </a:t>
            </a:r>
            <a:r>
              <a:rPr sz="2550" spc="70" dirty="0">
                <a:solidFill>
                  <a:srgbClr val="D6D0D0"/>
                </a:solidFill>
                <a:latin typeface="Verdana"/>
                <a:cs typeface="Verdana"/>
              </a:rPr>
              <a:t>and</a:t>
            </a:r>
            <a:r>
              <a:rPr sz="2550" spc="285" dirty="0">
                <a:solidFill>
                  <a:srgbClr val="D6D0D0"/>
                </a:solidFill>
                <a:latin typeface="Verdana"/>
                <a:cs typeface="Verdana"/>
              </a:rPr>
              <a:t> </a:t>
            </a:r>
            <a:r>
              <a:rPr sz="2550" spc="5" dirty="0">
                <a:solidFill>
                  <a:srgbClr val="D6D0D0"/>
                </a:solidFill>
                <a:latin typeface="Verdana"/>
                <a:cs typeface="Verdana"/>
              </a:rPr>
              <a:t>quality</a:t>
            </a:r>
            <a:r>
              <a:rPr sz="2550" spc="280" dirty="0">
                <a:solidFill>
                  <a:srgbClr val="D6D0D0"/>
                </a:solidFill>
                <a:latin typeface="Verdana"/>
                <a:cs typeface="Verdana"/>
              </a:rPr>
              <a:t> </a:t>
            </a:r>
            <a:r>
              <a:rPr sz="2550" spc="30" dirty="0">
                <a:solidFill>
                  <a:srgbClr val="D6D0D0"/>
                </a:solidFill>
                <a:latin typeface="Verdana"/>
                <a:cs typeface="Verdana"/>
              </a:rPr>
              <a:t>control</a:t>
            </a:r>
            <a:r>
              <a:rPr sz="2550" spc="280" dirty="0">
                <a:solidFill>
                  <a:srgbClr val="D6D0D0"/>
                </a:solidFill>
                <a:latin typeface="Verdana"/>
                <a:cs typeface="Verdana"/>
              </a:rPr>
              <a:t> </a:t>
            </a:r>
            <a:r>
              <a:rPr sz="2550" dirty="0">
                <a:solidFill>
                  <a:srgbClr val="D6D0D0"/>
                </a:solidFill>
                <a:latin typeface="Verdana"/>
                <a:cs typeface="Verdana"/>
              </a:rPr>
              <a:t>measures</a:t>
            </a:r>
            <a:r>
              <a:rPr sz="2550" spc="280" dirty="0">
                <a:solidFill>
                  <a:srgbClr val="D6D0D0"/>
                </a:solidFill>
                <a:latin typeface="Verdana"/>
                <a:cs typeface="Verdana"/>
              </a:rPr>
              <a:t> </a:t>
            </a:r>
            <a:r>
              <a:rPr sz="2550" spc="15" dirty="0">
                <a:solidFill>
                  <a:srgbClr val="D6D0D0"/>
                </a:solidFill>
                <a:latin typeface="Verdana"/>
                <a:cs typeface="Verdana"/>
              </a:rPr>
              <a:t>to</a:t>
            </a:r>
            <a:r>
              <a:rPr sz="2550" spc="285" dirty="0">
                <a:solidFill>
                  <a:srgbClr val="D6D0D0"/>
                </a:solidFill>
                <a:latin typeface="Verdana"/>
                <a:cs typeface="Verdana"/>
              </a:rPr>
              <a:t> </a:t>
            </a:r>
            <a:r>
              <a:rPr sz="2550" spc="45" dirty="0">
                <a:solidFill>
                  <a:srgbClr val="D6D0D0"/>
                </a:solidFill>
                <a:latin typeface="Verdana"/>
                <a:cs typeface="Verdana"/>
              </a:rPr>
              <a:t>maintain</a:t>
            </a:r>
            <a:r>
              <a:rPr sz="2550" spc="280" dirty="0">
                <a:solidFill>
                  <a:srgbClr val="D6D0D0"/>
                </a:solidFill>
                <a:latin typeface="Verdana"/>
                <a:cs typeface="Verdana"/>
              </a:rPr>
              <a:t> </a:t>
            </a:r>
            <a:r>
              <a:rPr sz="2550" spc="90" dirty="0">
                <a:solidFill>
                  <a:srgbClr val="D6D0D0"/>
                </a:solidFill>
                <a:latin typeface="Verdana"/>
                <a:cs typeface="Verdana"/>
              </a:rPr>
              <a:t>high</a:t>
            </a:r>
            <a:r>
              <a:rPr lang="en-IN" sz="2550" spc="90" dirty="0">
                <a:solidFill>
                  <a:srgbClr val="D6D0D0"/>
                </a:solidFill>
                <a:latin typeface="Verdana"/>
                <a:cs typeface="Verdana"/>
              </a:rPr>
              <a:t> </a:t>
            </a:r>
            <a:r>
              <a:rPr sz="2550" spc="10" dirty="0">
                <a:solidFill>
                  <a:srgbClr val="D6D0D0"/>
                </a:solidFill>
                <a:latin typeface="Verdana"/>
                <a:cs typeface="Verdana"/>
              </a:rPr>
              <a:t>standards</a:t>
            </a:r>
            <a:r>
              <a:rPr sz="2550" spc="-235" dirty="0">
                <a:solidFill>
                  <a:srgbClr val="D6D0D0"/>
                </a:solidFill>
                <a:latin typeface="Verdana"/>
                <a:cs typeface="Verdana"/>
              </a:rPr>
              <a:t> </a:t>
            </a:r>
            <a:r>
              <a:rPr sz="2550" spc="70" dirty="0">
                <a:solidFill>
                  <a:srgbClr val="D6D0D0"/>
                </a:solidFill>
                <a:latin typeface="Verdana"/>
                <a:cs typeface="Verdana"/>
              </a:rPr>
              <a:t>and</a:t>
            </a:r>
            <a:r>
              <a:rPr sz="2550" spc="-229" dirty="0">
                <a:solidFill>
                  <a:srgbClr val="D6D0D0"/>
                </a:solidFill>
                <a:latin typeface="Verdana"/>
                <a:cs typeface="Verdana"/>
              </a:rPr>
              <a:t> </a:t>
            </a:r>
            <a:r>
              <a:rPr sz="2550" spc="15" dirty="0">
                <a:solidFill>
                  <a:srgbClr val="D6D0D0"/>
                </a:solidFill>
                <a:latin typeface="Verdana"/>
                <a:cs typeface="Verdana"/>
              </a:rPr>
              <a:t>improve</a:t>
            </a:r>
            <a:r>
              <a:rPr sz="2550" spc="-229" dirty="0">
                <a:solidFill>
                  <a:srgbClr val="D6D0D0"/>
                </a:solidFill>
                <a:latin typeface="Verdana"/>
                <a:cs typeface="Verdana"/>
              </a:rPr>
              <a:t> </a:t>
            </a:r>
            <a:r>
              <a:rPr sz="2550" spc="40" dirty="0">
                <a:solidFill>
                  <a:srgbClr val="D6D0D0"/>
                </a:solidFill>
                <a:latin typeface="Verdana"/>
                <a:cs typeface="Verdana"/>
              </a:rPr>
              <a:t>customer</a:t>
            </a:r>
            <a:r>
              <a:rPr sz="2550" spc="-229" dirty="0">
                <a:solidFill>
                  <a:srgbClr val="D6D0D0"/>
                </a:solidFill>
                <a:latin typeface="Verdana"/>
                <a:cs typeface="Verdana"/>
              </a:rPr>
              <a:t> </a:t>
            </a:r>
            <a:r>
              <a:rPr sz="2550" spc="-30" dirty="0">
                <a:solidFill>
                  <a:srgbClr val="D6D0D0"/>
                </a:solidFill>
                <a:latin typeface="Verdana"/>
                <a:cs typeface="Verdana"/>
              </a:rPr>
              <a:t>satisfaction.</a:t>
            </a:r>
            <a:endParaRPr sz="2550" dirty="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40840" y="177127"/>
            <a:ext cx="9674860" cy="516872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3825" algn="just">
              <a:lnSpc>
                <a:spcPct val="100000"/>
              </a:lnSpc>
              <a:spcBef>
                <a:spcPts val="125"/>
              </a:spcBef>
            </a:pPr>
            <a:r>
              <a:rPr sz="3200" b="1" spc="-60" dirty="0">
                <a:solidFill>
                  <a:srgbClr val="31FF00"/>
                </a:solidFill>
                <a:latin typeface="Verdana"/>
                <a:cs typeface="Verdana"/>
              </a:rPr>
              <a:t>Current</a:t>
            </a:r>
            <a:r>
              <a:rPr sz="3200" b="1" spc="-190" dirty="0">
                <a:solidFill>
                  <a:srgbClr val="31FF00"/>
                </a:solidFill>
                <a:latin typeface="Verdana"/>
                <a:cs typeface="Verdana"/>
              </a:rPr>
              <a:t> </a:t>
            </a:r>
            <a:r>
              <a:rPr sz="3200" b="1" spc="-25" dirty="0">
                <a:solidFill>
                  <a:srgbClr val="31FF00"/>
                </a:solidFill>
                <a:latin typeface="Verdana"/>
                <a:cs typeface="Verdana"/>
              </a:rPr>
              <a:t>Quality</a:t>
            </a:r>
            <a:r>
              <a:rPr sz="3200" b="1" spc="-185" dirty="0">
                <a:solidFill>
                  <a:srgbClr val="31FF00"/>
                </a:solidFill>
                <a:latin typeface="Verdana"/>
                <a:cs typeface="Verdana"/>
              </a:rPr>
              <a:t> </a:t>
            </a:r>
            <a:r>
              <a:rPr sz="3200" b="1" spc="45" dirty="0">
                <a:solidFill>
                  <a:srgbClr val="31FF00"/>
                </a:solidFill>
                <a:latin typeface="Verdana"/>
                <a:cs typeface="Verdana"/>
              </a:rPr>
              <a:t>of</a:t>
            </a:r>
            <a:r>
              <a:rPr sz="3200" b="1" spc="-185" dirty="0">
                <a:solidFill>
                  <a:srgbClr val="31FF00"/>
                </a:solidFill>
                <a:latin typeface="Verdana"/>
                <a:cs typeface="Verdana"/>
              </a:rPr>
              <a:t> </a:t>
            </a:r>
            <a:r>
              <a:rPr sz="3200" b="1" spc="-70" dirty="0">
                <a:solidFill>
                  <a:srgbClr val="31FF00"/>
                </a:solidFill>
                <a:latin typeface="Verdana"/>
                <a:cs typeface="Verdana"/>
              </a:rPr>
              <a:t>Restaurant</a:t>
            </a:r>
            <a:r>
              <a:rPr sz="3200" b="1" spc="-185" dirty="0">
                <a:solidFill>
                  <a:srgbClr val="31FF00"/>
                </a:solidFill>
                <a:latin typeface="Verdana"/>
                <a:cs typeface="Verdana"/>
              </a:rPr>
              <a:t> </a:t>
            </a:r>
            <a:r>
              <a:rPr sz="3200" b="1" spc="-50" dirty="0">
                <a:solidFill>
                  <a:srgbClr val="31FF00"/>
                </a:solidFill>
                <a:latin typeface="Verdana"/>
                <a:cs typeface="Verdana"/>
              </a:rPr>
              <a:t>Ratings</a:t>
            </a:r>
            <a:r>
              <a:rPr sz="3200" b="1" spc="-185" dirty="0">
                <a:solidFill>
                  <a:srgbClr val="31FF00"/>
                </a:solidFill>
                <a:latin typeface="Verdana"/>
                <a:cs typeface="Verdana"/>
              </a:rPr>
              <a:t> </a:t>
            </a:r>
            <a:r>
              <a:rPr sz="3200" b="1" spc="-65" dirty="0">
                <a:solidFill>
                  <a:srgbClr val="31FF00"/>
                </a:solidFill>
                <a:latin typeface="Verdana"/>
                <a:cs typeface="Verdana"/>
              </a:rPr>
              <a:t>Across</a:t>
            </a:r>
            <a:r>
              <a:rPr sz="3200" b="1" spc="-195" dirty="0">
                <a:solidFill>
                  <a:srgbClr val="31FF00"/>
                </a:solidFill>
                <a:latin typeface="Verdana"/>
                <a:cs typeface="Verdana"/>
              </a:rPr>
              <a:t> </a:t>
            </a:r>
            <a:r>
              <a:rPr sz="3200" b="1" spc="-80" dirty="0">
                <a:solidFill>
                  <a:srgbClr val="31FF00"/>
                </a:solidFill>
                <a:latin typeface="Verdana"/>
                <a:cs typeface="Verdana"/>
              </a:rPr>
              <a:t>Key</a:t>
            </a:r>
            <a:r>
              <a:rPr sz="3200" b="1" spc="-185" dirty="0">
                <a:solidFill>
                  <a:srgbClr val="31FF00"/>
                </a:solidFill>
                <a:latin typeface="Verdana"/>
                <a:cs typeface="Verdana"/>
              </a:rPr>
              <a:t> </a:t>
            </a:r>
            <a:r>
              <a:rPr sz="3200" b="1" spc="-45" dirty="0">
                <a:solidFill>
                  <a:srgbClr val="31FF00"/>
                </a:solidFill>
                <a:latin typeface="Verdana"/>
                <a:cs typeface="Verdana"/>
              </a:rPr>
              <a:t>Countries</a:t>
            </a:r>
            <a:endParaRPr sz="3200" b="1" dirty="0">
              <a:latin typeface="Verdana"/>
              <a:cs typeface="Verdana"/>
            </a:endParaRPr>
          </a:p>
          <a:p>
            <a:pPr marL="12700" marR="5080" algn="just">
              <a:lnSpc>
                <a:spcPct val="99900"/>
              </a:lnSpc>
              <a:spcBef>
                <a:spcPts val="1914"/>
              </a:spcBef>
            </a:pPr>
            <a:r>
              <a:rPr sz="2550" spc="5" dirty="0">
                <a:solidFill>
                  <a:srgbClr val="FFFFFF"/>
                </a:solidFill>
                <a:latin typeface="Verdana"/>
                <a:cs typeface="Verdana"/>
              </a:rPr>
              <a:t>The </a:t>
            </a:r>
            <a:r>
              <a:rPr sz="2550" spc="-40" dirty="0">
                <a:solidFill>
                  <a:srgbClr val="FFFFFF"/>
                </a:solidFill>
                <a:latin typeface="Verdana"/>
                <a:cs typeface="Verdana"/>
              </a:rPr>
              <a:t>analysis </a:t>
            </a:r>
            <a:r>
              <a:rPr sz="2550" spc="5" dirty="0">
                <a:solidFill>
                  <a:srgbClr val="FFFFFF"/>
                </a:solidFill>
                <a:latin typeface="Verdana"/>
                <a:cs typeface="Verdana"/>
              </a:rPr>
              <a:t>of </a:t>
            </a:r>
            <a:r>
              <a:rPr sz="2550" spc="-15" dirty="0">
                <a:solidFill>
                  <a:srgbClr val="FFFFFF"/>
                </a:solidFill>
                <a:latin typeface="Verdana"/>
                <a:cs typeface="Verdana"/>
              </a:rPr>
              <a:t>restaurant </a:t>
            </a:r>
            <a:r>
              <a:rPr sz="2550" spc="-5" dirty="0">
                <a:solidFill>
                  <a:srgbClr val="FFFFFF"/>
                </a:solidFill>
                <a:latin typeface="Verdana"/>
                <a:cs typeface="Verdana"/>
              </a:rPr>
              <a:t>ratings </a:t>
            </a:r>
            <a:r>
              <a:rPr sz="2550" spc="-25" dirty="0">
                <a:solidFill>
                  <a:srgbClr val="FFFFFF"/>
                </a:solidFill>
                <a:latin typeface="Verdana"/>
                <a:cs typeface="Verdana"/>
              </a:rPr>
              <a:t>across </a:t>
            </a:r>
            <a:r>
              <a:rPr sz="2550" spc="50" dirty="0">
                <a:solidFill>
                  <a:srgbClr val="FFFFFF"/>
                </a:solidFill>
                <a:latin typeface="Verdana"/>
                <a:cs typeface="Verdana"/>
              </a:rPr>
              <a:t>the </a:t>
            </a:r>
            <a:r>
              <a:rPr sz="2550" spc="20" dirty="0">
                <a:solidFill>
                  <a:srgbClr val="FFFFFF"/>
                </a:solidFill>
                <a:latin typeface="Verdana"/>
                <a:cs typeface="Verdana"/>
              </a:rPr>
              <a:t>countries </a:t>
            </a:r>
            <a:r>
              <a:rPr sz="2550" spc="45" dirty="0">
                <a:solidFill>
                  <a:srgbClr val="FFFFFF"/>
                </a:solidFill>
                <a:latin typeface="Verdana"/>
                <a:cs typeface="Verdana"/>
              </a:rPr>
              <a:t>in</a:t>
            </a:r>
            <a:r>
              <a:rPr lang="en-IN" sz="2550" spc="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50" spc="25" dirty="0">
                <a:solidFill>
                  <a:srgbClr val="FFFFFF"/>
                </a:solidFill>
                <a:latin typeface="Verdana"/>
                <a:cs typeface="Verdana"/>
              </a:rPr>
              <a:t>our</a:t>
            </a:r>
            <a:r>
              <a:rPr sz="2550" spc="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50" spc="10" dirty="0">
                <a:solidFill>
                  <a:srgbClr val="FFFFFF"/>
                </a:solidFill>
                <a:latin typeface="Verdana"/>
                <a:cs typeface="Verdana"/>
              </a:rPr>
              <a:t>dataset</a:t>
            </a:r>
            <a:r>
              <a:rPr sz="2550" spc="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50" spc="-60" dirty="0">
                <a:solidFill>
                  <a:srgbClr val="FFFFFF"/>
                </a:solidFill>
                <a:latin typeface="Verdana"/>
                <a:cs typeface="Verdana"/>
              </a:rPr>
              <a:t>reveals</a:t>
            </a:r>
            <a:r>
              <a:rPr sz="255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50" spc="30" dirty="0">
                <a:solidFill>
                  <a:srgbClr val="FFFFFF"/>
                </a:solidFill>
                <a:latin typeface="Verdana"/>
                <a:cs typeface="Verdana"/>
              </a:rPr>
              <a:t>signiﬁcant</a:t>
            </a:r>
            <a:r>
              <a:rPr sz="2550" spc="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50" spc="-25" dirty="0">
                <a:solidFill>
                  <a:srgbClr val="FFFFFF"/>
                </a:solidFill>
                <a:latin typeface="Verdana"/>
                <a:cs typeface="Verdana"/>
              </a:rPr>
              <a:t>variations</a:t>
            </a:r>
            <a:r>
              <a:rPr sz="255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50" spc="45" dirty="0">
                <a:solidFill>
                  <a:srgbClr val="FFFFFF"/>
                </a:solidFill>
                <a:latin typeface="Verdana"/>
                <a:cs typeface="Verdana"/>
              </a:rPr>
              <a:t>in</a:t>
            </a:r>
            <a:r>
              <a:rPr sz="2550" spc="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50" spc="40" dirty="0">
                <a:solidFill>
                  <a:srgbClr val="FFFFFF"/>
                </a:solidFill>
                <a:latin typeface="Verdana"/>
                <a:cs typeface="Verdana"/>
              </a:rPr>
              <a:t>customer</a:t>
            </a:r>
            <a:r>
              <a:rPr lang="en-IN" sz="2550" spc="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50" spc="-30" dirty="0">
                <a:solidFill>
                  <a:srgbClr val="FFFFFF"/>
                </a:solidFill>
                <a:latin typeface="Verdana"/>
                <a:cs typeface="Verdana"/>
              </a:rPr>
              <a:t>satisfaction,</a:t>
            </a:r>
            <a:r>
              <a:rPr sz="2550" spc="-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50" spc="85" dirty="0">
                <a:solidFill>
                  <a:srgbClr val="FFFFFF"/>
                </a:solidFill>
                <a:latin typeface="Verdana"/>
                <a:cs typeface="Verdana"/>
              </a:rPr>
              <a:t>which</a:t>
            </a:r>
            <a:r>
              <a:rPr sz="2550" spc="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50" spc="60" dirty="0">
                <a:solidFill>
                  <a:srgbClr val="FFFFFF"/>
                </a:solidFill>
                <a:latin typeface="Verdana"/>
                <a:cs typeface="Verdana"/>
              </a:rPr>
              <a:t>can</a:t>
            </a:r>
            <a:r>
              <a:rPr sz="2550" spc="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50" spc="80" dirty="0">
                <a:solidFill>
                  <a:srgbClr val="FFFFFF"/>
                </a:solidFill>
                <a:latin typeface="Verdana"/>
                <a:cs typeface="Verdana"/>
              </a:rPr>
              <a:t>be</a:t>
            </a:r>
            <a:r>
              <a:rPr sz="2550" spc="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50" spc="25" dirty="0">
                <a:solidFill>
                  <a:srgbClr val="FFFFFF"/>
                </a:solidFill>
                <a:latin typeface="Verdana"/>
                <a:cs typeface="Verdana"/>
              </a:rPr>
              <a:t>attributed</a:t>
            </a:r>
            <a:r>
              <a:rPr sz="2550" spc="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50" spc="15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2550" spc="20" dirty="0">
                <a:solidFill>
                  <a:srgbClr val="FFFFFF"/>
                </a:solidFill>
                <a:latin typeface="Verdana"/>
                <a:cs typeface="Verdana"/>
              </a:rPr>
              <a:t> local</a:t>
            </a:r>
            <a:r>
              <a:rPr sz="2550" spc="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50" spc="80" dirty="0">
                <a:solidFill>
                  <a:srgbClr val="FFFFFF"/>
                </a:solidFill>
                <a:latin typeface="Verdana"/>
                <a:cs typeface="Verdana"/>
              </a:rPr>
              <a:t>dining</a:t>
            </a:r>
            <a:r>
              <a:rPr lang="en-IN" sz="2550" spc="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50" spc="5" dirty="0">
                <a:solidFill>
                  <a:srgbClr val="FFFFFF"/>
                </a:solidFill>
                <a:latin typeface="Verdana"/>
                <a:cs typeface="Verdana"/>
              </a:rPr>
              <a:t>preferences</a:t>
            </a:r>
            <a:r>
              <a:rPr sz="2550" spc="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50" spc="70" dirty="0">
                <a:solidFill>
                  <a:srgbClr val="FFFFFF"/>
                </a:solidFill>
                <a:latin typeface="Verdana"/>
                <a:cs typeface="Verdana"/>
              </a:rPr>
              <a:t>and </a:t>
            </a:r>
            <a:r>
              <a:rPr sz="2550" spc="10" dirty="0">
                <a:solidFill>
                  <a:srgbClr val="FFFFFF"/>
                </a:solidFill>
                <a:latin typeface="Verdana"/>
                <a:cs typeface="Verdana"/>
              </a:rPr>
              <a:t>cultural</a:t>
            </a:r>
            <a:r>
              <a:rPr sz="2550" spc="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50" spc="-65" dirty="0">
                <a:solidFill>
                  <a:srgbClr val="FFFFFF"/>
                </a:solidFill>
                <a:latin typeface="Verdana"/>
                <a:cs typeface="Verdana"/>
              </a:rPr>
              <a:t>factors.</a:t>
            </a:r>
            <a:r>
              <a:rPr sz="2550" spc="-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50" spc="-100" dirty="0">
                <a:solidFill>
                  <a:srgbClr val="FFFFFF"/>
                </a:solidFill>
                <a:latin typeface="Verdana"/>
                <a:cs typeface="Verdana"/>
              </a:rPr>
              <a:t>In</a:t>
            </a:r>
            <a:r>
              <a:rPr sz="255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50" dirty="0">
                <a:solidFill>
                  <a:srgbClr val="FFFFFF"/>
                </a:solidFill>
                <a:latin typeface="Verdana"/>
                <a:cs typeface="Verdana"/>
              </a:rPr>
              <a:t>Indonesia</a:t>
            </a:r>
            <a:r>
              <a:rPr sz="2550" spc="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50" spc="70" dirty="0">
                <a:solidFill>
                  <a:srgbClr val="FFFFFF"/>
                </a:solidFill>
                <a:latin typeface="Verdana"/>
                <a:cs typeface="Verdana"/>
              </a:rPr>
              <a:t>and </a:t>
            </a:r>
            <a:r>
              <a:rPr sz="2550" spc="50" dirty="0">
                <a:solidFill>
                  <a:srgbClr val="FFFFFF"/>
                </a:solidFill>
                <a:latin typeface="Verdana"/>
                <a:cs typeface="Verdana"/>
              </a:rPr>
              <a:t>the </a:t>
            </a:r>
            <a:r>
              <a:rPr sz="2550" spc="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50" spc="20" dirty="0">
                <a:solidFill>
                  <a:srgbClr val="FFFFFF"/>
                </a:solidFill>
                <a:latin typeface="Verdana"/>
                <a:cs typeface="Verdana"/>
              </a:rPr>
              <a:t>Philippines,</a:t>
            </a:r>
            <a:r>
              <a:rPr sz="2550" spc="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50" spc="40" dirty="0">
                <a:solidFill>
                  <a:srgbClr val="FFFFFF"/>
                </a:solidFill>
                <a:latin typeface="Verdana"/>
                <a:cs typeface="Verdana"/>
              </a:rPr>
              <a:t>where</a:t>
            </a:r>
            <a:r>
              <a:rPr sz="2550" spc="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50" spc="65" dirty="0">
                <a:solidFill>
                  <a:srgbClr val="FFFFFF"/>
                </a:solidFill>
                <a:latin typeface="Verdana"/>
                <a:cs typeface="Verdana"/>
              </a:rPr>
              <a:t>we</a:t>
            </a:r>
            <a:r>
              <a:rPr sz="2550" spc="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50" spc="-15" dirty="0">
                <a:solidFill>
                  <a:srgbClr val="FFFFFF"/>
                </a:solidFill>
                <a:latin typeface="Verdana"/>
                <a:cs typeface="Verdana"/>
              </a:rPr>
              <a:t>see</a:t>
            </a:r>
            <a:r>
              <a:rPr sz="255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50" spc="-3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550" spc="-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50" spc="90" dirty="0">
                <a:solidFill>
                  <a:srgbClr val="FFFFFF"/>
                </a:solidFill>
                <a:latin typeface="Verdana"/>
                <a:cs typeface="Verdana"/>
              </a:rPr>
              <a:t>high</a:t>
            </a:r>
            <a:r>
              <a:rPr sz="2550" spc="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50" spc="35" dirty="0">
                <a:solidFill>
                  <a:srgbClr val="FFFFFF"/>
                </a:solidFill>
                <a:latin typeface="Verdana"/>
                <a:cs typeface="Verdana"/>
              </a:rPr>
              <a:t>volume</a:t>
            </a:r>
            <a:r>
              <a:rPr sz="2550" spc="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50" spc="5" dirty="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sz="2550" spc="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50" spc="-10" dirty="0">
                <a:solidFill>
                  <a:srgbClr val="FFFFFF"/>
                </a:solidFill>
                <a:latin typeface="Verdana"/>
                <a:cs typeface="Verdana"/>
              </a:rPr>
              <a:t>user</a:t>
            </a:r>
            <a:r>
              <a:rPr lang="en-IN" sz="255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50" spc="40" dirty="0">
                <a:solidFill>
                  <a:srgbClr val="FFFFFF"/>
                </a:solidFill>
                <a:latin typeface="Verdana"/>
                <a:cs typeface="Verdana"/>
              </a:rPr>
              <a:t>engagement, </a:t>
            </a:r>
            <a:r>
              <a:rPr sz="2550" spc="50" dirty="0">
                <a:solidFill>
                  <a:srgbClr val="FFFFFF"/>
                </a:solidFill>
                <a:latin typeface="Verdana"/>
                <a:cs typeface="Verdana"/>
              </a:rPr>
              <a:t>the </a:t>
            </a:r>
            <a:r>
              <a:rPr sz="2550" spc="-35" dirty="0">
                <a:solidFill>
                  <a:srgbClr val="FFFFFF"/>
                </a:solidFill>
                <a:latin typeface="Verdana"/>
                <a:cs typeface="Verdana"/>
              </a:rPr>
              <a:t>average </a:t>
            </a:r>
            <a:r>
              <a:rPr sz="2550" spc="-5" dirty="0">
                <a:solidFill>
                  <a:srgbClr val="FFFFFF"/>
                </a:solidFill>
                <a:latin typeface="Verdana"/>
                <a:cs typeface="Verdana"/>
              </a:rPr>
              <a:t>ratings </a:t>
            </a:r>
            <a:r>
              <a:rPr sz="2550" spc="60" dirty="0">
                <a:solidFill>
                  <a:srgbClr val="FFFFFF"/>
                </a:solidFill>
                <a:latin typeface="Verdana"/>
                <a:cs typeface="Verdana"/>
              </a:rPr>
              <a:t>tend </a:t>
            </a:r>
            <a:r>
              <a:rPr sz="2550" spc="15" dirty="0">
                <a:solidFill>
                  <a:srgbClr val="FFFFFF"/>
                </a:solidFill>
                <a:latin typeface="Verdana"/>
                <a:cs typeface="Verdana"/>
              </a:rPr>
              <a:t>to </a:t>
            </a:r>
            <a:r>
              <a:rPr sz="2550" spc="80" dirty="0">
                <a:solidFill>
                  <a:srgbClr val="FFFFFF"/>
                </a:solidFill>
                <a:latin typeface="Verdana"/>
                <a:cs typeface="Verdana"/>
              </a:rPr>
              <a:t>be </a:t>
            </a:r>
            <a:r>
              <a:rPr sz="2550" spc="25" dirty="0">
                <a:solidFill>
                  <a:srgbClr val="FFFFFF"/>
                </a:solidFill>
                <a:latin typeface="Verdana"/>
                <a:cs typeface="Verdana"/>
              </a:rPr>
              <a:t>moderate </a:t>
            </a:r>
            <a:r>
              <a:rPr sz="2550" spc="15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lang="en-IN" sz="2550" spc="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50" spc="-5" dirty="0">
                <a:solidFill>
                  <a:srgbClr val="FFFFFF"/>
                </a:solidFill>
                <a:latin typeface="Verdana"/>
                <a:cs typeface="Verdana"/>
              </a:rPr>
              <a:t>high,</a:t>
            </a:r>
            <a:r>
              <a:rPr sz="255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50" spc="30" dirty="0">
                <a:solidFill>
                  <a:srgbClr val="FFFFFF"/>
                </a:solidFill>
                <a:latin typeface="Verdana"/>
                <a:cs typeface="Verdana"/>
              </a:rPr>
              <a:t>reﬂecting</a:t>
            </a:r>
            <a:r>
              <a:rPr sz="255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50" spc="-3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55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50" spc="15" dirty="0">
                <a:solidFill>
                  <a:srgbClr val="FFFFFF"/>
                </a:solidFill>
                <a:latin typeface="Verdana"/>
                <a:cs typeface="Verdana"/>
              </a:rPr>
              <a:t>well-developed</a:t>
            </a:r>
            <a:r>
              <a:rPr sz="255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50" spc="45" dirty="0">
                <a:solidFill>
                  <a:srgbClr val="FFFFFF"/>
                </a:solidFill>
                <a:latin typeface="Verdana"/>
                <a:cs typeface="Verdana"/>
              </a:rPr>
              <a:t>food</a:t>
            </a:r>
            <a:r>
              <a:rPr sz="255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50" spc="-25" dirty="0">
                <a:solidFill>
                  <a:srgbClr val="FFFFFF"/>
                </a:solidFill>
                <a:latin typeface="Verdana"/>
                <a:cs typeface="Verdana"/>
              </a:rPr>
              <a:t>delivery</a:t>
            </a:r>
            <a:r>
              <a:rPr sz="255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50" spc="20" dirty="0">
                <a:solidFill>
                  <a:srgbClr val="FFFFFF"/>
                </a:solidFill>
                <a:latin typeface="Verdana"/>
                <a:cs typeface="Verdana"/>
              </a:rPr>
              <a:t>market</a:t>
            </a:r>
            <a:r>
              <a:rPr sz="255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50" spc="70" dirty="0">
                <a:solidFill>
                  <a:srgbClr val="FFFFFF"/>
                </a:solidFill>
                <a:latin typeface="Verdana"/>
                <a:cs typeface="Verdana"/>
              </a:rPr>
              <a:t>with</a:t>
            </a:r>
            <a:r>
              <a:rPr lang="en-IN" sz="2550" spc="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50" spc="-25" dirty="0">
                <a:solidFill>
                  <a:srgbClr val="FFFFFF"/>
                </a:solidFill>
                <a:latin typeface="Verdana"/>
                <a:cs typeface="Verdana"/>
              </a:rPr>
              <a:t>diverse</a:t>
            </a:r>
            <a:r>
              <a:rPr sz="255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50" spc="80" dirty="0">
                <a:solidFill>
                  <a:srgbClr val="FFFFFF"/>
                </a:solidFill>
                <a:latin typeface="Verdana"/>
                <a:cs typeface="Verdana"/>
              </a:rPr>
              <a:t>dining</a:t>
            </a:r>
            <a:r>
              <a:rPr sz="2550" spc="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50" spc="40" dirty="0">
                <a:solidFill>
                  <a:srgbClr val="FFFFFF"/>
                </a:solidFill>
                <a:latin typeface="Verdana"/>
                <a:cs typeface="Verdana"/>
              </a:rPr>
              <a:t>options</a:t>
            </a:r>
            <a:r>
              <a:rPr sz="2550" spc="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50" spc="35" dirty="0">
                <a:solidFill>
                  <a:srgbClr val="FFFFFF"/>
                </a:solidFill>
                <a:latin typeface="Verdana"/>
                <a:cs typeface="Verdana"/>
              </a:rPr>
              <a:t>that</a:t>
            </a:r>
            <a:r>
              <a:rPr sz="2550" spc="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50" spc="-10" dirty="0">
                <a:solidFill>
                  <a:srgbClr val="FFFFFF"/>
                </a:solidFill>
                <a:latin typeface="Verdana"/>
                <a:cs typeface="Verdana"/>
              </a:rPr>
              <a:t>generally</a:t>
            </a:r>
            <a:r>
              <a:rPr sz="2550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50" spc="70" dirty="0">
                <a:solidFill>
                  <a:srgbClr val="FFFFFF"/>
                </a:solidFill>
                <a:latin typeface="Verdana"/>
                <a:cs typeface="Verdana"/>
              </a:rPr>
              <a:t>meet</a:t>
            </a:r>
            <a:r>
              <a:rPr sz="2550" spc="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50" spc="40" dirty="0">
                <a:solidFill>
                  <a:srgbClr val="FFFFFF"/>
                </a:solidFill>
                <a:latin typeface="Verdana"/>
                <a:cs typeface="Verdana"/>
              </a:rPr>
              <a:t>customer</a:t>
            </a:r>
            <a:r>
              <a:rPr lang="en-IN" sz="2550" spc="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50" spc="-15" dirty="0">
                <a:solidFill>
                  <a:srgbClr val="FFFFFF"/>
                </a:solidFill>
                <a:latin typeface="Verdana"/>
                <a:cs typeface="Verdana"/>
              </a:rPr>
              <a:t>expectations.</a:t>
            </a:r>
            <a:r>
              <a:rPr sz="255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50" spc="-45" dirty="0">
                <a:solidFill>
                  <a:srgbClr val="FFFFFF"/>
                </a:solidFill>
                <a:latin typeface="Verdana"/>
                <a:cs typeface="Verdana"/>
              </a:rPr>
              <a:t>However,</a:t>
            </a:r>
            <a:r>
              <a:rPr sz="2550" spc="-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50" spc="-20" dirty="0">
                <a:solidFill>
                  <a:srgbClr val="FFFFFF"/>
                </a:solidFill>
                <a:latin typeface="Verdana"/>
                <a:cs typeface="Verdana"/>
              </a:rPr>
              <a:t>Brazil</a:t>
            </a:r>
            <a:r>
              <a:rPr sz="255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50" spc="70" dirty="0">
                <a:solidFill>
                  <a:srgbClr val="FFFFFF"/>
                </a:solidFill>
                <a:latin typeface="Verdana"/>
                <a:cs typeface="Verdana"/>
              </a:rPr>
              <a:t>and </a:t>
            </a:r>
            <a:r>
              <a:rPr sz="2550" spc="15" dirty="0">
                <a:solidFill>
                  <a:srgbClr val="FFFFFF"/>
                </a:solidFill>
                <a:latin typeface="Verdana"/>
                <a:cs typeface="Verdana"/>
              </a:rPr>
              <a:t>Singapore</a:t>
            </a:r>
            <a:r>
              <a:rPr sz="2550" spc="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50" spc="15" dirty="0">
                <a:solidFill>
                  <a:srgbClr val="FFFFFF"/>
                </a:solidFill>
                <a:latin typeface="Verdana"/>
                <a:cs typeface="Verdana"/>
              </a:rPr>
              <a:t>present</a:t>
            </a:r>
            <a:r>
              <a:rPr sz="2550" spc="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50" spc="-3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lang="en-IN" sz="255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50" spc="30" dirty="0">
                <a:solidFill>
                  <a:srgbClr val="FFFFFF"/>
                </a:solidFill>
                <a:latin typeface="Verdana"/>
                <a:cs typeface="Verdana"/>
              </a:rPr>
              <a:t>dif</a:t>
            </a:r>
            <a:r>
              <a:rPr sz="2550" spc="-60" dirty="0">
                <a:solidFill>
                  <a:srgbClr val="FFFFFF"/>
                </a:solidFill>
                <a:latin typeface="Verdana"/>
                <a:cs typeface="Verdana"/>
              </a:rPr>
              <a:t>f</a:t>
            </a:r>
            <a:r>
              <a:rPr sz="2550" spc="-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550" spc="-5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550" spc="50" dirty="0">
                <a:solidFill>
                  <a:srgbClr val="FFFFFF"/>
                </a:solidFill>
                <a:latin typeface="Verdana"/>
                <a:cs typeface="Verdana"/>
              </a:rPr>
              <a:t>ent</a:t>
            </a:r>
            <a:r>
              <a:rPr sz="2550" spc="-229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50" spc="70" dirty="0">
                <a:solidFill>
                  <a:srgbClr val="FFFFFF"/>
                </a:solidFill>
                <a:latin typeface="Verdana"/>
                <a:cs typeface="Verdana"/>
              </a:rPr>
              <a:t>pi</a:t>
            </a:r>
            <a:r>
              <a:rPr sz="2550" spc="10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550" spc="20" dirty="0">
                <a:solidFill>
                  <a:srgbClr val="FFFFFF"/>
                </a:solidFill>
                <a:latin typeface="Verdana"/>
                <a:cs typeface="Verdana"/>
              </a:rPr>
              <a:t>tu</a:t>
            </a:r>
            <a:r>
              <a:rPr sz="2550" spc="-2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550" spc="-185" dirty="0">
                <a:solidFill>
                  <a:srgbClr val="FFFFFF"/>
                </a:solidFill>
                <a:latin typeface="Verdana"/>
                <a:cs typeface="Verdana"/>
              </a:rPr>
              <a:t>e.</a:t>
            </a:r>
            <a:endParaRPr sz="255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323" y="313283"/>
            <a:ext cx="7924800" cy="36576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0636" y="6026173"/>
            <a:ext cx="8025636" cy="360805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147786" y="267893"/>
            <a:ext cx="6264275" cy="6083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800" spc="80" dirty="0">
                <a:solidFill>
                  <a:srgbClr val="31FF00"/>
                </a:solidFill>
              </a:rPr>
              <a:t>High-Rated</a:t>
            </a:r>
            <a:r>
              <a:rPr sz="3800" spc="-114" dirty="0">
                <a:solidFill>
                  <a:srgbClr val="31FF00"/>
                </a:solidFill>
              </a:rPr>
              <a:t> </a:t>
            </a:r>
            <a:r>
              <a:rPr sz="3800" spc="55" dirty="0">
                <a:solidFill>
                  <a:srgbClr val="31FF00"/>
                </a:solidFill>
              </a:rPr>
              <a:t>Competitors:</a:t>
            </a:r>
            <a:endParaRPr sz="3800"/>
          </a:p>
        </p:txBody>
      </p:sp>
      <p:sp>
        <p:nvSpPr>
          <p:cNvPr id="6" name="object 6"/>
          <p:cNvSpPr txBox="1"/>
          <p:nvPr/>
        </p:nvSpPr>
        <p:spPr>
          <a:xfrm>
            <a:off x="244162" y="928344"/>
            <a:ext cx="17768570" cy="8952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15909" marR="5080" algn="just">
              <a:lnSpc>
                <a:spcPct val="100000"/>
              </a:lnSpc>
              <a:spcBef>
                <a:spcPts val="100"/>
              </a:spcBef>
            </a:pPr>
            <a:r>
              <a:rPr sz="2250" spc="-10" dirty="0">
                <a:solidFill>
                  <a:srgbClr val="FFFFFF"/>
                </a:solidFill>
                <a:latin typeface="Verdana"/>
                <a:cs typeface="Verdana"/>
              </a:rPr>
              <a:t>These </a:t>
            </a:r>
            <a:r>
              <a:rPr sz="2250" spc="-35" dirty="0">
                <a:solidFill>
                  <a:srgbClr val="FFFFFF"/>
                </a:solidFill>
                <a:latin typeface="Verdana"/>
                <a:cs typeface="Verdana"/>
              </a:rPr>
              <a:t>are </a:t>
            </a:r>
            <a:r>
              <a:rPr sz="2250" spc="-20" dirty="0">
                <a:solidFill>
                  <a:srgbClr val="FFFFFF"/>
                </a:solidFill>
                <a:latin typeface="Verdana"/>
                <a:cs typeface="Verdana"/>
              </a:rPr>
              <a:t>restaurants </a:t>
            </a:r>
            <a:r>
              <a:rPr sz="2250" spc="55" dirty="0">
                <a:solidFill>
                  <a:srgbClr val="FFFFFF"/>
                </a:solidFill>
                <a:latin typeface="Verdana"/>
                <a:cs typeface="Verdana"/>
              </a:rPr>
              <a:t>within </a:t>
            </a:r>
            <a:r>
              <a:rPr sz="2250" spc="-20" dirty="0">
                <a:solidFill>
                  <a:srgbClr val="FFFFFF"/>
                </a:solidFill>
                <a:latin typeface="Verdana"/>
                <a:cs typeface="Verdana"/>
              </a:rPr>
              <a:t>your </a:t>
            </a:r>
            <a:r>
              <a:rPr sz="2250" spc="15" dirty="0">
                <a:solidFill>
                  <a:srgbClr val="FFFFFF"/>
                </a:solidFill>
                <a:latin typeface="Verdana"/>
                <a:cs typeface="Verdana"/>
              </a:rPr>
              <a:t>target </a:t>
            </a:r>
            <a:r>
              <a:rPr sz="2250" spc="5" dirty="0">
                <a:solidFill>
                  <a:srgbClr val="FFFFFF"/>
                </a:solidFill>
                <a:latin typeface="Verdana"/>
                <a:cs typeface="Verdana"/>
              </a:rPr>
              <a:t>markets </a:t>
            </a:r>
            <a:r>
              <a:rPr sz="2250" spc="30" dirty="0">
                <a:solidFill>
                  <a:srgbClr val="FFFFFF"/>
                </a:solidFill>
                <a:latin typeface="Verdana"/>
                <a:cs typeface="Verdana"/>
              </a:rPr>
              <a:t>that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consistently </a:t>
            </a:r>
            <a:r>
              <a:rPr sz="2250" spc="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20" dirty="0">
                <a:solidFill>
                  <a:srgbClr val="FFFFFF"/>
                </a:solidFill>
                <a:latin typeface="Verdana"/>
                <a:cs typeface="Verdana"/>
              </a:rPr>
              <a:t>receive </a:t>
            </a:r>
            <a:r>
              <a:rPr sz="2250" spc="80" dirty="0">
                <a:solidFill>
                  <a:srgbClr val="FFFFFF"/>
                </a:solidFill>
                <a:latin typeface="Verdana"/>
                <a:cs typeface="Verdana"/>
              </a:rPr>
              <a:t>high </a:t>
            </a:r>
            <a:r>
              <a:rPr sz="2250" spc="-5" dirty="0">
                <a:solidFill>
                  <a:srgbClr val="FFFFFF"/>
                </a:solidFill>
                <a:latin typeface="Verdana"/>
                <a:cs typeface="Verdana"/>
              </a:rPr>
              <a:t>ratings </a:t>
            </a:r>
            <a:r>
              <a:rPr sz="2250" spc="30" dirty="0">
                <a:solidFill>
                  <a:srgbClr val="FFFFFF"/>
                </a:solidFill>
                <a:latin typeface="Verdana"/>
                <a:cs typeface="Verdana"/>
              </a:rPr>
              <a:t>from </a:t>
            </a:r>
            <a:r>
              <a:rPr sz="2250" spc="-15" dirty="0">
                <a:solidFill>
                  <a:srgbClr val="FFFFFF"/>
                </a:solidFill>
                <a:latin typeface="Verdana"/>
                <a:cs typeface="Verdana"/>
              </a:rPr>
              <a:t>customers. </a:t>
            </a:r>
            <a:r>
              <a:rPr sz="2250" spc="-10" dirty="0">
                <a:solidFill>
                  <a:srgbClr val="FFFFFF"/>
                </a:solidFill>
                <a:latin typeface="Verdana"/>
                <a:cs typeface="Verdana"/>
              </a:rPr>
              <a:t>These </a:t>
            </a:r>
            <a:r>
              <a:rPr sz="2250" spc="-5" dirty="0">
                <a:solidFill>
                  <a:srgbClr val="FFFFFF"/>
                </a:solidFill>
                <a:latin typeface="Verdana"/>
                <a:cs typeface="Verdana"/>
              </a:rPr>
              <a:t>ratings </a:t>
            </a:r>
            <a:r>
              <a:rPr sz="2250" spc="5" dirty="0">
                <a:solidFill>
                  <a:srgbClr val="FFFFFF"/>
                </a:solidFill>
                <a:latin typeface="Verdana"/>
                <a:cs typeface="Verdana"/>
              </a:rPr>
              <a:t>reﬂect </a:t>
            </a:r>
            <a:r>
              <a:rPr sz="2250" spc="20" dirty="0">
                <a:solidFill>
                  <a:srgbClr val="FFFFFF"/>
                </a:solidFill>
                <a:latin typeface="Verdana"/>
                <a:cs typeface="Verdana"/>
              </a:rPr>
              <a:t>strong </a:t>
            </a:r>
            <a:r>
              <a:rPr sz="2250" spc="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35" dirty="0">
                <a:solidFill>
                  <a:srgbClr val="FFFFFF"/>
                </a:solidFill>
                <a:latin typeface="Verdana"/>
                <a:cs typeface="Verdana"/>
              </a:rPr>
              <a:t>customer </a:t>
            </a:r>
            <a:r>
              <a:rPr sz="2250" spc="-25" dirty="0">
                <a:solidFill>
                  <a:srgbClr val="FFFFFF"/>
                </a:solidFill>
                <a:latin typeface="Verdana"/>
                <a:cs typeface="Verdana"/>
              </a:rPr>
              <a:t>satisfaction, </a:t>
            </a:r>
            <a:r>
              <a:rPr sz="2250" spc="-30" dirty="0">
                <a:solidFill>
                  <a:srgbClr val="FFFFFF"/>
                </a:solidFill>
                <a:latin typeface="Verdana"/>
                <a:cs typeface="Verdana"/>
              </a:rPr>
              <a:t>likely </a:t>
            </a:r>
            <a:r>
              <a:rPr sz="2250" spc="75" dirty="0">
                <a:solidFill>
                  <a:srgbClr val="FFFFFF"/>
                </a:solidFill>
                <a:latin typeface="Verdana"/>
                <a:cs typeface="Verdana"/>
              </a:rPr>
              <a:t>due </a:t>
            </a:r>
            <a:r>
              <a:rPr sz="2250" spc="10" dirty="0">
                <a:solidFill>
                  <a:srgbClr val="FFFFFF"/>
                </a:solidFill>
                <a:latin typeface="Verdana"/>
                <a:cs typeface="Verdana"/>
              </a:rPr>
              <a:t>to </a:t>
            </a:r>
            <a:r>
              <a:rPr sz="2250" spc="-15" dirty="0">
                <a:solidFill>
                  <a:srgbClr val="FFFFFF"/>
                </a:solidFill>
                <a:latin typeface="Verdana"/>
                <a:cs typeface="Verdana"/>
              </a:rPr>
              <a:t>factors </a:t>
            </a:r>
            <a:r>
              <a:rPr sz="2250" spc="45" dirty="0">
                <a:solidFill>
                  <a:srgbClr val="FFFFFF"/>
                </a:solidFill>
                <a:latin typeface="Verdana"/>
                <a:cs typeface="Verdana"/>
              </a:rPr>
              <a:t>such </a:t>
            </a:r>
            <a:r>
              <a:rPr sz="2250" spc="-50" dirty="0">
                <a:solidFill>
                  <a:srgbClr val="FFFFFF"/>
                </a:solidFill>
                <a:latin typeface="Verdana"/>
                <a:cs typeface="Verdana"/>
              </a:rPr>
              <a:t>as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excellent </a:t>
            </a:r>
            <a:r>
              <a:rPr sz="2250" spc="40" dirty="0">
                <a:solidFill>
                  <a:srgbClr val="FFFFFF"/>
                </a:solidFill>
                <a:latin typeface="Verdana"/>
                <a:cs typeface="Verdana"/>
              </a:rPr>
              <a:t>food </a:t>
            </a:r>
            <a:r>
              <a:rPr sz="2250" spc="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50" dirty="0">
                <a:solidFill>
                  <a:srgbClr val="FFFFFF"/>
                </a:solidFill>
                <a:latin typeface="Verdana"/>
                <a:cs typeface="Verdana"/>
              </a:rPr>
              <a:t>quality,</a:t>
            </a:r>
            <a:r>
              <a:rPr sz="2250" spc="-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5" dirty="0">
                <a:solidFill>
                  <a:srgbClr val="FFFFFF"/>
                </a:solidFill>
                <a:latin typeface="Verdana"/>
                <a:cs typeface="Verdana"/>
              </a:rPr>
              <a:t>superior</a:t>
            </a:r>
            <a:r>
              <a:rPr sz="2250" spc="-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60" dirty="0">
                <a:solidFill>
                  <a:srgbClr val="FFFFFF"/>
                </a:solidFill>
                <a:latin typeface="Verdana"/>
                <a:cs typeface="Verdana"/>
              </a:rPr>
              <a:t>service,</a:t>
            </a:r>
            <a:r>
              <a:rPr sz="2250" spc="-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40" dirty="0">
                <a:solidFill>
                  <a:srgbClr val="FFFFFF"/>
                </a:solidFill>
                <a:latin typeface="Verdana"/>
                <a:cs typeface="Verdana"/>
              </a:rPr>
              <a:t>appealing</a:t>
            </a:r>
            <a:r>
              <a:rPr sz="2250" spc="-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10" dirty="0">
                <a:solidFill>
                  <a:srgbClr val="FFFFFF"/>
                </a:solidFill>
                <a:latin typeface="Verdana"/>
                <a:cs typeface="Verdana"/>
              </a:rPr>
              <a:t>ambiance,</a:t>
            </a:r>
            <a:r>
              <a:rPr sz="2250" spc="-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10" dirty="0">
                <a:solidFill>
                  <a:srgbClr val="FFFFFF"/>
                </a:solidFill>
                <a:latin typeface="Verdana"/>
                <a:cs typeface="Verdana"/>
              </a:rPr>
              <a:t>or</a:t>
            </a:r>
            <a:r>
              <a:rPr sz="2250" spc="-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10" dirty="0">
                <a:solidFill>
                  <a:srgbClr val="FFFFFF"/>
                </a:solidFill>
                <a:latin typeface="Verdana"/>
                <a:cs typeface="Verdana"/>
              </a:rPr>
              <a:t>effective</a:t>
            </a:r>
            <a:r>
              <a:rPr sz="2250" spc="-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35" dirty="0">
                <a:solidFill>
                  <a:srgbClr val="FFFFFF"/>
                </a:solidFill>
                <a:latin typeface="Verdana"/>
                <a:cs typeface="Verdana"/>
              </a:rPr>
              <a:t>marketing </a:t>
            </a:r>
            <a:r>
              <a:rPr sz="2250" spc="-7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50" dirty="0">
                <a:solidFill>
                  <a:srgbClr val="FFFFFF"/>
                </a:solidFill>
                <a:latin typeface="Verdana"/>
                <a:cs typeface="Verdana"/>
              </a:rPr>
              <a:t>strategies. </a:t>
            </a:r>
            <a:r>
              <a:rPr sz="2250" spc="20" dirty="0">
                <a:solidFill>
                  <a:srgbClr val="FFFFFF"/>
                </a:solidFill>
                <a:latin typeface="Verdana"/>
                <a:cs typeface="Verdana"/>
              </a:rPr>
              <a:t>By </a:t>
            </a:r>
            <a:r>
              <a:rPr sz="2250" spc="60" dirty="0">
                <a:solidFill>
                  <a:srgbClr val="FFFFFF"/>
                </a:solidFill>
                <a:latin typeface="Verdana"/>
                <a:cs typeface="Verdana"/>
              </a:rPr>
              <a:t>benchmarking </a:t>
            </a:r>
            <a:r>
              <a:rPr sz="2250" spc="15" dirty="0">
                <a:solidFill>
                  <a:srgbClr val="FFFFFF"/>
                </a:solidFill>
                <a:latin typeface="Verdana"/>
                <a:cs typeface="Verdana"/>
              </a:rPr>
              <a:t>against these </a:t>
            </a:r>
            <a:r>
              <a:rPr sz="2250" spc="5" dirty="0">
                <a:solidFill>
                  <a:srgbClr val="FFFFFF"/>
                </a:solidFill>
                <a:latin typeface="Verdana"/>
                <a:cs typeface="Verdana"/>
              </a:rPr>
              <a:t>high-rated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competitors, </a:t>
            </a:r>
            <a:r>
              <a:rPr sz="2250" spc="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5" dirty="0">
                <a:solidFill>
                  <a:srgbClr val="FFFFFF"/>
                </a:solidFill>
                <a:latin typeface="Verdana"/>
                <a:cs typeface="Verdana"/>
              </a:rPr>
              <a:t>you </a:t>
            </a:r>
            <a:r>
              <a:rPr sz="2250" spc="55" dirty="0">
                <a:solidFill>
                  <a:srgbClr val="FFFFFF"/>
                </a:solidFill>
                <a:latin typeface="Verdana"/>
                <a:cs typeface="Verdana"/>
              </a:rPr>
              <a:t>can </a:t>
            </a:r>
            <a:r>
              <a:rPr sz="2250" spc="50" dirty="0">
                <a:solidFill>
                  <a:srgbClr val="FFFFFF"/>
                </a:solidFill>
                <a:latin typeface="Verdana"/>
                <a:cs typeface="Verdana"/>
              </a:rPr>
              <a:t>gain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valuable </a:t>
            </a:r>
            <a:r>
              <a:rPr sz="2250" spc="20" dirty="0">
                <a:solidFill>
                  <a:srgbClr val="FFFFFF"/>
                </a:solidFill>
                <a:latin typeface="Verdana"/>
                <a:cs typeface="Verdana"/>
              </a:rPr>
              <a:t>insights </a:t>
            </a:r>
            <a:r>
              <a:rPr sz="2250" spc="25" dirty="0">
                <a:solidFill>
                  <a:srgbClr val="FFFFFF"/>
                </a:solidFill>
                <a:latin typeface="Verdana"/>
                <a:cs typeface="Verdana"/>
              </a:rPr>
              <a:t>into </a:t>
            </a:r>
            <a:r>
              <a:rPr sz="2250" spc="55" dirty="0">
                <a:solidFill>
                  <a:srgbClr val="FFFFFF"/>
                </a:solidFill>
                <a:latin typeface="Verdana"/>
                <a:cs typeface="Verdana"/>
              </a:rPr>
              <a:t>what </a:t>
            </a:r>
            <a:r>
              <a:rPr sz="2250" spc="15" dirty="0">
                <a:solidFill>
                  <a:srgbClr val="FFFFFF"/>
                </a:solidFill>
                <a:latin typeface="Verdana"/>
                <a:cs typeface="Verdana"/>
              </a:rPr>
              <a:t>makes these </a:t>
            </a:r>
            <a:r>
              <a:rPr sz="2250" spc="-20" dirty="0">
                <a:solidFill>
                  <a:srgbClr val="FFFFFF"/>
                </a:solidFill>
                <a:latin typeface="Verdana"/>
                <a:cs typeface="Verdana"/>
              </a:rPr>
              <a:t>restaurants </a:t>
            </a:r>
            <a:r>
              <a:rPr sz="225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25" dirty="0">
                <a:solidFill>
                  <a:srgbClr val="FFFFFF"/>
                </a:solidFill>
                <a:latin typeface="Verdana"/>
                <a:cs typeface="Verdana"/>
              </a:rPr>
              <a:t>successful.</a:t>
            </a:r>
            <a:r>
              <a:rPr sz="225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50" dirty="0">
                <a:solidFill>
                  <a:srgbClr val="FFFFFF"/>
                </a:solidFill>
                <a:latin typeface="Verdana"/>
                <a:cs typeface="Verdana"/>
              </a:rPr>
              <a:t>Understanding</a:t>
            </a:r>
            <a:r>
              <a:rPr sz="2250" spc="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10" dirty="0">
                <a:solidFill>
                  <a:srgbClr val="FFFFFF"/>
                </a:solidFill>
                <a:latin typeface="Verdana"/>
                <a:cs typeface="Verdana"/>
              </a:rPr>
              <a:t>their</a:t>
            </a:r>
            <a:r>
              <a:rPr sz="2250" spc="15" dirty="0">
                <a:solidFill>
                  <a:srgbClr val="FFFFFF"/>
                </a:solidFill>
                <a:latin typeface="Verdana"/>
                <a:cs typeface="Verdana"/>
              </a:rPr>
              <a:t> strengths</a:t>
            </a:r>
            <a:r>
              <a:rPr sz="2250" spc="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allows</a:t>
            </a:r>
            <a:r>
              <a:rPr sz="2250" spc="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5" dirty="0">
                <a:solidFill>
                  <a:srgbClr val="FFFFFF"/>
                </a:solidFill>
                <a:latin typeface="Verdana"/>
                <a:cs typeface="Verdana"/>
              </a:rPr>
              <a:t>you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10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2250" spc="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55" dirty="0">
                <a:solidFill>
                  <a:srgbClr val="FFFFFF"/>
                </a:solidFill>
                <a:latin typeface="Verdana"/>
                <a:cs typeface="Verdana"/>
              </a:rPr>
              <a:t>adopt </a:t>
            </a:r>
            <a:r>
              <a:rPr sz="2250" spc="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similar</a:t>
            </a:r>
            <a:r>
              <a:rPr sz="2250" spc="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20" dirty="0">
                <a:solidFill>
                  <a:srgbClr val="FFFFFF"/>
                </a:solidFill>
                <a:latin typeface="Verdana"/>
                <a:cs typeface="Verdana"/>
              </a:rPr>
              <a:t>best</a:t>
            </a:r>
            <a:r>
              <a:rPr sz="2250" spc="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30" dirty="0">
                <a:solidFill>
                  <a:srgbClr val="FFFFFF"/>
                </a:solidFill>
                <a:latin typeface="Verdana"/>
                <a:cs typeface="Verdana"/>
              </a:rPr>
              <a:t>practices,</a:t>
            </a:r>
            <a:r>
              <a:rPr sz="2250" spc="-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reﬁne</a:t>
            </a:r>
            <a:r>
              <a:rPr sz="2250" spc="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20" dirty="0">
                <a:solidFill>
                  <a:srgbClr val="FFFFFF"/>
                </a:solidFill>
                <a:latin typeface="Verdana"/>
                <a:cs typeface="Verdana"/>
              </a:rPr>
              <a:t>your</a:t>
            </a:r>
            <a:r>
              <a:rPr sz="225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30" dirty="0">
                <a:solidFill>
                  <a:srgbClr val="FFFFFF"/>
                </a:solidFill>
                <a:latin typeface="Verdana"/>
                <a:cs typeface="Verdana"/>
              </a:rPr>
              <a:t>offerings,</a:t>
            </a:r>
            <a:r>
              <a:rPr sz="2250" spc="-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65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2250" spc="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50" dirty="0">
                <a:solidFill>
                  <a:srgbClr val="FFFFFF"/>
                </a:solidFill>
                <a:latin typeface="Verdana"/>
                <a:cs typeface="Verdana"/>
              </a:rPr>
              <a:t>enhance</a:t>
            </a:r>
            <a:r>
              <a:rPr sz="2250" spc="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20" dirty="0">
                <a:solidFill>
                  <a:srgbClr val="FFFFFF"/>
                </a:solidFill>
                <a:latin typeface="Verdana"/>
                <a:cs typeface="Verdana"/>
              </a:rPr>
              <a:t>your </a:t>
            </a:r>
            <a:r>
              <a:rPr sz="2250" spc="-7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6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250" spc="30" dirty="0">
                <a:solidFill>
                  <a:srgbClr val="FFFFFF"/>
                </a:solidFill>
                <a:latin typeface="Verdana"/>
                <a:cs typeface="Verdana"/>
              </a:rPr>
              <a:t>ompetiti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v</a:t>
            </a:r>
            <a:r>
              <a:rPr sz="2250" spc="1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25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75" dirty="0">
                <a:solidFill>
                  <a:srgbClr val="FFFFFF"/>
                </a:solidFill>
                <a:latin typeface="Verdana"/>
                <a:cs typeface="Verdana"/>
              </a:rPr>
              <a:t>edge</a:t>
            </a:r>
            <a:r>
              <a:rPr sz="225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40" dirty="0">
                <a:solidFill>
                  <a:srgbClr val="FFFFFF"/>
                </a:solidFill>
                <a:latin typeface="Verdana"/>
                <a:cs typeface="Verdana"/>
              </a:rPr>
              <a:t>in</a:t>
            </a:r>
            <a:r>
              <a:rPr sz="225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45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225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45" dirty="0">
                <a:solidFill>
                  <a:srgbClr val="FFFFFF"/>
                </a:solidFill>
                <a:latin typeface="Verdana"/>
                <a:cs typeface="Verdana"/>
              </a:rPr>
              <a:t>ma</a:t>
            </a:r>
            <a:r>
              <a:rPr sz="2250" spc="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250" spc="-30" dirty="0">
                <a:solidFill>
                  <a:srgbClr val="FFFFFF"/>
                </a:solidFill>
                <a:latin typeface="Verdana"/>
                <a:cs typeface="Verdana"/>
              </a:rPr>
              <a:t>k</a:t>
            </a:r>
            <a:r>
              <a:rPr sz="2250" spc="2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250" spc="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250" spc="-34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2250">
              <a:latin typeface="Verdana"/>
              <a:cs typeface="Verdana"/>
            </a:endParaRPr>
          </a:p>
          <a:p>
            <a:pPr marL="12700" marR="116839" algn="just">
              <a:lnSpc>
                <a:spcPct val="100000"/>
              </a:lnSpc>
              <a:spcBef>
                <a:spcPts val="2270"/>
              </a:spcBef>
            </a:pPr>
            <a:r>
              <a:rPr sz="2250" spc="-90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225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35" dirty="0">
                <a:solidFill>
                  <a:srgbClr val="FFFFFF"/>
                </a:solidFill>
                <a:latin typeface="Verdana"/>
                <a:cs typeface="Verdana"/>
              </a:rPr>
              <a:t>strengthen</a:t>
            </a:r>
            <a:r>
              <a:rPr sz="225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20" dirty="0">
                <a:solidFill>
                  <a:srgbClr val="FFFFFF"/>
                </a:solidFill>
                <a:latin typeface="Verdana"/>
                <a:cs typeface="Verdana"/>
              </a:rPr>
              <a:t>your</a:t>
            </a:r>
            <a:r>
              <a:rPr sz="225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30" dirty="0">
                <a:solidFill>
                  <a:srgbClr val="FFFFFF"/>
                </a:solidFill>
                <a:latin typeface="Verdana"/>
                <a:cs typeface="Verdana"/>
              </a:rPr>
              <a:t>restaurant's</a:t>
            </a:r>
            <a:r>
              <a:rPr sz="225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15" dirty="0">
                <a:solidFill>
                  <a:srgbClr val="FFFFFF"/>
                </a:solidFill>
                <a:latin typeface="Verdana"/>
                <a:cs typeface="Verdana"/>
              </a:rPr>
              <a:t>market</a:t>
            </a:r>
            <a:r>
              <a:rPr sz="225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15" dirty="0">
                <a:solidFill>
                  <a:srgbClr val="FFFFFF"/>
                </a:solidFill>
                <a:latin typeface="Verdana"/>
                <a:cs typeface="Verdana"/>
              </a:rPr>
              <a:t>position,</a:t>
            </a:r>
            <a:r>
              <a:rPr sz="225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55" dirty="0">
                <a:solidFill>
                  <a:srgbClr val="FFFFFF"/>
                </a:solidFill>
                <a:latin typeface="Verdana"/>
                <a:cs typeface="Verdana"/>
              </a:rPr>
              <a:t>it's</a:t>
            </a:r>
            <a:r>
              <a:rPr sz="225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5" dirty="0">
                <a:solidFill>
                  <a:srgbClr val="FFFFFF"/>
                </a:solidFill>
                <a:latin typeface="Verdana"/>
                <a:cs typeface="Verdana"/>
              </a:rPr>
              <a:t>essential</a:t>
            </a:r>
            <a:r>
              <a:rPr sz="225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10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225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75" dirty="0">
                <a:solidFill>
                  <a:srgbClr val="FFFFFF"/>
                </a:solidFill>
                <a:latin typeface="Verdana"/>
                <a:cs typeface="Verdana"/>
              </a:rPr>
              <a:t>conduct</a:t>
            </a:r>
            <a:r>
              <a:rPr sz="225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2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25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55" dirty="0">
                <a:solidFill>
                  <a:srgbClr val="FFFFFF"/>
                </a:solidFill>
                <a:latin typeface="Verdana"/>
                <a:cs typeface="Verdana"/>
              </a:rPr>
              <a:t>thorough</a:t>
            </a:r>
            <a:r>
              <a:rPr sz="225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30" dirty="0">
                <a:solidFill>
                  <a:srgbClr val="FFFFFF"/>
                </a:solidFill>
                <a:latin typeface="Verdana"/>
                <a:cs typeface="Verdana"/>
              </a:rPr>
              <a:t>competitive</a:t>
            </a:r>
            <a:r>
              <a:rPr sz="225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35" dirty="0">
                <a:solidFill>
                  <a:srgbClr val="FFFFFF"/>
                </a:solidFill>
                <a:latin typeface="Verdana"/>
                <a:cs typeface="Verdana"/>
              </a:rPr>
              <a:t>analysis</a:t>
            </a:r>
            <a:r>
              <a:rPr sz="225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15" dirty="0">
                <a:solidFill>
                  <a:srgbClr val="FFFFFF"/>
                </a:solidFill>
                <a:latin typeface="Verdana"/>
                <a:cs typeface="Verdana"/>
              </a:rPr>
              <a:t>by</a:t>
            </a:r>
            <a:r>
              <a:rPr sz="225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30" dirty="0">
                <a:solidFill>
                  <a:srgbClr val="FFFFFF"/>
                </a:solidFill>
                <a:latin typeface="Verdana"/>
                <a:cs typeface="Verdana"/>
              </a:rPr>
              <a:t>studying</a:t>
            </a:r>
            <a:r>
              <a:rPr sz="225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30" dirty="0">
                <a:solidFill>
                  <a:srgbClr val="FFFFFF"/>
                </a:solidFill>
                <a:latin typeface="Verdana"/>
                <a:cs typeface="Verdana"/>
              </a:rPr>
              <a:t>high- </a:t>
            </a:r>
            <a:r>
              <a:rPr sz="2250" spc="-7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15" dirty="0">
                <a:solidFill>
                  <a:srgbClr val="FFFFFF"/>
                </a:solidFill>
                <a:latin typeface="Verdana"/>
                <a:cs typeface="Verdana"/>
              </a:rPr>
              <a:t>rated</a:t>
            </a:r>
            <a:r>
              <a:rPr sz="2250" spc="-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competitors.</a:t>
            </a:r>
            <a:r>
              <a:rPr sz="2250" spc="-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50" dirty="0">
                <a:solidFill>
                  <a:srgbClr val="FFFFFF"/>
                </a:solidFill>
                <a:latin typeface="Verdana"/>
                <a:cs typeface="Verdana"/>
              </a:rPr>
              <a:t>Understanding</a:t>
            </a:r>
            <a:r>
              <a:rPr sz="225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10" dirty="0">
                <a:solidFill>
                  <a:srgbClr val="FFFFFF"/>
                </a:solidFill>
                <a:latin typeface="Verdana"/>
                <a:cs typeface="Verdana"/>
              </a:rPr>
              <a:t>their</a:t>
            </a:r>
            <a:r>
              <a:rPr sz="2250" spc="-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25" dirty="0">
                <a:solidFill>
                  <a:srgbClr val="FFFFFF"/>
                </a:solidFill>
                <a:latin typeface="Verdana"/>
                <a:cs typeface="Verdana"/>
              </a:rPr>
              <a:t>strengths—such</a:t>
            </a:r>
            <a:r>
              <a:rPr sz="225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50" dirty="0">
                <a:solidFill>
                  <a:srgbClr val="FFFFFF"/>
                </a:solidFill>
                <a:latin typeface="Verdana"/>
                <a:cs typeface="Verdana"/>
              </a:rPr>
              <a:t>as</a:t>
            </a:r>
            <a:r>
              <a:rPr sz="2250" spc="-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100" dirty="0">
                <a:solidFill>
                  <a:srgbClr val="FFFFFF"/>
                </a:solidFill>
                <a:latin typeface="Verdana"/>
                <a:cs typeface="Verdana"/>
              </a:rPr>
              <a:t>menu</a:t>
            </a:r>
            <a:r>
              <a:rPr sz="2250" spc="-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30" dirty="0">
                <a:solidFill>
                  <a:srgbClr val="FFFFFF"/>
                </a:solidFill>
                <a:latin typeface="Verdana"/>
                <a:cs typeface="Verdana"/>
              </a:rPr>
              <a:t>offerings,</a:t>
            </a:r>
            <a:r>
              <a:rPr sz="225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20" dirty="0">
                <a:solidFill>
                  <a:srgbClr val="FFFFFF"/>
                </a:solidFill>
                <a:latin typeface="Verdana"/>
                <a:cs typeface="Verdana"/>
              </a:rPr>
              <a:t>service</a:t>
            </a:r>
            <a:r>
              <a:rPr sz="2250" spc="-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50" dirty="0">
                <a:solidFill>
                  <a:srgbClr val="FFFFFF"/>
                </a:solidFill>
                <a:latin typeface="Verdana"/>
                <a:cs typeface="Verdana"/>
              </a:rPr>
              <a:t>quality,</a:t>
            </a:r>
            <a:r>
              <a:rPr sz="225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65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2250" spc="-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35" dirty="0">
                <a:solidFill>
                  <a:srgbClr val="FFFFFF"/>
                </a:solidFill>
                <a:latin typeface="Verdana"/>
                <a:cs typeface="Verdana"/>
              </a:rPr>
              <a:t>marketing</a:t>
            </a:r>
            <a:r>
              <a:rPr sz="2250" spc="-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strategies—can </a:t>
            </a:r>
            <a:r>
              <a:rPr sz="2250" spc="-7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5" dirty="0">
                <a:solidFill>
                  <a:srgbClr val="FFFFFF"/>
                </a:solidFill>
                <a:latin typeface="Verdana"/>
                <a:cs typeface="Verdana"/>
              </a:rPr>
              <a:t>provide</a:t>
            </a:r>
            <a:r>
              <a:rPr sz="225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valuable</a:t>
            </a:r>
            <a:r>
              <a:rPr sz="22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20" dirty="0">
                <a:solidFill>
                  <a:srgbClr val="FFFFFF"/>
                </a:solidFill>
                <a:latin typeface="Verdana"/>
                <a:cs typeface="Verdana"/>
              </a:rPr>
              <a:t>insights</a:t>
            </a:r>
            <a:r>
              <a:rPr sz="22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25" dirty="0">
                <a:solidFill>
                  <a:srgbClr val="FFFFFF"/>
                </a:solidFill>
                <a:latin typeface="Verdana"/>
                <a:cs typeface="Verdana"/>
              </a:rPr>
              <a:t>for</a:t>
            </a:r>
            <a:r>
              <a:rPr sz="22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20" dirty="0">
                <a:solidFill>
                  <a:srgbClr val="FFFFFF"/>
                </a:solidFill>
                <a:latin typeface="Verdana"/>
                <a:cs typeface="Verdana"/>
              </a:rPr>
              <a:t>your</a:t>
            </a:r>
            <a:r>
              <a:rPr sz="22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30" dirty="0">
                <a:solidFill>
                  <a:srgbClr val="FFFFFF"/>
                </a:solidFill>
                <a:latin typeface="Verdana"/>
                <a:cs typeface="Verdana"/>
              </a:rPr>
              <a:t>business.</a:t>
            </a:r>
            <a:r>
              <a:rPr sz="22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10" dirty="0">
                <a:solidFill>
                  <a:srgbClr val="FFFFFF"/>
                </a:solidFill>
                <a:latin typeface="Verdana"/>
                <a:cs typeface="Verdana"/>
              </a:rPr>
              <a:t>Additionally,</a:t>
            </a:r>
            <a:r>
              <a:rPr sz="225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5" dirty="0">
                <a:solidFill>
                  <a:srgbClr val="FFFFFF"/>
                </a:solidFill>
                <a:latin typeface="Verdana"/>
                <a:cs typeface="Verdana"/>
              </a:rPr>
              <a:t>analysing</a:t>
            </a:r>
            <a:r>
              <a:rPr sz="22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15" dirty="0">
                <a:solidFill>
                  <a:srgbClr val="FFFFFF"/>
                </a:solidFill>
                <a:latin typeface="Verdana"/>
                <a:cs typeface="Verdana"/>
              </a:rPr>
              <a:t>low-rated</a:t>
            </a:r>
            <a:r>
              <a:rPr sz="22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20" dirty="0">
                <a:solidFill>
                  <a:srgbClr val="FFFFFF"/>
                </a:solidFill>
                <a:latin typeface="Verdana"/>
                <a:cs typeface="Verdana"/>
              </a:rPr>
              <a:t>restaurants</a:t>
            </a:r>
            <a:r>
              <a:rPr sz="22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30" dirty="0">
                <a:solidFill>
                  <a:srgbClr val="FFFFFF"/>
                </a:solidFill>
                <a:latin typeface="Verdana"/>
                <a:cs typeface="Verdana"/>
              </a:rPr>
              <a:t>helps</a:t>
            </a:r>
            <a:r>
              <a:rPr sz="22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15" dirty="0">
                <a:solidFill>
                  <a:srgbClr val="FFFFFF"/>
                </a:solidFill>
                <a:latin typeface="Verdana"/>
                <a:cs typeface="Verdana"/>
              </a:rPr>
              <a:t>identify</a:t>
            </a:r>
            <a:r>
              <a:rPr sz="22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105" dirty="0">
                <a:solidFill>
                  <a:srgbClr val="FFFFFF"/>
                </a:solidFill>
                <a:latin typeface="Verdana"/>
                <a:cs typeface="Verdana"/>
              </a:rPr>
              <a:t>common</a:t>
            </a:r>
            <a:r>
              <a:rPr sz="22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40" dirty="0">
                <a:solidFill>
                  <a:srgbClr val="FFFFFF"/>
                </a:solidFill>
                <a:latin typeface="Verdana"/>
                <a:cs typeface="Verdana"/>
              </a:rPr>
              <a:t>complaints </a:t>
            </a:r>
            <a:r>
              <a:rPr sz="2250" spc="-7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65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225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50" dirty="0">
                <a:solidFill>
                  <a:srgbClr val="FFFFFF"/>
                </a:solidFill>
                <a:latin typeface="Verdana"/>
                <a:cs typeface="Verdana"/>
              </a:rPr>
              <a:t>areas</a:t>
            </a:r>
            <a:r>
              <a:rPr sz="225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5" dirty="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sz="225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35" dirty="0">
                <a:solidFill>
                  <a:srgbClr val="FFFFFF"/>
                </a:solidFill>
                <a:latin typeface="Verdana"/>
                <a:cs typeface="Verdana"/>
              </a:rPr>
              <a:t>weakness,</a:t>
            </a:r>
            <a:r>
              <a:rPr sz="225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40" dirty="0">
                <a:solidFill>
                  <a:srgbClr val="FFFFFF"/>
                </a:solidFill>
                <a:latin typeface="Verdana"/>
                <a:cs typeface="Verdana"/>
              </a:rPr>
              <a:t>allowing</a:t>
            </a:r>
            <a:r>
              <a:rPr sz="225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5" dirty="0">
                <a:solidFill>
                  <a:srgbClr val="FFFFFF"/>
                </a:solidFill>
                <a:latin typeface="Verdana"/>
                <a:cs typeface="Verdana"/>
              </a:rPr>
              <a:t>you</a:t>
            </a:r>
            <a:r>
              <a:rPr sz="225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10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225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10" dirty="0">
                <a:solidFill>
                  <a:srgbClr val="FFFFFF"/>
                </a:solidFill>
                <a:latin typeface="Verdana"/>
                <a:cs typeface="Verdana"/>
              </a:rPr>
              <a:t>avoid</a:t>
            </a:r>
            <a:r>
              <a:rPr sz="225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similar</a:t>
            </a:r>
            <a:r>
              <a:rPr sz="225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25" dirty="0">
                <a:solidFill>
                  <a:srgbClr val="FFFFFF"/>
                </a:solidFill>
                <a:latin typeface="Verdana"/>
                <a:cs typeface="Verdana"/>
              </a:rPr>
              <a:t>issues</a:t>
            </a:r>
            <a:r>
              <a:rPr sz="225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65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225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10" dirty="0">
                <a:solidFill>
                  <a:srgbClr val="FFFFFF"/>
                </a:solidFill>
                <a:latin typeface="Verdana"/>
                <a:cs typeface="Verdana"/>
              </a:rPr>
              <a:t>ensure</a:t>
            </a:r>
            <a:r>
              <a:rPr sz="225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2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25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10" dirty="0">
                <a:solidFill>
                  <a:srgbClr val="FFFFFF"/>
                </a:solidFill>
                <a:latin typeface="Verdana"/>
                <a:cs typeface="Verdana"/>
              </a:rPr>
              <a:t>better</a:t>
            </a:r>
            <a:r>
              <a:rPr sz="225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35" dirty="0">
                <a:solidFill>
                  <a:srgbClr val="FFFFFF"/>
                </a:solidFill>
                <a:latin typeface="Verdana"/>
                <a:cs typeface="Verdana"/>
              </a:rPr>
              <a:t>customer</a:t>
            </a:r>
            <a:r>
              <a:rPr sz="225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25" dirty="0">
                <a:solidFill>
                  <a:srgbClr val="FFFFFF"/>
                </a:solidFill>
                <a:latin typeface="Verdana"/>
                <a:cs typeface="Verdana"/>
              </a:rPr>
              <a:t>experience.</a:t>
            </a:r>
            <a:endParaRPr sz="2250">
              <a:latin typeface="Verdana"/>
              <a:cs typeface="Verdana"/>
            </a:endParaRPr>
          </a:p>
          <a:p>
            <a:pPr marL="8101330" algn="just">
              <a:lnSpc>
                <a:spcPts val="4490"/>
              </a:lnSpc>
              <a:spcBef>
                <a:spcPts val="1490"/>
              </a:spcBef>
            </a:pPr>
            <a:r>
              <a:rPr sz="3800" b="1" spc="50" dirty="0">
                <a:solidFill>
                  <a:srgbClr val="A2FF05"/>
                </a:solidFill>
                <a:latin typeface="Tahoma"/>
                <a:cs typeface="Tahoma"/>
              </a:rPr>
              <a:t>Low-Rated</a:t>
            </a:r>
            <a:r>
              <a:rPr sz="3800" b="1" spc="-95" dirty="0">
                <a:solidFill>
                  <a:srgbClr val="A2FF05"/>
                </a:solidFill>
                <a:latin typeface="Tahoma"/>
                <a:cs typeface="Tahoma"/>
              </a:rPr>
              <a:t> </a:t>
            </a:r>
            <a:r>
              <a:rPr sz="3800" b="1" spc="5" dirty="0">
                <a:solidFill>
                  <a:srgbClr val="A2FF05"/>
                </a:solidFill>
                <a:latin typeface="Tahoma"/>
                <a:cs typeface="Tahoma"/>
              </a:rPr>
              <a:t>Restaurants:</a:t>
            </a:r>
            <a:endParaRPr sz="3800">
              <a:latin typeface="Tahoma"/>
              <a:cs typeface="Tahoma"/>
            </a:endParaRPr>
          </a:p>
          <a:p>
            <a:pPr marL="8101330" marR="10160" algn="just">
              <a:lnSpc>
                <a:spcPts val="2700"/>
              </a:lnSpc>
              <a:spcBef>
                <a:spcPts val="25"/>
              </a:spcBef>
            </a:pPr>
            <a:r>
              <a:rPr sz="2250" spc="-65" dirty="0">
                <a:solidFill>
                  <a:srgbClr val="FFFFFF"/>
                </a:solidFill>
                <a:latin typeface="Verdana"/>
                <a:cs typeface="Verdana"/>
              </a:rPr>
              <a:t>Conversely,</a:t>
            </a:r>
            <a:r>
              <a:rPr sz="2250" spc="-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20" dirty="0">
                <a:solidFill>
                  <a:srgbClr val="FFFFFF"/>
                </a:solidFill>
                <a:latin typeface="Verdana"/>
                <a:cs typeface="Verdana"/>
              </a:rPr>
              <a:t>restaurants</a:t>
            </a:r>
            <a:r>
              <a:rPr sz="225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60" dirty="0">
                <a:solidFill>
                  <a:srgbClr val="FFFFFF"/>
                </a:solidFill>
                <a:latin typeface="Verdana"/>
                <a:cs typeface="Verdana"/>
              </a:rPr>
              <a:t>with </a:t>
            </a:r>
            <a:r>
              <a:rPr sz="2250" spc="10" dirty="0">
                <a:solidFill>
                  <a:srgbClr val="FFFFFF"/>
                </a:solidFill>
                <a:latin typeface="Verdana"/>
                <a:cs typeface="Verdana"/>
              </a:rPr>
              <a:t>lower</a:t>
            </a:r>
            <a:r>
              <a:rPr sz="2250" spc="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5" dirty="0">
                <a:solidFill>
                  <a:srgbClr val="FFFFFF"/>
                </a:solidFill>
                <a:latin typeface="Verdana"/>
                <a:cs typeface="Verdana"/>
              </a:rPr>
              <a:t>ratings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20" dirty="0">
                <a:solidFill>
                  <a:srgbClr val="FFFFFF"/>
                </a:solidFill>
                <a:latin typeface="Verdana"/>
                <a:cs typeface="Verdana"/>
              </a:rPr>
              <a:t>often</a:t>
            </a:r>
            <a:r>
              <a:rPr sz="2250" spc="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30" dirty="0">
                <a:solidFill>
                  <a:srgbClr val="FFFFFF"/>
                </a:solidFill>
                <a:latin typeface="Verdana"/>
                <a:cs typeface="Verdana"/>
              </a:rPr>
              <a:t>struggle</a:t>
            </a:r>
            <a:r>
              <a:rPr sz="2250" spc="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60" dirty="0">
                <a:solidFill>
                  <a:srgbClr val="FFFFFF"/>
                </a:solidFill>
                <a:latin typeface="Verdana"/>
                <a:cs typeface="Verdana"/>
              </a:rPr>
              <a:t>with </a:t>
            </a:r>
            <a:r>
              <a:rPr sz="2250" spc="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105" dirty="0">
                <a:solidFill>
                  <a:srgbClr val="FFFFFF"/>
                </a:solidFill>
                <a:latin typeface="Verdana"/>
                <a:cs typeface="Verdana"/>
              </a:rPr>
              <a:t>common</a:t>
            </a:r>
            <a:r>
              <a:rPr sz="2250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25" dirty="0">
                <a:solidFill>
                  <a:srgbClr val="FFFFFF"/>
                </a:solidFill>
                <a:latin typeface="Verdana"/>
                <a:cs typeface="Verdana"/>
              </a:rPr>
              <a:t>issues</a:t>
            </a:r>
            <a:r>
              <a:rPr sz="2250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30" dirty="0">
                <a:solidFill>
                  <a:srgbClr val="FFFFFF"/>
                </a:solidFill>
                <a:latin typeface="Verdana"/>
                <a:cs typeface="Verdana"/>
              </a:rPr>
              <a:t>that</a:t>
            </a:r>
            <a:r>
              <a:rPr sz="2250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15" dirty="0">
                <a:solidFill>
                  <a:srgbClr val="FFFFFF"/>
                </a:solidFill>
                <a:latin typeface="Verdana"/>
                <a:cs typeface="Verdana"/>
              </a:rPr>
              <a:t>lead</a:t>
            </a:r>
            <a:r>
              <a:rPr sz="2250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10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2250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35" dirty="0">
                <a:solidFill>
                  <a:srgbClr val="FFFFFF"/>
                </a:solidFill>
                <a:latin typeface="Verdana"/>
                <a:cs typeface="Verdana"/>
              </a:rPr>
              <a:t>customer</a:t>
            </a:r>
            <a:r>
              <a:rPr sz="2250" spc="-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20" dirty="0">
                <a:solidFill>
                  <a:srgbClr val="FFFFFF"/>
                </a:solidFill>
                <a:latin typeface="Verdana"/>
                <a:cs typeface="Verdana"/>
              </a:rPr>
              <a:t>dissatisfaction,</a:t>
            </a:r>
            <a:r>
              <a:rPr sz="2250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45" dirty="0">
                <a:solidFill>
                  <a:srgbClr val="FFFFFF"/>
                </a:solidFill>
                <a:latin typeface="Verdana"/>
                <a:cs typeface="Verdana"/>
              </a:rPr>
              <a:t>such</a:t>
            </a:r>
            <a:r>
              <a:rPr sz="2250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50" dirty="0">
                <a:solidFill>
                  <a:srgbClr val="FFFFFF"/>
                </a:solidFill>
                <a:latin typeface="Verdana"/>
                <a:cs typeface="Verdana"/>
              </a:rPr>
              <a:t>as</a:t>
            </a:r>
            <a:r>
              <a:rPr sz="2250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35" dirty="0">
                <a:solidFill>
                  <a:srgbClr val="FFFFFF"/>
                </a:solidFill>
                <a:latin typeface="Verdana"/>
                <a:cs typeface="Verdana"/>
              </a:rPr>
              <a:t>poor </a:t>
            </a:r>
            <a:r>
              <a:rPr sz="2250" spc="-7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60" dirty="0">
                <a:solidFill>
                  <a:srgbClr val="FFFFFF"/>
                </a:solidFill>
                <a:latin typeface="Verdana"/>
                <a:cs typeface="Verdana"/>
              </a:rPr>
              <a:t>service, </a:t>
            </a:r>
            <a:r>
              <a:rPr sz="2250" spc="20" dirty="0">
                <a:solidFill>
                  <a:srgbClr val="FFFFFF"/>
                </a:solidFill>
                <a:latin typeface="Verdana"/>
                <a:cs typeface="Verdana"/>
              </a:rPr>
              <a:t>inconsistent </a:t>
            </a:r>
            <a:r>
              <a:rPr sz="2250" spc="40" dirty="0">
                <a:solidFill>
                  <a:srgbClr val="FFFFFF"/>
                </a:solidFill>
                <a:latin typeface="Verdana"/>
                <a:cs typeface="Verdana"/>
              </a:rPr>
              <a:t>food </a:t>
            </a:r>
            <a:r>
              <a:rPr sz="2250" spc="-50" dirty="0">
                <a:solidFill>
                  <a:srgbClr val="FFFFFF"/>
                </a:solidFill>
                <a:latin typeface="Verdana"/>
                <a:cs typeface="Verdana"/>
              </a:rPr>
              <a:t>quality, </a:t>
            </a:r>
            <a:r>
              <a:rPr sz="2250" spc="-10" dirty="0">
                <a:solidFill>
                  <a:srgbClr val="FFFFFF"/>
                </a:solidFill>
                <a:latin typeface="Verdana"/>
                <a:cs typeface="Verdana"/>
              </a:rPr>
              <a:t>or </a:t>
            </a:r>
            <a:r>
              <a:rPr sz="2250" spc="35" dirty="0">
                <a:solidFill>
                  <a:srgbClr val="FFFFFF"/>
                </a:solidFill>
                <a:latin typeface="Verdana"/>
                <a:cs typeface="Verdana"/>
              </a:rPr>
              <a:t>an </a:t>
            </a:r>
            <a:r>
              <a:rPr sz="2250" spc="-5" dirty="0">
                <a:solidFill>
                  <a:srgbClr val="FFFFFF"/>
                </a:solidFill>
                <a:latin typeface="Verdana"/>
                <a:cs typeface="Verdana"/>
              </a:rPr>
              <a:t>unattractive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atmosphere. </a:t>
            </a:r>
            <a:r>
              <a:rPr sz="2250" spc="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20" dirty="0">
                <a:solidFill>
                  <a:srgbClr val="FFFFFF"/>
                </a:solidFill>
                <a:latin typeface="Verdana"/>
                <a:cs typeface="Verdana"/>
              </a:rPr>
              <a:t>Analyzing </a:t>
            </a:r>
            <a:r>
              <a:rPr sz="2250" spc="15" dirty="0">
                <a:solidFill>
                  <a:srgbClr val="FFFFFF"/>
                </a:solidFill>
                <a:latin typeface="Verdana"/>
                <a:cs typeface="Verdana"/>
              </a:rPr>
              <a:t>these </a:t>
            </a:r>
            <a:r>
              <a:rPr sz="2250" spc="-15" dirty="0">
                <a:solidFill>
                  <a:srgbClr val="FFFFFF"/>
                </a:solidFill>
                <a:latin typeface="Verdana"/>
                <a:cs typeface="Verdana"/>
              </a:rPr>
              <a:t>low-rated </a:t>
            </a:r>
            <a:r>
              <a:rPr sz="2250" spc="-20" dirty="0">
                <a:solidFill>
                  <a:srgbClr val="FFFFFF"/>
                </a:solidFill>
                <a:latin typeface="Verdana"/>
                <a:cs typeface="Verdana"/>
              </a:rPr>
              <a:t>restaurants </a:t>
            </a:r>
            <a:r>
              <a:rPr sz="2250" spc="55" dirty="0">
                <a:solidFill>
                  <a:srgbClr val="FFFFFF"/>
                </a:solidFill>
                <a:latin typeface="Verdana"/>
                <a:cs typeface="Verdana"/>
              </a:rPr>
              <a:t>can </a:t>
            </a:r>
            <a:r>
              <a:rPr sz="2250" spc="-50" dirty="0">
                <a:solidFill>
                  <a:srgbClr val="FFFFFF"/>
                </a:solidFill>
                <a:latin typeface="Verdana"/>
                <a:cs typeface="Verdana"/>
              </a:rPr>
              <a:t>reveal </a:t>
            </a:r>
            <a:r>
              <a:rPr sz="2250" spc="45" dirty="0">
                <a:solidFill>
                  <a:srgbClr val="FFFFFF"/>
                </a:solidFill>
                <a:latin typeface="Verdana"/>
                <a:cs typeface="Verdana"/>
              </a:rPr>
              <a:t>the </a:t>
            </a:r>
            <a:r>
              <a:rPr sz="2250" spc="-5" dirty="0">
                <a:solidFill>
                  <a:srgbClr val="FFFFFF"/>
                </a:solidFill>
                <a:latin typeface="Verdana"/>
                <a:cs typeface="Verdana"/>
              </a:rPr>
              <a:t>pitfalls </a:t>
            </a:r>
            <a:r>
              <a:rPr sz="2250" spc="65" dirty="0">
                <a:solidFill>
                  <a:srgbClr val="FFFFFF"/>
                </a:solidFill>
                <a:latin typeface="Verdana"/>
                <a:cs typeface="Verdana"/>
              </a:rPr>
              <a:t>and </a:t>
            </a:r>
            <a:r>
              <a:rPr sz="2250" spc="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30" dirty="0">
                <a:solidFill>
                  <a:srgbClr val="FFFFFF"/>
                </a:solidFill>
                <a:latin typeface="Verdana"/>
                <a:cs typeface="Verdana"/>
              </a:rPr>
              <a:t>challenges that </a:t>
            </a:r>
            <a:r>
              <a:rPr sz="2250" spc="25" dirty="0">
                <a:solidFill>
                  <a:srgbClr val="FFFFFF"/>
                </a:solidFill>
                <a:latin typeface="Verdana"/>
                <a:cs typeface="Verdana"/>
              </a:rPr>
              <a:t>other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businesses </a:t>
            </a:r>
            <a:r>
              <a:rPr sz="2250" spc="-20" dirty="0">
                <a:solidFill>
                  <a:srgbClr val="FFFFFF"/>
                </a:solidFill>
                <a:latin typeface="Verdana"/>
                <a:cs typeface="Verdana"/>
              </a:rPr>
              <a:t>have </a:t>
            </a:r>
            <a:r>
              <a:rPr sz="2250" spc="-35" dirty="0">
                <a:solidFill>
                  <a:srgbClr val="FFFFFF"/>
                </a:solidFill>
                <a:latin typeface="Verdana"/>
                <a:cs typeface="Verdana"/>
              </a:rPr>
              <a:t>faced. </a:t>
            </a:r>
            <a:r>
              <a:rPr sz="2250" spc="20" dirty="0">
                <a:solidFill>
                  <a:srgbClr val="FFFFFF"/>
                </a:solidFill>
                <a:latin typeface="Verdana"/>
                <a:cs typeface="Verdana"/>
              </a:rPr>
              <a:t>By </a:t>
            </a:r>
            <a:r>
              <a:rPr sz="2250" spc="30" dirty="0">
                <a:solidFill>
                  <a:srgbClr val="FFFFFF"/>
                </a:solidFill>
                <a:latin typeface="Verdana"/>
                <a:cs typeface="Verdana"/>
              </a:rPr>
              <a:t>identifying </a:t>
            </a:r>
            <a:r>
              <a:rPr sz="2250" spc="15" dirty="0">
                <a:solidFill>
                  <a:srgbClr val="FFFFFF"/>
                </a:solidFill>
                <a:latin typeface="Verdana"/>
                <a:cs typeface="Verdana"/>
              </a:rPr>
              <a:t>these </a:t>
            </a:r>
            <a:r>
              <a:rPr sz="2250" spc="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50" dirty="0">
                <a:solidFill>
                  <a:srgbClr val="FFFFFF"/>
                </a:solidFill>
                <a:latin typeface="Verdana"/>
                <a:cs typeface="Verdana"/>
              </a:rPr>
              <a:t>areas </a:t>
            </a:r>
            <a:r>
              <a:rPr sz="2250" spc="5" dirty="0">
                <a:solidFill>
                  <a:srgbClr val="FFFFFF"/>
                </a:solidFill>
                <a:latin typeface="Verdana"/>
                <a:cs typeface="Verdana"/>
              </a:rPr>
              <a:t>of </a:t>
            </a:r>
            <a:r>
              <a:rPr sz="2250" spc="-35" dirty="0">
                <a:solidFill>
                  <a:srgbClr val="FFFFFF"/>
                </a:solidFill>
                <a:latin typeface="Verdana"/>
                <a:cs typeface="Verdana"/>
              </a:rPr>
              <a:t>weakness, </a:t>
            </a:r>
            <a:r>
              <a:rPr sz="2250" spc="-5" dirty="0">
                <a:solidFill>
                  <a:srgbClr val="FFFFFF"/>
                </a:solidFill>
                <a:latin typeface="Verdana"/>
                <a:cs typeface="Verdana"/>
              </a:rPr>
              <a:t>you </a:t>
            </a:r>
            <a:r>
              <a:rPr sz="2250" spc="55" dirty="0">
                <a:solidFill>
                  <a:srgbClr val="FFFFFF"/>
                </a:solidFill>
                <a:latin typeface="Verdana"/>
                <a:cs typeface="Verdana"/>
              </a:rPr>
              <a:t>can </a:t>
            </a:r>
            <a:r>
              <a:rPr sz="2250" spc="10" dirty="0">
                <a:solidFill>
                  <a:srgbClr val="FFFFFF"/>
                </a:solidFill>
                <a:latin typeface="Verdana"/>
                <a:cs typeface="Verdana"/>
              </a:rPr>
              <a:t>ensure </a:t>
            </a:r>
            <a:r>
              <a:rPr sz="2250" spc="30" dirty="0">
                <a:solidFill>
                  <a:srgbClr val="FFFFFF"/>
                </a:solidFill>
                <a:latin typeface="Verdana"/>
                <a:cs typeface="Verdana"/>
              </a:rPr>
              <a:t>that </a:t>
            </a:r>
            <a:r>
              <a:rPr sz="2250" spc="-20" dirty="0">
                <a:solidFill>
                  <a:srgbClr val="FFFFFF"/>
                </a:solidFill>
                <a:latin typeface="Verdana"/>
                <a:cs typeface="Verdana"/>
              </a:rPr>
              <a:t>your </a:t>
            </a:r>
            <a:r>
              <a:rPr sz="2250" spc="-15" dirty="0">
                <a:solidFill>
                  <a:srgbClr val="FFFFFF"/>
                </a:solidFill>
                <a:latin typeface="Verdana"/>
                <a:cs typeface="Verdana"/>
              </a:rPr>
              <a:t>restaurant </a:t>
            </a:r>
            <a:r>
              <a:rPr sz="2250" spc="-20" dirty="0">
                <a:solidFill>
                  <a:srgbClr val="FFFFFF"/>
                </a:solidFill>
                <a:latin typeface="Verdana"/>
                <a:cs typeface="Verdana"/>
              </a:rPr>
              <a:t>avoids </a:t>
            </a:r>
            <a:r>
              <a:rPr sz="225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similar </a:t>
            </a:r>
            <a:r>
              <a:rPr sz="2250" spc="-35" dirty="0">
                <a:solidFill>
                  <a:srgbClr val="FFFFFF"/>
                </a:solidFill>
                <a:latin typeface="Verdana"/>
                <a:cs typeface="Verdana"/>
              </a:rPr>
              <a:t>mistakes.</a:t>
            </a:r>
            <a:r>
              <a:rPr sz="225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25" dirty="0">
                <a:solidFill>
                  <a:srgbClr val="FFFFFF"/>
                </a:solidFill>
                <a:latin typeface="Verdana"/>
                <a:cs typeface="Verdana"/>
              </a:rPr>
              <a:t>This</a:t>
            </a:r>
            <a:r>
              <a:rPr sz="225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35" dirty="0">
                <a:solidFill>
                  <a:srgbClr val="FFFFFF"/>
                </a:solidFill>
                <a:latin typeface="Verdana"/>
                <a:cs typeface="Verdana"/>
              </a:rPr>
              <a:t>analysis</a:t>
            </a:r>
            <a:r>
              <a:rPr sz="225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20" dirty="0">
                <a:solidFill>
                  <a:srgbClr val="FFFFFF"/>
                </a:solidFill>
                <a:latin typeface="Verdana"/>
                <a:cs typeface="Verdana"/>
              </a:rPr>
              <a:t>also</a:t>
            </a:r>
            <a:r>
              <a:rPr sz="225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5" dirty="0">
                <a:solidFill>
                  <a:srgbClr val="FFFFFF"/>
                </a:solidFill>
                <a:latin typeface="Verdana"/>
                <a:cs typeface="Verdana"/>
              </a:rPr>
              <a:t>provides </a:t>
            </a:r>
            <a:r>
              <a:rPr sz="2250" spc="35" dirty="0">
                <a:solidFill>
                  <a:srgbClr val="FFFFFF"/>
                </a:solidFill>
                <a:latin typeface="Verdana"/>
                <a:cs typeface="Verdana"/>
              </a:rPr>
              <a:t>an opportunity </a:t>
            </a:r>
            <a:r>
              <a:rPr sz="2250" spc="10" dirty="0">
                <a:solidFill>
                  <a:srgbClr val="FFFFFF"/>
                </a:solidFill>
                <a:latin typeface="Verdana"/>
                <a:cs typeface="Verdana"/>
              </a:rPr>
              <a:t>to </a:t>
            </a:r>
            <a:r>
              <a:rPr sz="2250" spc="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5" dirty="0">
                <a:solidFill>
                  <a:srgbClr val="FFFFFF"/>
                </a:solidFill>
                <a:latin typeface="Verdana"/>
                <a:cs typeface="Verdana"/>
              </a:rPr>
              <a:t>differentiate </a:t>
            </a:r>
            <a:r>
              <a:rPr sz="2250" spc="-20" dirty="0">
                <a:solidFill>
                  <a:srgbClr val="FFFFFF"/>
                </a:solidFill>
                <a:latin typeface="Verdana"/>
                <a:cs typeface="Verdana"/>
              </a:rPr>
              <a:t>your </a:t>
            </a:r>
            <a:r>
              <a:rPr sz="2250" spc="-15" dirty="0">
                <a:solidFill>
                  <a:srgbClr val="FFFFFF"/>
                </a:solidFill>
                <a:latin typeface="Verdana"/>
                <a:cs typeface="Verdana"/>
              </a:rPr>
              <a:t>restaurant by </a:t>
            </a:r>
            <a:r>
              <a:rPr sz="2250" spc="40" dirty="0">
                <a:solidFill>
                  <a:srgbClr val="FFFFFF"/>
                </a:solidFill>
                <a:latin typeface="Verdana"/>
                <a:cs typeface="Verdana"/>
              </a:rPr>
              <a:t>focusing </a:t>
            </a:r>
            <a:r>
              <a:rPr sz="2250" spc="70" dirty="0">
                <a:solidFill>
                  <a:srgbClr val="FFFFFF"/>
                </a:solidFill>
                <a:latin typeface="Verdana"/>
                <a:cs typeface="Verdana"/>
              </a:rPr>
              <a:t>on </a:t>
            </a:r>
            <a:r>
              <a:rPr sz="2250" spc="45" dirty="0">
                <a:solidFill>
                  <a:srgbClr val="FFFFFF"/>
                </a:solidFill>
                <a:latin typeface="Verdana"/>
                <a:cs typeface="Verdana"/>
              </a:rPr>
              <a:t>the </a:t>
            </a:r>
            <a:r>
              <a:rPr sz="2250" spc="10" dirty="0">
                <a:solidFill>
                  <a:srgbClr val="FFFFFF"/>
                </a:solidFill>
                <a:latin typeface="Verdana"/>
                <a:cs typeface="Verdana"/>
              </a:rPr>
              <a:t>aspects </a:t>
            </a:r>
            <a:r>
              <a:rPr sz="2250" spc="35" dirty="0">
                <a:solidFill>
                  <a:srgbClr val="FFFFFF"/>
                </a:solidFill>
                <a:latin typeface="Verdana"/>
                <a:cs typeface="Verdana"/>
              </a:rPr>
              <a:t>where </a:t>
            </a:r>
            <a:r>
              <a:rPr sz="2250" spc="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5" dirty="0">
                <a:solidFill>
                  <a:srgbClr val="FFFFFF"/>
                </a:solidFill>
                <a:latin typeface="Verdana"/>
                <a:cs typeface="Verdana"/>
              </a:rPr>
              <a:t>others</a:t>
            </a:r>
            <a:r>
              <a:rPr sz="2250" spc="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20" dirty="0">
                <a:solidFill>
                  <a:srgbClr val="FFFFFF"/>
                </a:solidFill>
                <a:latin typeface="Verdana"/>
                <a:cs typeface="Verdana"/>
              </a:rPr>
              <a:t>have</a:t>
            </a:r>
            <a:r>
              <a:rPr sz="225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45" dirty="0">
                <a:solidFill>
                  <a:srgbClr val="FFFFFF"/>
                </a:solidFill>
                <a:latin typeface="Verdana"/>
                <a:cs typeface="Verdana"/>
              </a:rPr>
              <a:t>failed,</a:t>
            </a:r>
            <a:r>
              <a:rPr sz="2250" spc="-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10" dirty="0">
                <a:solidFill>
                  <a:srgbClr val="FFFFFF"/>
                </a:solidFill>
                <a:latin typeface="Verdana"/>
                <a:cs typeface="Verdana"/>
              </a:rPr>
              <a:t>ultimately</a:t>
            </a:r>
            <a:r>
              <a:rPr sz="2250" spc="15" dirty="0">
                <a:solidFill>
                  <a:srgbClr val="FFFFFF"/>
                </a:solidFill>
                <a:latin typeface="Verdana"/>
                <a:cs typeface="Verdana"/>
              </a:rPr>
              <a:t> offering</a:t>
            </a:r>
            <a:r>
              <a:rPr sz="2250" spc="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2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25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5" dirty="0">
                <a:solidFill>
                  <a:srgbClr val="FFFFFF"/>
                </a:solidFill>
                <a:latin typeface="Verdana"/>
                <a:cs typeface="Verdana"/>
              </a:rPr>
              <a:t>superior</a:t>
            </a:r>
            <a:r>
              <a:rPr sz="2250" spc="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35" dirty="0">
                <a:solidFill>
                  <a:srgbClr val="FFFFFF"/>
                </a:solidFill>
                <a:latin typeface="Verdana"/>
                <a:cs typeface="Verdana"/>
              </a:rPr>
              <a:t>customer </a:t>
            </a:r>
            <a:r>
              <a:rPr sz="2250" spc="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2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250" spc="-15" dirty="0">
                <a:solidFill>
                  <a:srgbClr val="FFFFFF"/>
                </a:solidFill>
                <a:latin typeface="Verdana"/>
                <a:cs typeface="Verdana"/>
              </a:rPr>
              <a:t>xpe</a:t>
            </a:r>
            <a:r>
              <a:rPr sz="2250" spc="-3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250" spc="45" dirty="0">
                <a:solidFill>
                  <a:srgbClr val="FFFFFF"/>
                </a:solidFill>
                <a:latin typeface="Verdana"/>
                <a:cs typeface="Verdana"/>
              </a:rPr>
              <a:t>ien</a:t>
            </a:r>
            <a:r>
              <a:rPr sz="2250" spc="2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250" spc="1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25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30" dirty="0">
                <a:solidFill>
                  <a:srgbClr val="FFFFFF"/>
                </a:solidFill>
                <a:latin typeface="Verdana"/>
                <a:cs typeface="Verdana"/>
              </a:rPr>
              <a:t>that</a:t>
            </a:r>
            <a:r>
              <a:rPr sz="225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30" dirty="0">
                <a:solidFill>
                  <a:srgbClr val="FFFFFF"/>
                </a:solidFill>
                <a:latin typeface="Verdana"/>
                <a:cs typeface="Verdana"/>
              </a:rPr>
              <a:t>sets</a:t>
            </a:r>
            <a:r>
              <a:rPr sz="225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150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2250" spc="65" dirty="0">
                <a:solidFill>
                  <a:srgbClr val="FFFFFF"/>
                </a:solidFill>
                <a:latin typeface="Verdana"/>
                <a:cs typeface="Verdana"/>
              </a:rPr>
              <a:t>ou</a:t>
            </a:r>
            <a:r>
              <a:rPr sz="225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4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250" spc="4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250" spc="-5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250" spc="-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250" spc="2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25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40" dirty="0">
                <a:solidFill>
                  <a:srgbClr val="FFFFFF"/>
                </a:solidFill>
                <a:latin typeface="Verdana"/>
                <a:cs typeface="Verdana"/>
              </a:rPr>
              <a:t>in</a:t>
            </a:r>
            <a:r>
              <a:rPr sz="225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45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225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45" dirty="0">
                <a:solidFill>
                  <a:srgbClr val="FFFFFF"/>
                </a:solidFill>
                <a:latin typeface="Verdana"/>
                <a:cs typeface="Verdana"/>
              </a:rPr>
              <a:t>ma</a:t>
            </a:r>
            <a:r>
              <a:rPr sz="2250" spc="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250" spc="-30" dirty="0">
                <a:solidFill>
                  <a:srgbClr val="FFFFFF"/>
                </a:solidFill>
                <a:latin typeface="Verdana"/>
                <a:cs typeface="Verdana"/>
              </a:rPr>
              <a:t>k</a:t>
            </a:r>
            <a:r>
              <a:rPr sz="2250" spc="2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250" spc="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250" spc="-34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2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240"/>
            <a:ext cx="7991475" cy="10283190"/>
          </a:xfrm>
          <a:custGeom>
            <a:avLst/>
            <a:gdLst/>
            <a:ahLst/>
            <a:cxnLst/>
            <a:rect l="l" t="t" r="r" b="b"/>
            <a:pathLst>
              <a:path w="7991475" h="10283190">
                <a:moveTo>
                  <a:pt x="7991410" y="0"/>
                </a:moveTo>
                <a:lnTo>
                  <a:pt x="0" y="0"/>
                </a:lnTo>
                <a:lnTo>
                  <a:pt x="0" y="10282757"/>
                </a:lnTo>
                <a:lnTo>
                  <a:pt x="7991410" y="10282757"/>
                </a:lnTo>
                <a:lnTo>
                  <a:pt x="79914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8733910" y="732079"/>
            <a:ext cx="247650" cy="241300"/>
            <a:chOff x="8733910" y="732079"/>
            <a:chExt cx="247650" cy="2413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33910" y="732079"/>
              <a:ext cx="247650" cy="2413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33912" y="732079"/>
              <a:ext cx="247650" cy="2413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422133" y="493954"/>
            <a:ext cx="6315075" cy="5854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58165" algn="l"/>
              </a:tabLst>
            </a:pPr>
            <a:r>
              <a:rPr sz="3650" spc="220" dirty="0">
                <a:solidFill>
                  <a:srgbClr val="0700FF"/>
                </a:solidFill>
                <a:latin typeface="Cambria"/>
                <a:cs typeface="Cambria"/>
              </a:rPr>
              <a:t>E	</a:t>
            </a:r>
            <a:r>
              <a:rPr sz="3650" spc="10" dirty="0">
                <a:solidFill>
                  <a:srgbClr val="0700FF"/>
                </a:solidFill>
                <a:latin typeface="Cambria"/>
                <a:cs typeface="Cambria"/>
              </a:rPr>
              <a:t>pand</a:t>
            </a:r>
            <a:r>
              <a:rPr sz="3650" spc="40" dirty="0">
                <a:solidFill>
                  <a:srgbClr val="0700FF"/>
                </a:solidFill>
                <a:latin typeface="Cambria"/>
                <a:cs typeface="Cambria"/>
              </a:rPr>
              <a:t> </a:t>
            </a:r>
            <a:r>
              <a:rPr sz="3650" spc="30" dirty="0">
                <a:solidFill>
                  <a:srgbClr val="0700FF"/>
                </a:solidFill>
                <a:latin typeface="Cambria"/>
                <a:cs typeface="Cambria"/>
              </a:rPr>
              <a:t>in</a:t>
            </a:r>
            <a:r>
              <a:rPr sz="3650" spc="40" dirty="0">
                <a:solidFill>
                  <a:srgbClr val="0700FF"/>
                </a:solidFill>
                <a:latin typeface="Cambria"/>
                <a:cs typeface="Cambria"/>
              </a:rPr>
              <a:t> </a:t>
            </a:r>
            <a:r>
              <a:rPr sz="3650" spc="105" dirty="0">
                <a:solidFill>
                  <a:srgbClr val="0700FF"/>
                </a:solidFill>
                <a:latin typeface="Cambria"/>
                <a:cs typeface="Cambria"/>
              </a:rPr>
              <a:t>High-Rating</a:t>
            </a:r>
            <a:r>
              <a:rPr sz="3650" spc="-105" dirty="0">
                <a:solidFill>
                  <a:srgbClr val="0700FF"/>
                </a:solidFill>
                <a:latin typeface="Cambria"/>
                <a:cs typeface="Cambria"/>
              </a:rPr>
              <a:t> </a:t>
            </a:r>
            <a:r>
              <a:rPr sz="3650" spc="-15" dirty="0">
                <a:solidFill>
                  <a:srgbClr val="0700FF"/>
                </a:solidFill>
                <a:latin typeface="Cambria"/>
                <a:cs typeface="Cambria"/>
              </a:rPr>
              <a:t>Areas</a:t>
            </a:r>
            <a:endParaRPr sz="3650" dirty="0">
              <a:latin typeface="Cambria"/>
              <a:cs typeface="Cambria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30069" y="3577158"/>
            <a:ext cx="95250" cy="9525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30069" y="4967808"/>
            <a:ext cx="95250" cy="9525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30069" y="5996508"/>
            <a:ext cx="95250" cy="9525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8422133" y="2445270"/>
            <a:ext cx="9055100" cy="523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030"/>
              </a:lnSpc>
              <a:spcBef>
                <a:spcPts val="100"/>
              </a:spcBef>
            </a:pPr>
            <a:r>
              <a:rPr sz="2550" b="1" spc="65" dirty="0">
                <a:solidFill>
                  <a:srgbClr val="010101"/>
                </a:solidFill>
                <a:latin typeface="Tahoma"/>
                <a:cs typeface="Tahoma"/>
              </a:rPr>
              <a:t>Recommendation</a:t>
            </a:r>
            <a:r>
              <a:rPr sz="2450" b="1" spc="65" dirty="0">
                <a:solidFill>
                  <a:srgbClr val="010101"/>
                </a:solidFill>
                <a:latin typeface="Tahoma"/>
                <a:cs typeface="Tahoma"/>
              </a:rPr>
              <a:t>:</a:t>
            </a:r>
            <a:endParaRPr sz="2450" dirty="0">
              <a:latin typeface="Tahoma"/>
              <a:cs typeface="Tahoma"/>
            </a:endParaRPr>
          </a:p>
          <a:p>
            <a:pPr marL="12700" marR="5080">
              <a:lnSpc>
                <a:spcPts val="2700"/>
              </a:lnSpc>
              <a:spcBef>
                <a:spcPts val="60"/>
              </a:spcBef>
              <a:tabLst>
                <a:tab pos="1045210" algn="l"/>
                <a:tab pos="1602740" algn="l"/>
                <a:tab pos="3323590" algn="l"/>
                <a:tab pos="5029200" algn="l"/>
                <a:tab pos="5484495" algn="l"/>
                <a:tab pos="6410325" algn="l"/>
                <a:tab pos="7151370" algn="l"/>
                <a:tab pos="8404860" algn="l"/>
              </a:tabLst>
            </a:pPr>
            <a:r>
              <a:rPr sz="2250" spc="85" dirty="0">
                <a:latin typeface="Verdana"/>
                <a:cs typeface="Verdana"/>
              </a:rPr>
              <a:t>F</a:t>
            </a:r>
            <a:r>
              <a:rPr sz="2250" spc="35" dirty="0">
                <a:latin typeface="Verdana"/>
                <a:cs typeface="Verdana"/>
              </a:rPr>
              <a:t>ocus</a:t>
            </a:r>
            <a:r>
              <a:rPr sz="2250" dirty="0">
                <a:latin typeface="Verdana"/>
                <a:cs typeface="Verdana"/>
              </a:rPr>
              <a:t>	</a:t>
            </a:r>
            <a:r>
              <a:rPr sz="2250" spc="70" dirty="0">
                <a:latin typeface="Verdana"/>
                <a:cs typeface="Verdana"/>
              </a:rPr>
              <a:t>on</a:t>
            </a:r>
            <a:r>
              <a:rPr sz="2250" dirty="0">
                <a:latin typeface="Verdana"/>
                <a:cs typeface="Verdana"/>
              </a:rPr>
              <a:t>	</a:t>
            </a:r>
            <a:r>
              <a:rPr sz="2250" spc="-20" dirty="0">
                <a:latin typeface="Verdana"/>
                <a:cs typeface="Verdana"/>
              </a:rPr>
              <a:t>e</a:t>
            </a:r>
            <a:r>
              <a:rPr sz="2250" spc="-5" dirty="0">
                <a:latin typeface="Verdana"/>
                <a:cs typeface="Verdana"/>
              </a:rPr>
              <a:t>x</a:t>
            </a:r>
            <a:r>
              <a:rPr sz="2250" spc="-15" dirty="0">
                <a:latin typeface="Verdana"/>
                <a:cs typeface="Verdana"/>
              </a:rPr>
              <a:t>p</a:t>
            </a:r>
            <a:r>
              <a:rPr sz="2250" spc="70" dirty="0">
                <a:latin typeface="Verdana"/>
                <a:cs typeface="Verdana"/>
              </a:rPr>
              <a:t>anding</a:t>
            </a:r>
            <a:r>
              <a:rPr sz="2250" dirty="0">
                <a:latin typeface="Verdana"/>
                <a:cs typeface="Verdana"/>
              </a:rPr>
              <a:t>	</a:t>
            </a:r>
            <a:r>
              <a:rPr sz="2250" spc="60" dirty="0">
                <a:latin typeface="Verdana"/>
                <a:cs typeface="Verdana"/>
              </a:rPr>
              <a:t>ope</a:t>
            </a:r>
            <a:r>
              <a:rPr sz="2250" spc="-170" dirty="0">
                <a:latin typeface="Verdana"/>
                <a:cs typeface="Verdana"/>
              </a:rPr>
              <a:t>r</a:t>
            </a:r>
            <a:r>
              <a:rPr sz="2250" spc="5" dirty="0">
                <a:latin typeface="Verdana"/>
                <a:cs typeface="Verdana"/>
              </a:rPr>
              <a:t>ations</a:t>
            </a:r>
            <a:r>
              <a:rPr sz="2250" dirty="0">
                <a:latin typeface="Verdana"/>
                <a:cs typeface="Verdana"/>
              </a:rPr>
              <a:t>	</a:t>
            </a:r>
            <a:r>
              <a:rPr sz="2250" spc="40" dirty="0">
                <a:latin typeface="Verdana"/>
                <a:cs typeface="Verdana"/>
              </a:rPr>
              <a:t>in</a:t>
            </a:r>
            <a:r>
              <a:rPr sz="2250" dirty="0">
                <a:latin typeface="Verdana"/>
                <a:cs typeface="Verdana"/>
              </a:rPr>
              <a:t>	</a:t>
            </a:r>
            <a:r>
              <a:rPr sz="2250" spc="70" dirty="0">
                <a:latin typeface="Verdana"/>
                <a:cs typeface="Verdana"/>
              </a:rPr>
              <a:t>c</a:t>
            </a:r>
            <a:r>
              <a:rPr sz="2250" spc="-15" dirty="0">
                <a:latin typeface="Verdana"/>
                <a:cs typeface="Verdana"/>
              </a:rPr>
              <a:t>ities</a:t>
            </a:r>
            <a:r>
              <a:rPr sz="2250" dirty="0">
                <a:latin typeface="Verdana"/>
                <a:cs typeface="Verdana"/>
              </a:rPr>
              <a:t>	</a:t>
            </a:r>
            <a:r>
              <a:rPr sz="2250" spc="65" dirty="0">
                <a:latin typeface="Verdana"/>
                <a:cs typeface="Verdana"/>
              </a:rPr>
              <a:t>and</a:t>
            </a:r>
            <a:r>
              <a:rPr sz="2250" dirty="0">
                <a:latin typeface="Verdana"/>
                <a:cs typeface="Verdana"/>
              </a:rPr>
              <a:t>	</a:t>
            </a:r>
            <a:r>
              <a:rPr sz="2250" spc="-90" dirty="0">
                <a:latin typeface="Verdana"/>
                <a:cs typeface="Verdana"/>
              </a:rPr>
              <a:t>r</a:t>
            </a:r>
            <a:r>
              <a:rPr sz="2250" spc="35" dirty="0">
                <a:latin typeface="Verdana"/>
                <a:cs typeface="Verdana"/>
              </a:rPr>
              <a:t>egions</a:t>
            </a:r>
            <a:r>
              <a:rPr sz="2250" dirty="0">
                <a:latin typeface="Verdana"/>
                <a:cs typeface="Verdana"/>
              </a:rPr>
              <a:t>	</a:t>
            </a:r>
            <a:r>
              <a:rPr sz="2250" spc="55" dirty="0">
                <a:latin typeface="Verdana"/>
                <a:cs typeface="Verdana"/>
              </a:rPr>
              <a:t>with  </a:t>
            </a:r>
            <a:r>
              <a:rPr sz="2250" spc="65" dirty="0">
                <a:latin typeface="Verdana"/>
                <a:cs typeface="Verdana"/>
              </a:rPr>
              <a:t>c</a:t>
            </a:r>
            <a:r>
              <a:rPr sz="2250" dirty="0">
                <a:latin typeface="Verdana"/>
                <a:cs typeface="Verdana"/>
              </a:rPr>
              <a:t>onsis</a:t>
            </a:r>
            <a:r>
              <a:rPr sz="2250" spc="-45" dirty="0">
                <a:latin typeface="Verdana"/>
                <a:cs typeface="Verdana"/>
              </a:rPr>
              <a:t>t</a:t>
            </a:r>
            <a:r>
              <a:rPr sz="2250" dirty="0">
                <a:latin typeface="Verdana"/>
                <a:cs typeface="Verdana"/>
              </a:rPr>
              <a:t>ently</a:t>
            </a:r>
            <a:r>
              <a:rPr sz="2250" spc="-204" dirty="0">
                <a:latin typeface="Verdana"/>
                <a:cs typeface="Verdana"/>
              </a:rPr>
              <a:t> </a:t>
            </a:r>
            <a:r>
              <a:rPr sz="2250" spc="80" dirty="0">
                <a:latin typeface="Verdana"/>
                <a:cs typeface="Verdana"/>
              </a:rPr>
              <a:t>high</a:t>
            </a:r>
            <a:r>
              <a:rPr sz="2250" spc="-204" dirty="0">
                <a:latin typeface="Verdana"/>
                <a:cs typeface="Verdana"/>
              </a:rPr>
              <a:t> </a:t>
            </a:r>
            <a:r>
              <a:rPr sz="2250" spc="-50" dirty="0">
                <a:latin typeface="Verdana"/>
                <a:cs typeface="Verdana"/>
              </a:rPr>
              <a:t>a</a:t>
            </a:r>
            <a:r>
              <a:rPr sz="2250" spc="-150" dirty="0">
                <a:latin typeface="Verdana"/>
                <a:cs typeface="Verdana"/>
              </a:rPr>
              <a:t>v</a:t>
            </a:r>
            <a:r>
              <a:rPr sz="2250" spc="15" dirty="0">
                <a:latin typeface="Verdana"/>
                <a:cs typeface="Verdana"/>
              </a:rPr>
              <a:t>e</a:t>
            </a:r>
            <a:r>
              <a:rPr sz="2250" spc="-170" dirty="0">
                <a:latin typeface="Verdana"/>
                <a:cs typeface="Verdana"/>
              </a:rPr>
              <a:t>r</a:t>
            </a:r>
            <a:r>
              <a:rPr sz="2250" spc="40" dirty="0">
                <a:latin typeface="Verdana"/>
                <a:cs typeface="Verdana"/>
              </a:rPr>
              <a:t>age</a:t>
            </a:r>
            <a:r>
              <a:rPr sz="2250" spc="-204" dirty="0">
                <a:latin typeface="Verdana"/>
                <a:cs typeface="Verdana"/>
              </a:rPr>
              <a:t> </a:t>
            </a:r>
            <a:r>
              <a:rPr sz="2250" spc="-170" dirty="0">
                <a:latin typeface="Verdana"/>
                <a:cs typeface="Verdana"/>
              </a:rPr>
              <a:t>r</a:t>
            </a:r>
            <a:r>
              <a:rPr sz="2250" spc="-30" dirty="0">
                <a:latin typeface="Verdana"/>
                <a:cs typeface="Verdana"/>
              </a:rPr>
              <a:t>atings.</a:t>
            </a:r>
            <a:endParaRPr sz="225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150" dirty="0">
              <a:latin typeface="Verdana"/>
              <a:cs typeface="Verdana"/>
            </a:endParaRPr>
          </a:p>
          <a:p>
            <a:pPr marL="278130" indent="-266065">
              <a:lnSpc>
                <a:spcPts val="2755"/>
              </a:lnSpc>
              <a:buAutoNum type="arabicPeriod"/>
              <a:tabLst>
                <a:tab pos="278765" algn="l"/>
              </a:tabLst>
            </a:pPr>
            <a:r>
              <a:rPr sz="2300" b="1" spc="40" dirty="0">
                <a:solidFill>
                  <a:srgbClr val="FF0000"/>
                </a:solidFill>
                <a:latin typeface="Tahoma"/>
                <a:cs typeface="Tahoma"/>
              </a:rPr>
              <a:t>Data-Driven</a:t>
            </a:r>
            <a:r>
              <a:rPr sz="2300" b="1" spc="-5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300" b="1" spc="5" dirty="0">
                <a:solidFill>
                  <a:srgbClr val="FF0000"/>
                </a:solidFill>
                <a:latin typeface="Tahoma"/>
                <a:cs typeface="Tahoma"/>
              </a:rPr>
              <a:t>Reason:</a:t>
            </a:r>
            <a:endParaRPr sz="2300" dirty="0">
              <a:latin typeface="Tahoma"/>
              <a:cs typeface="Tahoma"/>
            </a:endParaRPr>
          </a:p>
          <a:p>
            <a:pPr marL="355600" marR="5080" algn="just">
              <a:lnSpc>
                <a:spcPts val="2700"/>
              </a:lnSpc>
              <a:spcBef>
                <a:spcPts val="85"/>
              </a:spcBef>
            </a:pPr>
            <a:r>
              <a:rPr sz="2250" spc="90" dirty="0">
                <a:latin typeface="Verdana"/>
                <a:cs typeface="Verdana"/>
              </a:rPr>
              <a:t>High</a:t>
            </a:r>
            <a:r>
              <a:rPr sz="2250" spc="95" dirty="0">
                <a:latin typeface="Verdana"/>
                <a:cs typeface="Verdana"/>
              </a:rPr>
              <a:t> </a:t>
            </a:r>
            <a:r>
              <a:rPr sz="2250" spc="-5" dirty="0">
                <a:latin typeface="Verdana"/>
                <a:cs typeface="Verdana"/>
              </a:rPr>
              <a:t>ratings</a:t>
            </a:r>
            <a:r>
              <a:rPr sz="2250" dirty="0">
                <a:latin typeface="Verdana"/>
                <a:cs typeface="Verdana"/>
              </a:rPr>
              <a:t> </a:t>
            </a:r>
            <a:r>
              <a:rPr sz="2250" spc="30" dirty="0">
                <a:latin typeface="Verdana"/>
                <a:cs typeface="Verdana"/>
              </a:rPr>
              <a:t>indicate</a:t>
            </a:r>
            <a:r>
              <a:rPr sz="2250" spc="35" dirty="0">
                <a:latin typeface="Verdana"/>
                <a:cs typeface="Verdana"/>
              </a:rPr>
              <a:t> </a:t>
            </a:r>
            <a:r>
              <a:rPr sz="2250" spc="20" dirty="0">
                <a:latin typeface="Verdana"/>
                <a:cs typeface="Verdana"/>
              </a:rPr>
              <a:t>strong</a:t>
            </a:r>
            <a:r>
              <a:rPr sz="2250" spc="25" dirty="0">
                <a:latin typeface="Verdana"/>
                <a:cs typeface="Verdana"/>
              </a:rPr>
              <a:t> </a:t>
            </a:r>
            <a:r>
              <a:rPr sz="2250" spc="35" dirty="0">
                <a:latin typeface="Verdana"/>
                <a:cs typeface="Verdana"/>
              </a:rPr>
              <a:t>customer</a:t>
            </a:r>
            <a:r>
              <a:rPr sz="2250" spc="40" dirty="0">
                <a:latin typeface="Verdana"/>
                <a:cs typeface="Verdana"/>
              </a:rPr>
              <a:t> </a:t>
            </a:r>
            <a:r>
              <a:rPr sz="2250" dirty="0">
                <a:latin typeface="Verdana"/>
                <a:cs typeface="Verdana"/>
              </a:rPr>
              <a:t>satisfaction</a:t>
            </a:r>
            <a:r>
              <a:rPr sz="2250" spc="5" dirty="0">
                <a:latin typeface="Verdana"/>
                <a:cs typeface="Verdana"/>
              </a:rPr>
              <a:t> </a:t>
            </a:r>
            <a:r>
              <a:rPr sz="2250" spc="65" dirty="0">
                <a:latin typeface="Verdana"/>
                <a:cs typeface="Verdana"/>
              </a:rPr>
              <a:t>and </a:t>
            </a:r>
            <a:r>
              <a:rPr sz="2250" spc="-780" dirty="0">
                <a:latin typeface="Verdana"/>
                <a:cs typeface="Verdana"/>
              </a:rPr>
              <a:t> </a:t>
            </a:r>
            <a:r>
              <a:rPr sz="2250" spc="-20" dirty="0">
                <a:latin typeface="Verdana"/>
                <a:cs typeface="Verdana"/>
              </a:rPr>
              <a:t>favourable </a:t>
            </a:r>
            <a:r>
              <a:rPr sz="2250" spc="15" dirty="0">
                <a:latin typeface="Verdana"/>
                <a:cs typeface="Verdana"/>
              </a:rPr>
              <a:t>market </a:t>
            </a:r>
            <a:r>
              <a:rPr sz="2250" spc="5" dirty="0">
                <a:latin typeface="Verdana"/>
                <a:cs typeface="Verdana"/>
              </a:rPr>
              <a:t>conditions, </a:t>
            </a:r>
            <a:r>
              <a:rPr sz="2250" spc="70" dirty="0">
                <a:latin typeface="Verdana"/>
                <a:cs typeface="Verdana"/>
              </a:rPr>
              <a:t>making </a:t>
            </a:r>
            <a:r>
              <a:rPr sz="2250" spc="15" dirty="0">
                <a:latin typeface="Verdana"/>
                <a:cs typeface="Verdana"/>
              </a:rPr>
              <a:t>these </a:t>
            </a:r>
            <a:r>
              <a:rPr sz="2250" spc="-50" dirty="0">
                <a:latin typeface="Verdana"/>
                <a:cs typeface="Verdana"/>
              </a:rPr>
              <a:t>areas </a:t>
            </a:r>
            <a:r>
              <a:rPr sz="2250" spc="10" dirty="0">
                <a:latin typeface="Verdana"/>
                <a:cs typeface="Verdana"/>
              </a:rPr>
              <a:t>ideal </a:t>
            </a:r>
            <a:r>
              <a:rPr sz="2250" spc="-25" dirty="0">
                <a:latin typeface="Verdana"/>
                <a:cs typeface="Verdana"/>
              </a:rPr>
              <a:t>for </a:t>
            </a:r>
            <a:r>
              <a:rPr sz="2250" spc="-20" dirty="0">
                <a:latin typeface="Verdana"/>
                <a:cs typeface="Verdana"/>
              </a:rPr>
              <a:t> </a:t>
            </a:r>
            <a:r>
              <a:rPr sz="2250" spc="55" dirty="0">
                <a:latin typeface="Verdana"/>
                <a:cs typeface="Verdana"/>
              </a:rPr>
              <a:t>n</a:t>
            </a:r>
            <a:r>
              <a:rPr sz="2250" spc="30" dirty="0">
                <a:latin typeface="Verdana"/>
                <a:cs typeface="Verdana"/>
              </a:rPr>
              <a:t>e</a:t>
            </a:r>
            <a:r>
              <a:rPr sz="2250" spc="135" dirty="0">
                <a:latin typeface="Verdana"/>
                <a:cs typeface="Verdana"/>
              </a:rPr>
              <a:t>w</a:t>
            </a:r>
            <a:r>
              <a:rPr sz="2250" spc="-204" dirty="0">
                <a:latin typeface="Verdana"/>
                <a:cs typeface="Verdana"/>
              </a:rPr>
              <a:t> </a:t>
            </a:r>
            <a:r>
              <a:rPr sz="2250" spc="-90" dirty="0">
                <a:latin typeface="Verdana"/>
                <a:cs typeface="Verdana"/>
              </a:rPr>
              <a:t>r</a:t>
            </a:r>
            <a:r>
              <a:rPr sz="2250" spc="5" dirty="0">
                <a:latin typeface="Verdana"/>
                <a:cs typeface="Verdana"/>
              </a:rPr>
              <a:t>estau</a:t>
            </a:r>
            <a:r>
              <a:rPr sz="2250" spc="-170" dirty="0">
                <a:latin typeface="Verdana"/>
                <a:cs typeface="Verdana"/>
              </a:rPr>
              <a:t>r</a:t>
            </a:r>
            <a:r>
              <a:rPr sz="2250" spc="30" dirty="0">
                <a:latin typeface="Verdana"/>
                <a:cs typeface="Verdana"/>
              </a:rPr>
              <a:t>ant</a:t>
            </a:r>
            <a:r>
              <a:rPr sz="2250" spc="-204" dirty="0">
                <a:latin typeface="Verdana"/>
                <a:cs typeface="Verdana"/>
              </a:rPr>
              <a:t> </a:t>
            </a:r>
            <a:r>
              <a:rPr sz="2250" spc="-150" dirty="0">
                <a:latin typeface="Verdana"/>
                <a:cs typeface="Verdana"/>
              </a:rPr>
              <a:t>v</a:t>
            </a:r>
            <a:r>
              <a:rPr sz="2250" spc="35" dirty="0">
                <a:latin typeface="Verdana"/>
                <a:cs typeface="Verdana"/>
              </a:rPr>
              <a:t>entu</a:t>
            </a:r>
            <a:r>
              <a:rPr sz="2250" spc="-5" dirty="0">
                <a:latin typeface="Verdana"/>
                <a:cs typeface="Verdana"/>
              </a:rPr>
              <a:t>r</a:t>
            </a:r>
            <a:r>
              <a:rPr sz="2250" spc="-135" dirty="0">
                <a:latin typeface="Verdana"/>
                <a:cs typeface="Verdana"/>
              </a:rPr>
              <a:t>es.</a:t>
            </a:r>
            <a:endParaRPr sz="2250" dirty="0">
              <a:latin typeface="Verdana"/>
              <a:cs typeface="Verdana"/>
            </a:endParaRPr>
          </a:p>
          <a:p>
            <a:pPr marL="340995" indent="-328930">
              <a:lnSpc>
                <a:spcPts val="2695"/>
              </a:lnSpc>
              <a:buAutoNum type="arabicPeriod" startAt="2"/>
              <a:tabLst>
                <a:tab pos="341630" algn="l"/>
              </a:tabLst>
            </a:pPr>
            <a:r>
              <a:rPr sz="2300" b="1" spc="80" dirty="0">
                <a:solidFill>
                  <a:srgbClr val="FF0000"/>
                </a:solidFill>
                <a:latin typeface="Tahoma"/>
                <a:cs typeface="Tahoma"/>
              </a:rPr>
              <a:t>Expected</a:t>
            </a:r>
            <a:r>
              <a:rPr sz="2300" b="1" spc="-6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300" b="1" spc="-10" dirty="0">
                <a:solidFill>
                  <a:srgbClr val="FF0000"/>
                </a:solidFill>
                <a:latin typeface="Tahoma"/>
                <a:cs typeface="Tahoma"/>
              </a:rPr>
              <a:t>Impact:</a:t>
            </a:r>
            <a:endParaRPr sz="2300" dirty="0">
              <a:latin typeface="Tahoma"/>
              <a:cs typeface="Tahoma"/>
            </a:endParaRPr>
          </a:p>
          <a:p>
            <a:pPr marL="355600" marR="5080" algn="just">
              <a:lnSpc>
                <a:spcPct val="100000"/>
              </a:lnSpc>
              <a:spcBef>
                <a:spcPts val="65"/>
              </a:spcBef>
            </a:pPr>
            <a:r>
              <a:rPr sz="2250" b="1" dirty="0">
                <a:latin typeface="Tahoma"/>
                <a:cs typeface="Tahoma"/>
              </a:rPr>
              <a:t>Increased</a:t>
            </a:r>
            <a:r>
              <a:rPr sz="2250" b="1" spc="5" dirty="0">
                <a:latin typeface="Tahoma"/>
                <a:cs typeface="Tahoma"/>
              </a:rPr>
              <a:t> </a:t>
            </a:r>
            <a:r>
              <a:rPr sz="2250" b="1" spc="35" dirty="0">
                <a:latin typeface="Tahoma"/>
                <a:cs typeface="Tahoma"/>
              </a:rPr>
              <a:t>Market</a:t>
            </a:r>
            <a:r>
              <a:rPr sz="2250" b="1" spc="730" dirty="0">
                <a:latin typeface="Tahoma"/>
                <a:cs typeface="Tahoma"/>
              </a:rPr>
              <a:t> </a:t>
            </a:r>
            <a:r>
              <a:rPr sz="2250" b="1" spc="-25" dirty="0">
                <a:latin typeface="Tahoma"/>
                <a:cs typeface="Tahoma"/>
              </a:rPr>
              <a:t>Share:</a:t>
            </a:r>
            <a:r>
              <a:rPr sz="2250" b="1" spc="-20" dirty="0">
                <a:latin typeface="Tahoma"/>
                <a:cs typeface="Tahoma"/>
              </a:rPr>
              <a:t> </a:t>
            </a:r>
            <a:r>
              <a:rPr sz="2250" spc="20" dirty="0">
                <a:latin typeface="Verdana"/>
                <a:cs typeface="Verdana"/>
              </a:rPr>
              <a:t>By</a:t>
            </a:r>
            <a:r>
              <a:rPr sz="2250" spc="25" dirty="0">
                <a:latin typeface="Verdana"/>
                <a:cs typeface="Verdana"/>
              </a:rPr>
              <a:t> capitalizing</a:t>
            </a:r>
            <a:r>
              <a:rPr sz="2250" spc="30" dirty="0">
                <a:latin typeface="Verdana"/>
                <a:cs typeface="Verdana"/>
              </a:rPr>
              <a:t> </a:t>
            </a:r>
            <a:r>
              <a:rPr sz="2250" spc="70" dirty="0">
                <a:latin typeface="Verdana"/>
                <a:cs typeface="Verdana"/>
              </a:rPr>
              <a:t>on</a:t>
            </a:r>
            <a:r>
              <a:rPr sz="2250" spc="75" dirty="0">
                <a:latin typeface="Verdana"/>
                <a:cs typeface="Verdana"/>
              </a:rPr>
              <a:t> </a:t>
            </a:r>
            <a:r>
              <a:rPr sz="2250" spc="-5" dirty="0">
                <a:latin typeface="Verdana"/>
                <a:cs typeface="Verdana"/>
              </a:rPr>
              <a:t>positive </a:t>
            </a:r>
            <a:r>
              <a:rPr sz="2250" dirty="0">
                <a:latin typeface="Verdana"/>
                <a:cs typeface="Verdana"/>
              </a:rPr>
              <a:t> </a:t>
            </a:r>
            <a:r>
              <a:rPr sz="2250" spc="35" dirty="0">
                <a:latin typeface="Verdana"/>
                <a:cs typeface="Verdana"/>
              </a:rPr>
              <a:t>customer </a:t>
            </a:r>
            <a:r>
              <a:rPr sz="2250" spc="5" dirty="0">
                <a:latin typeface="Verdana"/>
                <a:cs typeface="Verdana"/>
              </a:rPr>
              <a:t>sentiment, </a:t>
            </a:r>
            <a:r>
              <a:rPr sz="2250" spc="20" dirty="0">
                <a:latin typeface="Verdana"/>
                <a:cs typeface="Verdana"/>
              </a:rPr>
              <a:t>Zomato </a:t>
            </a:r>
            <a:r>
              <a:rPr sz="2250" spc="55" dirty="0">
                <a:latin typeface="Verdana"/>
                <a:cs typeface="Verdana"/>
              </a:rPr>
              <a:t>can </a:t>
            </a:r>
            <a:r>
              <a:rPr sz="2250" spc="30" dirty="0">
                <a:latin typeface="Verdana"/>
                <a:cs typeface="Verdana"/>
              </a:rPr>
              <a:t>capture </a:t>
            </a:r>
            <a:r>
              <a:rPr sz="2250" spc="-25" dirty="0">
                <a:latin typeface="Verdana"/>
                <a:cs typeface="Verdana"/>
              </a:rPr>
              <a:t>a </a:t>
            </a:r>
            <a:r>
              <a:rPr sz="2250" spc="-5" dirty="0">
                <a:latin typeface="Verdana"/>
                <a:cs typeface="Verdana"/>
              </a:rPr>
              <a:t>larger </a:t>
            </a:r>
            <a:r>
              <a:rPr sz="2250" spc="-15" dirty="0">
                <a:latin typeface="Verdana"/>
                <a:cs typeface="Verdana"/>
              </a:rPr>
              <a:t>share </a:t>
            </a:r>
            <a:r>
              <a:rPr sz="2250" spc="5" dirty="0">
                <a:latin typeface="Verdana"/>
                <a:cs typeface="Verdana"/>
              </a:rPr>
              <a:t>of </a:t>
            </a:r>
            <a:r>
              <a:rPr sz="2250" spc="10" dirty="0">
                <a:latin typeface="Verdana"/>
                <a:cs typeface="Verdana"/>
              </a:rPr>
              <a:t> </a:t>
            </a:r>
            <a:r>
              <a:rPr sz="2250" spc="45" dirty="0">
                <a:latin typeface="Verdana"/>
                <a:cs typeface="Verdana"/>
              </a:rPr>
              <a:t>the</a:t>
            </a:r>
            <a:r>
              <a:rPr sz="2250" spc="-204" dirty="0">
                <a:latin typeface="Verdana"/>
                <a:cs typeface="Verdana"/>
              </a:rPr>
              <a:t> </a:t>
            </a:r>
            <a:r>
              <a:rPr sz="2250" spc="45" dirty="0">
                <a:latin typeface="Verdana"/>
                <a:cs typeface="Verdana"/>
              </a:rPr>
              <a:t>ma</a:t>
            </a:r>
            <a:r>
              <a:rPr sz="2250" spc="5" dirty="0">
                <a:latin typeface="Verdana"/>
                <a:cs typeface="Verdana"/>
              </a:rPr>
              <a:t>r</a:t>
            </a:r>
            <a:r>
              <a:rPr sz="2250" spc="-30" dirty="0">
                <a:latin typeface="Verdana"/>
                <a:cs typeface="Verdana"/>
              </a:rPr>
              <a:t>k</a:t>
            </a:r>
            <a:r>
              <a:rPr sz="2250" spc="20" dirty="0">
                <a:latin typeface="Verdana"/>
                <a:cs typeface="Verdana"/>
              </a:rPr>
              <a:t>et</a:t>
            </a:r>
            <a:r>
              <a:rPr sz="2250" spc="-204" dirty="0">
                <a:latin typeface="Verdana"/>
                <a:cs typeface="Verdana"/>
              </a:rPr>
              <a:t> </a:t>
            </a:r>
            <a:r>
              <a:rPr sz="2250" spc="40" dirty="0">
                <a:latin typeface="Verdana"/>
                <a:cs typeface="Verdana"/>
              </a:rPr>
              <a:t>in</a:t>
            </a:r>
            <a:r>
              <a:rPr sz="2250" spc="-204" dirty="0">
                <a:latin typeface="Verdana"/>
                <a:cs typeface="Verdana"/>
              </a:rPr>
              <a:t> </a:t>
            </a:r>
            <a:r>
              <a:rPr sz="2250" spc="15" dirty="0">
                <a:latin typeface="Verdana"/>
                <a:cs typeface="Verdana"/>
              </a:rPr>
              <a:t>these</a:t>
            </a:r>
            <a:r>
              <a:rPr sz="2250" spc="-204" dirty="0">
                <a:latin typeface="Verdana"/>
                <a:cs typeface="Verdana"/>
              </a:rPr>
              <a:t> </a:t>
            </a:r>
            <a:r>
              <a:rPr sz="2250" spc="-90" dirty="0">
                <a:latin typeface="Verdana"/>
                <a:cs typeface="Verdana"/>
              </a:rPr>
              <a:t>r</a:t>
            </a:r>
            <a:r>
              <a:rPr sz="2250" spc="-20" dirty="0">
                <a:latin typeface="Verdana"/>
                <a:cs typeface="Verdana"/>
              </a:rPr>
              <a:t>egions.</a:t>
            </a:r>
            <a:endParaRPr sz="2250" dirty="0">
              <a:latin typeface="Verdana"/>
              <a:cs typeface="Verdana"/>
            </a:endParaRPr>
          </a:p>
          <a:p>
            <a:pPr marL="355600" marR="5080" algn="just">
              <a:lnSpc>
                <a:spcPct val="100000"/>
              </a:lnSpc>
            </a:pPr>
            <a:r>
              <a:rPr sz="2250" b="1" spc="55" dirty="0">
                <a:latin typeface="Tahoma"/>
                <a:cs typeface="Tahoma"/>
              </a:rPr>
              <a:t>Higher</a:t>
            </a:r>
            <a:r>
              <a:rPr sz="2250" b="1" spc="90" dirty="0">
                <a:latin typeface="Tahoma"/>
                <a:cs typeface="Tahoma"/>
              </a:rPr>
              <a:t> </a:t>
            </a:r>
            <a:r>
              <a:rPr sz="2250" b="1" spc="-10" dirty="0">
                <a:latin typeface="Tahoma"/>
                <a:cs typeface="Tahoma"/>
              </a:rPr>
              <a:t>Proﬁtability:</a:t>
            </a:r>
            <a:r>
              <a:rPr sz="2250" b="1" spc="90" dirty="0">
                <a:latin typeface="Tahoma"/>
                <a:cs typeface="Tahoma"/>
              </a:rPr>
              <a:t> </a:t>
            </a:r>
            <a:r>
              <a:rPr sz="2250" spc="-5" dirty="0">
                <a:latin typeface="Verdana"/>
                <a:cs typeface="Verdana"/>
              </a:rPr>
              <a:t>Successful</a:t>
            </a:r>
            <a:r>
              <a:rPr sz="2250" spc="-75" dirty="0">
                <a:latin typeface="Verdana"/>
                <a:cs typeface="Verdana"/>
              </a:rPr>
              <a:t> </a:t>
            </a:r>
            <a:r>
              <a:rPr sz="2250" spc="75" dirty="0">
                <a:latin typeface="Verdana"/>
                <a:cs typeface="Verdana"/>
              </a:rPr>
              <a:t>new</a:t>
            </a:r>
            <a:r>
              <a:rPr sz="2250" spc="-75" dirty="0">
                <a:latin typeface="Verdana"/>
                <a:cs typeface="Verdana"/>
              </a:rPr>
              <a:t> </a:t>
            </a:r>
            <a:r>
              <a:rPr sz="2250" spc="50" dirty="0">
                <a:latin typeface="Verdana"/>
                <a:cs typeface="Verdana"/>
              </a:rPr>
              <a:t>openings</a:t>
            </a:r>
            <a:r>
              <a:rPr sz="2250" spc="-70" dirty="0">
                <a:latin typeface="Verdana"/>
                <a:cs typeface="Verdana"/>
              </a:rPr>
              <a:t> </a:t>
            </a:r>
            <a:r>
              <a:rPr sz="2250" spc="40" dirty="0">
                <a:latin typeface="Verdana"/>
                <a:cs typeface="Verdana"/>
              </a:rPr>
              <a:t>in</a:t>
            </a:r>
            <a:r>
              <a:rPr sz="2250" spc="-75" dirty="0">
                <a:latin typeface="Verdana"/>
                <a:cs typeface="Verdana"/>
              </a:rPr>
              <a:t> </a:t>
            </a:r>
            <a:r>
              <a:rPr sz="2250" spc="15" dirty="0">
                <a:latin typeface="Verdana"/>
                <a:cs typeface="Verdana"/>
              </a:rPr>
              <a:t>high-rating </a:t>
            </a:r>
            <a:r>
              <a:rPr sz="2250" spc="-780" dirty="0">
                <a:latin typeface="Verdana"/>
                <a:cs typeface="Verdana"/>
              </a:rPr>
              <a:t> </a:t>
            </a:r>
            <a:r>
              <a:rPr sz="2250" spc="-50" dirty="0">
                <a:latin typeface="Verdana"/>
                <a:cs typeface="Verdana"/>
              </a:rPr>
              <a:t>areas </a:t>
            </a:r>
            <a:r>
              <a:rPr sz="2250" spc="-35" dirty="0">
                <a:latin typeface="Verdana"/>
                <a:cs typeface="Verdana"/>
              </a:rPr>
              <a:t>are </a:t>
            </a:r>
            <a:r>
              <a:rPr sz="2250" spc="-30" dirty="0">
                <a:latin typeface="Verdana"/>
                <a:cs typeface="Verdana"/>
              </a:rPr>
              <a:t>likely </a:t>
            </a:r>
            <a:r>
              <a:rPr sz="2250" spc="10" dirty="0">
                <a:latin typeface="Verdana"/>
                <a:cs typeface="Verdana"/>
              </a:rPr>
              <a:t>to </a:t>
            </a:r>
            <a:r>
              <a:rPr sz="2250" spc="-20" dirty="0">
                <a:latin typeface="Verdana"/>
                <a:cs typeface="Verdana"/>
              </a:rPr>
              <a:t>drive </a:t>
            </a:r>
            <a:r>
              <a:rPr sz="2250" spc="45" dirty="0">
                <a:latin typeface="Verdana"/>
                <a:cs typeface="Verdana"/>
              </a:rPr>
              <a:t>higher </a:t>
            </a:r>
            <a:r>
              <a:rPr sz="2250" spc="-15" dirty="0">
                <a:latin typeface="Verdana"/>
                <a:cs typeface="Verdana"/>
              </a:rPr>
              <a:t>revenues </a:t>
            </a:r>
            <a:r>
              <a:rPr sz="2250" spc="75" dirty="0">
                <a:latin typeface="Verdana"/>
                <a:cs typeface="Verdana"/>
              </a:rPr>
              <a:t>due </a:t>
            </a:r>
            <a:r>
              <a:rPr sz="2250" spc="10" dirty="0">
                <a:latin typeface="Verdana"/>
                <a:cs typeface="Verdana"/>
              </a:rPr>
              <a:t>to </a:t>
            </a:r>
            <a:r>
              <a:rPr sz="2250" spc="15" dirty="0">
                <a:latin typeface="Verdana"/>
                <a:cs typeface="Verdana"/>
              </a:rPr>
              <a:t>established </a:t>
            </a:r>
            <a:r>
              <a:rPr sz="2250" spc="20" dirty="0">
                <a:latin typeface="Verdana"/>
                <a:cs typeface="Verdana"/>
              </a:rPr>
              <a:t> </a:t>
            </a:r>
            <a:r>
              <a:rPr sz="2250" spc="35" dirty="0">
                <a:latin typeface="Verdana"/>
                <a:cs typeface="Verdana"/>
              </a:rPr>
              <a:t>cus</a:t>
            </a:r>
            <a:r>
              <a:rPr sz="2250" spc="-20" dirty="0">
                <a:latin typeface="Verdana"/>
                <a:cs typeface="Verdana"/>
              </a:rPr>
              <a:t>t</a:t>
            </a:r>
            <a:r>
              <a:rPr sz="2250" spc="50" dirty="0">
                <a:latin typeface="Verdana"/>
                <a:cs typeface="Verdana"/>
              </a:rPr>
              <a:t>omer</a:t>
            </a:r>
            <a:r>
              <a:rPr sz="2250" spc="-204" dirty="0">
                <a:latin typeface="Verdana"/>
                <a:cs typeface="Verdana"/>
              </a:rPr>
              <a:t> </a:t>
            </a:r>
            <a:r>
              <a:rPr sz="2250" spc="10" dirty="0">
                <a:latin typeface="Verdana"/>
                <a:cs typeface="Verdana"/>
              </a:rPr>
              <a:t>l</a:t>
            </a:r>
            <a:r>
              <a:rPr sz="2250" spc="-15" dirty="0">
                <a:latin typeface="Verdana"/>
                <a:cs typeface="Verdana"/>
              </a:rPr>
              <a:t>o</a:t>
            </a:r>
            <a:r>
              <a:rPr sz="2250" spc="-155" dirty="0">
                <a:latin typeface="Verdana"/>
                <a:cs typeface="Verdana"/>
              </a:rPr>
              <a:t>y</a:t>
            </a:r>
            <a:r>
              <a:rPr sz="2250" spc="-20" dirty="0">
                <a:latin typeface="Verdana"/>
                <a:cs typeface="Verdana"/>
              </a:rPr>
              <a:t>al</a:t>
            </a:r>
            <a:r>
              <a:rPr sz="2250" dirty="0">
                <a:latin typeface="Verdana"/>
                <a:cs typeface="Verdana"/>
              </a:rPr>
              <a:t>t</a:t>
            </a:r>
            <a:r>
              <a:rPr sz="2250" spc="-114" dirty="0">
                <a:latin typeface="Verdana"/>
                <a:cs typeface="Verdana"/>
              </a:rPr>
              <a:t>y</a:t>
            </a:r>
            <a:r>
              <a:rPr sz="2250" spc="-204" dirty="0">
                <a:latin typeface="Verdana"/>
                <a:cs typeface="Verdana"/>
              </a:rPr>
              <a:t> </a:t>
            </a:r>
            <a:r>
              <a:rPr sz="2250" spc="65" dirty="0">
                <a:latin typeface="Verdana"/>
                <a:cs typeface="Verdana"/>
              </a:rPr>
              <a:t>and</a:t>
            </a:r>
            <a:r>
              <a:rPr sz="2250" spc="-204" dirty="0">
                <a:latin typeface="Verdana"/>
                <a:cs typeface="Verdana"/>
              </a:rPr>
              <a:t> </a:t>
            </a:r>
            <a:r>
              <a:rPr sz="2250" spc="25" dirty="0">
                <a:latin typeface="Verdana"/>
                <a:cs typeface="Verdana"/>
              </a:rPr>
              <a:t>demand.</a:t>
            </a:r>
            <a:endParaRPr sz="2250" dirty="0">
              <a:latin typeface="Verdana"/>
              <a:cs typeface="Verdan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3113" y="844265"/>
            <a:ext cx="6981825" cy="85534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240"/>
            <a:ext cx="7991475" cy="10283190"/>
            <a:chOff x="0" y="4240"/>
            <a:chExt cx="7991475" cy="10283190"/>
          </a:xfrm>
        </p:grpSpPr>
        <p:sp>
          <p:nvSpPr>
            <p:cNvPr id="3" name="object 3"/>
            <p:cNvSpPr/>
            <p:nvPr/>
          </p:nvSpPr>
          <p:spPr>
            <a:xfrm>
              <a:off x="0" y="4240"/>
              <a:ext cx="7991475" cy="10283190"/>
            </a:xfrm>
            <a:custGeom>
              <a:avLst/>
              <a:gdLst/>
              <a:ahLst/>
              <a:cxnLst/>
              <a:rect l="l" t="t" r="r" b="b"/>
              <a:pathLst>
                <a:path w="7991475" h="10283190">
                  <a:moveTo>
                    <a:pt x="7991410" y="0"/>
                  </a:moveTo>
                  <a:lnTo>
                    <a:pt x="0" y="0"/>
                  </a:lnTo>
                  <a:lnTo>
                    <a:pt x="0" y="10282757"/>
                  </a:lnTo>
                  <a:lnTo>
                    <a:pt x="7991410" y="10282757"/>
                  </a:lnTo>
                  <a:lnTo>
                    <a:pt x="79914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3113" y="577545"/>
              <a:ext cx="6981825" cy="81915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422123" y="491642"/>
            <a:ext cx="9238615" cy="5854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650" spc="-15" dirty="0">
                <a:solidFill>
                  <a:srgbClr val="0700FF"/>
                </a:solidFill>
                <a:latin typeface="Cambria"/>
                <a:cs typeface="Cambria"/>
              </a:rPr>
              <a:t>Improve</a:t>
            </a:r>
            <a:r>
              <a:rPr sz="3650" spc="40" dirty="0">
                <a:solidFill>
                  <a:srgbClr val="0700FF"/>
                </a:solidFill>
                <a:latin typeface="Cambria"/>
                <a:cs typeface="Cambria"/>
              </a:rPr>
              <a:t> </a:t>
            </a:r>
            <a:r>
              <a:rPr sz="3650" spc="10" dirty="0">
                <a:solidFill>
                  <a:srgbClr val="0700FF"/>
                </a:solidFill>
                <a:latin typeface="Cambria"/>
                <a:cs typeface="Cambria"/>
              </a:rPr>
              <a:t>Performance</a:t>
            </a:r>
            <a:r>
              <a:rPr sz="3650" spc="40" dirty="0">
                <a:solidFill>
                  <a:srgbClr val="0700FF"/>
                </a:solidFill>
                <a:latin typeface="Cambria"/>
                <a:cs typeface="Cambria"/>
              </a:rPr>
              <a:t> </a:t>
            </a:r>
            <a:r>
              <a:rPr sz="3650" spc="30" dirty="0">
                <a:solidFill>
                  <a:srgbClr val="0700FF"/>
                </a:solidFill>
                <a:latin typeface="Cambria"/>
                <a:cs typeface="Cambria"/>
              </a:rPr>
              <a:t>in</a:t>
            </a:r>
            <a:r>
              <a:rPr sz="3650" spc="40" dirty="0">
                <a:solidFill>
                  <a:srgbClr val="0700FF"/>
                </a:solidFill>
                <a:latin typeface="Cambria"/>
                <a:cs typeface="Cambria"/>
              </a:rPr>
              <a:t> </a:t>
            </a:r>
            <a:r>
              <a:rPr sz="3650" spc="80" dirty="0">
                <a:solidFill>
                  <a:srgbClr val="0700FF"/>
                </a:solidFill>
                <a:latin typeface="Cambria"/>
                <a:cs typeface="Cambria"/>
              </a:rPr>
              <a:t>Low-Rating</a:t>
            </a:r>
            <a:r>
              <a:rPr sz="3650" spc="-105" dirty="0">
                <a:solidFill>
                  <a:srgbClr val="0700FF"/>
                </a:solidFill>
                <a:latin typeface="Cambria"/>
                <a:cs typeface="Cambria"/>
              </a:rPr>
              <a:t> </a:t>
            </a:r>
            <a:r>
              <a:rPr sz="3650" spc="-15" dirty="0">
                <a:solidFill>
                  <a:srgbClr val="0700FF"/>
                </a:solidFill>
                <a:latin typeface="Cambria"/>
                <a:cs typeface="Cambria"/>
              </a:rPr>
              <a:t>Areas</a:t>
            </a:r>
            <a:endParaRPr sz="3650">
              <a:latin typeface="Cambria"/>
              <a:cs typeface="Cambri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30082" y="3794887"/>
            <a:ext cx="95250" cy="9525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30082" y="5185537"/>
            <a:ext cx="95250" cy="9525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30082" y="6214237"/>
            <a:ext cx="95250" cy="9525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422131" y="1867661"/>
            <a:ext cx="9055735" cy="5578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030"/>
              </a:lnSpc>
              <a:spcBef>
                <a:spcPts val="100"/>
              </a:spcBef>
            </a:pPr>
            <a:r>
              <a:rPr sz="2550" b="1" spc="65" dirty="0">
                <a:solidFill>
                  <a:srgbClr val="010101"/>
                </a:solidFill>
                <a:latin typeface="Tahoma"/>
                <a:cs typeface="Tahoma"/>
              </a:rPr>
              <a:t>Recommendation</a:t>
            </a:r>
            <a:r>
              <a:rPr sz="2450" b="1" spc="65" dirty="0">
                <a:solidFill>
                  <a:srgbClr val="010101"/>
                </a:solidFill>
                <a:latin typeface="Tahoma"/>
                <a:cs typeface="Tahoma"/>
              </a:rPr>
              <a:t>:</a:t>
            </a:r>
            <a:endParaRPr sz="2450" dirty="0">
              <a:latin typeface="Tahoma"/>
              <a:cs typeface="Tahoma"/>
            </a:endParaRPr>
          </a:p>
          <a:p>
            <a:pPr marL="12700" marR="5080">
              <a:lnSpc>
                <a:spcPts val="2700"/>
              </a:lnSpc>
              <a:spcBef>
                <a:spcPts val="60"/>
              </a:spcBef>
            </a:pPr>
            <a:r>
              <a:rPr sz="2250" spc="-20" dirty="0">
                <a:latin typeface="Verdana"/>
                <a:cs typeface="Verdana"/>
              </a:rPr>
              <a:t>Identify</a:t>
            </a:r>
            <a:r>
              <a:rPr sz="2250" spc="110" dirty="0">
                <a:latin typeface="Verdana"/>
                <a:cs typeface="Verdana"/>
              </a:rPr>
              <a:t> </a:t>
            </a:r>
            <a:r>
              <a:rPr sz="2250" spc="65" dirty="0">
                <a:latin typeface="Verdana"/>
                <a:cs typeface="Verdana"/>
              </a:rPr>
              <a:t>and</a:t>
            </a:r>
            <a:r>
              <a:rPr sz="2250" spc="114" dirty="0">
                <a:latin typeface="Verdana"/>
                <a:cs typeface="Verdana"/>
              </a:rPr>
              <a:t> </a:t>
            </a:r>
            <a:r>
              <a:rPr sz="2250" dirty="0">
                <a:latin typeface="Verdana"/>
                <a:cs typeface="Verdana"/>
              </a:rPr>
              <a:t>address</a:t>
            </a:r>
            <a:r>
              <a:rPr sz="2250" spc="114" dirty="0">
                <a:latin typeface="Verdana"/>
                <a:cs typeface="Verdana"/>
              </a:rPr>
              <a:t> </a:t>
            </a:r>
            <a:r>
              <a:rPr sz="2250" spc="45" dirty="0">
                <a:latin typeface="Verdana"/>
                <a:cs typeface="Verdana"/>
              </a:rPr>
              <a:t>the</a:t>
            </a:r>
            <a:r>
              <a:rPr sz="2250" spc="114" dirty="0">
                <a:latin typeface="Verdana"/>
                <a:cs typeface="Verdana"/>
              </a:rPr>
              <a:t> </a:t>
            </a:r>
            <a:r>
              <a:rPr sz="2250" spc="-25" dirty="0">
                <a:latin typeface="Verdana"/>
                <a:cs typeface="Verdana"/>
              </a:rPr>
              <a:t>issues</a:t>
            </a:r>
            <a:r>
              <a:rPr sz="2250" spc="114" dirty="0">
                <a:latin typeface="Verdana"/>
                <a:cs typeface="Verdana"/>
              </a:rPr>
              <a:t> </a:t>
            </a:r>
            <a:r>
              <a:rPr sz="2250" spc="40" dirty="0">
                <a:latin typeface="Verdana"/>
                <a:cs typeface="Verdana"/>
              </a:rPr>
              <a:t>in</a:t>
            </a:r>
            <a:r>
              <a:rPr sz="2250" spc="114" dirty="0">
                <a:latin typeface="Verdana"/>
                <a:cs typeface="Verdana"/>
              </a:rPr>
              <a:t> </a:t>
            </a:r>
            <a:r>
              <a:rPr sz="2250" spc="15" dirty="0">
                <a:latin typeface="Verdana"/>
                <a:cs typeface="Verdana"/>
              </a:rPr>
              <a:t>regions</a:t>
            </a:r>
            <a:r>
              <a:rPr sz="2250" spc="114" dirty="0">
                <a:latin typeface="Verdana"/>
                <a:cs typeface="Verdana"/>
              </a:rPr>
              <a:t> </a:t>
            </a:r>
            <a:r>
              <a:rPr sz="2250" spc="60" dirty="0">
                <a:latin typeface="Verdana"/>
                <a:cs typeface="Verdana"/>
              </a:rPr>
              <a:t>with</a:t>
            </a:r>
            <a:r>
              <a:rPr sz="2250" spc="114" dirty="0">
                <a:latin typeface="Verdana"/>
                <a:cs typeface="Verdana"/>
              </a:rPr>
              <a:t> </a:t>
            </a:r>
            <a:r>
              <a:rPr sz="2250" spc="10" dirty="0">
                <a:latin typeface="Verdana"/>
                <a:cs typeface="Verdana"/>
              </a:rPr>
              <a:t>lower</a:t>
            </a:r>
            <a:r>
              <a:rPr sz="2250" spc="114" dirty="0">
                <a:latin typeface="Verdana"/>
                <a:cs typeface="Verdana"/>
              </a:rPr>
              <a:t> </a:t>
            </a:r>
            <a:r>
              <a:rPr sz="2250" spc="-35" dirty="0">
                <a:latin typeface="Verdana"/>
                <a:cs typeface="Verdana"/>
              </a:rPr>
              <a:t>average </a:t>
            </a:r>
            <a:r>
              <a:rPr sz="2250" spc="-775" dirty="0">
                <a:latin typeface="Verdana"/>
                <a:cs typeface="Verdana"/>
              </a:rPr>
              <a:t> </a:t>
            </a:r>
            <a:r>
              <a:rPr sz="2250" spc="-45" dirty="0">
                <a:latin typeface="Verdana"/>
                <a:cs typeface="Verdana"/>
              </a:rPr>
              <a:t>ratings.</a:t>
            </a:r>
            <a:endParaRPr sz="225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150" dirty="0">
              <a:latin typeface="Verdana"/>
              <a:cs typeface="Verdana"/>
            </a:endParaRPr>
          </a:p>
          <a:p>
            <a:pPr marL="278130" indent="-266065">
              <a:lnSpc>
                <a:spcPts val="2755"/>
              </a:lnSpc>
              <a:buAutoNum type="arabicPeriod"/>
              <a:tabLst>
                <a:tab pos="278765" algn="l"/>
              </a:tabLst>
            </a:pPr>
            <a:r>
              <a:rPr sz="2300" b="1" spc="40" dirty="0">
                <a:solidFill>
                  <a:srgbClr val="FF0000"/>
                </a:solidFill>
                <a:latin typeface="Tahoma"/>
                <a:cs typeface="Tahoma"/>
              </a:rPr>
              <a:t>Data-Driven</a:t>
            </a:r>
            <a:r>
              <a:rPr sz="2300" b="1" spc="-5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300" b="1" spc="5" dirty="0">
                <a:solidFill>
                  <a:srgbClr val="FF0000"/>
                </a:solidFill>
                <a:latin typeface="Tahoma"/>
                <a:cs typeface="Tahoma"/>
              </a:rPr>
              <a:t>Reason:</a:t>
            </a:r>
            <a:endParaRPr sz="2300" dirty="0">
              <a:latin typeface="Tahoma"/>
              <a:cs typeface="Tahoma"/>
            </a:endParaRPr>
          </a:p>
          <a:p>
            <a:pPr marL="355600" marR="5080" algn="just">
              <a:lnSpc>
                <a:spcPts val="2700"/>
              </a:lnSpc>
              <a:spcBef>
                <a:spcPts val="85"/>
              </a:spcBef>
            </a:pPr>
            <a:r>
              <a:rPr sz="2250" spc="-20" dirty="0">
                <a:latin typeface="Verdana"/>
                <a:cs typeface="Verdana"/>
              </a:rPr>
              <a:t>Analysis</a:t>
            </a:r>
            <a:r>
              <a:rPr sz="2250" spc="-55" dirty="0">
                <a:latin typeface="Verdana"/>
                <a:cs typeface="Verdana"/>
              </a:rPr>
              <a:t> </a:t>
            </a:r>
            <a:r>
              <a:rPr sz="2250" spc="5" dirty="0">
                <a:latin typeface="Verdana"/>
                <a:cs typeface="Verdana"/>
              </a:rPr>
              <a:t>of</a:t>
            </a:r>
            <a:r>
              <a:rPr sz="2250" spc="-50" dirty="0">
                <a:latin typeface="Verdana"/>
                <a:cs typeface="Verdana"/>
              </a:rPr>
              <a:t> </a:t>
            </a:r>
            <a:r>
              <a:rPr sz="2250" spc="-15" dirty="0">
                <a:latin typeface="Verdana"/>
                <a:cs typeface="Verdana"/>
              </a:rPr>
              <a:t>low-rated</a:t>
            </a:r>
            <a:r>
              <a:rPr sz="2250" spc="-55" dirty="0">
                <a:latin typeface="Verdana"/>
                <a:cs typeface="Verdana"/>
              </a:rPr>
              <a:t> </a:t>
            </a:r>
            <a:r>
              <a:rPr sz="2250" spc="-20" dirty="0">
                <a:latin typeface="Verdana"/>
                <a:cs typeface="Verdana"/>
              </a:rPr>
              <a:t>restaurants</a:t>
            </a:r>
            <a:r>
              <a:rPr sz="2250" spc="-50" dirty="0">
                <a:latin typeface="Verdana"/>
                <a:cs typeface="Verdana"/>
              </a:rPr>
              <a:t> </a:t>
            </a:r>
            <a:r>
              <a:rPr sz="2250" spc="55" dirty="0">
                <a:latin typeface="Verdana"/>
                <a:cs typeface="Verdana"/>
              </a:rPr>
              <a:t>can</a:t>
            </a:r>
            <a:r>
              <a:rPr sz="2250" spc="-50" dirty="0">
                <a:latin typeface="Verdana"/>
                <a:cs typeface="Verdana"/>
              </a:rPr>
              <a:t> reveal</a:t>
            </a:r>
            <a:r>
              <a:rPr sz="2250" spc="-55" dirty="0">
                <a:latin typeface="Verdana"/>
                <a:cs typeface="Verdana"/>
              </a:rPr>
              <a:t> </a:t>
            </a:r>
            <a:r>
              <a:rPr sz="2250" spc="105" dirty="0">
                <a:latin typeface="Verdana"/>
                <a:cs typeface="Verdana"/>
              </a:rPr>
              <a:t>common</a:t>
            </a:r>
            <a:r>
              <a:rPr sz="2250" spc="-50" dirty="0">
                <a:latin typeface="Verdana"/>
                <a:cs typeface="Verdana"/>
              </a:rPr>
              <a:t> </a:t>
            </a:r>
            <a:r>
              <a:rPr sz="2250" spc="-5" dirty="0">
                <a:latin typeface="Verdana"/>
                <a:cs typeface="Verdana"/>
              </a:rPr>
              <a:t>pitfalls </a:t>
            </a:r>
            <a:r>
              <a:rPr sz="2250" spc="-780" dirty="0">
                <a:latin typeface="Verdana"/>
                <a:cs typeface="Verdana"/>
              </a:rPr>
              <a:t> </a:t>
            </a:r>
            <a:r>
              <a:rPr sz="2250" spc="45" dirty="0">
                <a:latin typeface="Verdana"/>
                <a:cs typeface="Verdana"/>
              </a:rPr>
              <a:t>such </a:t>
            </a:r>
            <a:r>
              <a:rPr sz="2250" spc="-50" dirty="0">
                <a:latin typeface="Verdana"/>
                <a:cs typeface="Verdana"/>
              </a:rPr>
              <a:t>as </a:t>
            </a:r>
            <a:r>
              <a:rPr sz="2250" spc="35" dirty="0">
                <a:latin typeface="Verdana"/>
                <a:cs typeface="Verdana"/>
              </a:rPr>
              <a:t>poor </a:t>
            </a:r>
            <a:r>
              <a:rPr sz="2250" spc="-60" dirty="0">
                <a:latin typeface="Verdana"/>
                <a:cs typeface="Verdana"/>
              </a:rPr>
              <a:t>service, </a:t>
            </a:r>
            <a:r>
              <a:rPr sz="2250" spc="40" dirty="0">
                <a:latin typeface="Verdana"/>
                <a:cs typeface="Verdana"/>
              </a:rPr>
              <a:t>food </a:t>
            </a:r>
            <a:r>
              <a:rPr sz="2250" spc="-50" dirty="0">
                <a:latin typeface="Verdana"/>
                <a:cs typeface="Verdana"/>
              </a:rPr>
              <a:t>quality, </a:t>
            </a:r>
            <a:r>
              <a:rPr sz="2250" spc="-10" dirty="0">
                <a:latin typeface="Verdana"/>
                <a:cs typeface="Verdana"/>
              </a:rPr>
              <a:t>or </a:t>
            </a:r>
            <a:r>
              <a:rPr sz="2250" spc="15" dirty="0">
                <a:latin typeface="Verdana"/>
                <a:cs typeface="Verdana"/>
              </a:rPr>
              <a:t>ambience, </a:t>
            </a:r>
            <a:r>
              <a:rPr sz="2250" spc="75" dirty="0">
                <a:latin typeface="Verdana"/>
                <a:cs typeface="Verdana"/>
              </a:rPr>
              <a:t>which </a:t>
            </a:r>
            <a:r>
              <a:rPr sz="2250" spc="60" dirty="0">
                <a:latin typeface="Verdana"/>
                <a:cs typeface="Verdana"/>
              </a:rPr>
              <a:t>need </a:t>
            </a:r>
            <a:r>
              <a:rPr sz="2250" spc="-780" dirty="0">
                <a:latin typeface="Verdana"/>
                <a:cs typeface="Verdana"/>
              </a:rPr>
              <a:t> </a:t>
            </a:r>
            <a:r>
              <a:rPr sz="2250" spc="-20" dirty="0">
                <a:latin typeface="Verdana"/>
                <a:cs typeface="Verdana"/>
              </a:rPr>
              <a:t>t</a:t>
            </a:r>
            <a:r>
              <a:rPr sz="2250" spc="45" dirty="0">
                <a:latin typeface="Verdana"/>
                <a:cs typeface="Verdana"/>
              </a:rPr>
              <a:t>o</a:t>
            </a:r>
            <a:r>
              <a:rPr sz="2250" spc="-204" dirty="0">
                <a:latin typeface="Verdana"/>
                <a:cs typeface="Verdana"/>
              </a:rPr>
              <a:t> </a:t>
            </a:r>
            <a:r>
              <a:rPr sz="2250" spc="70" dirty="0">
                <a:latin typeface="Verdana"/>
                <a:cs typeface="Verdana"/>
              </a:rPr>
              <a:t>be</a:t>
            </a:r>
            <a:r>
              <a:rPr sz="2250" spc="-204" dirty="0">
                <a:latin typeface="Verdana"/>
                <a:cs typeface="Verdana"/>
              </a:rPr>
              <a:t> </a:t>
            </a:r>
            <a:r>
              <a:rPr sz="2250" spc="-90" dirty="0">
                <a:latin typeface="Verdana"/>
                <a:cs typeface="Verdana"/>
              </a:rPr>
              <a:t>r</a:t>
            </a:r>
            <a:r>
              <a:rPr sz="2250" spc="60" dirty="0">
                <a:latin typeface="Verdana"/>
                <a:cs typeface="Verdana"/>
              </a:rPr>
              <a:t>ec</a:t>
            </a:r>
            <a:r>
              <a:rPr sz="2250" spc="20" dirty="0">
                <a:latin typeface="Verdana"/>
                <a:cs typeface="Verdana"/>
              </a:rPr>
              <a:t>tiﬁed</a:t>
            </a:r>
            <a:endParaRPr sz="2250" dirty="0">
              <a:latin typeface="Verdana"/>
              <a:cs typeface="Verdana"/>
            </a:endParaRPr>
          </a:p>
          <a:p>
            <a:pPr marL="330200" indent="-318135">
              <a:lnSpc>
                <a:spcPts val="2685"/>
              </a:lnSpc>
              <a:buAutoNum type="arabicPeriod" startAt="2"/>
              <a:tabLst>
                <a:tab pos="330835" algn="l"/>
              </a:tabLst>
            </a:pPr>
            <a:r>
              <a:rPr sz="2250" b="1" spc="65" dirty="0">
                <a:solidFill>
                  <a:srgbClr val="F20000"/>
                </a:solidFill>
                <a:latin typeface="Tahoma"/>
                <a:cs typeface="Tahoma"/>
              </a:rPr>
              <a:t>Expected</a:t>
            </a:r>
            <a:r>
              <a:rPr sz="2250" b="1" spc="-85" dirty="0">
                <a:solidFill>
                  <a:srgbClr val="F20000"/>
                </a:solidFill>
                <a:latin typeface="Tahoma"/>
                <a:cs typeface="Tahoma"/>
              </a:rPr>
              <a:t> </a:t>
            </a:r>
            <a:r>
              <a:rPr sz="2250" b="1" spc="-20" dirty="0">
                <a:solidFill>
                  <a:srgbClr val="F20000"/>
                </a:solidFill>
                <a:latin typeface="Tahoma"/>
                <a:cs typeface="Tahoma"/>
              </a:rPr>
              <a:t>Impact:</a:t>
            </a:r>
            <a:endParaRPr sz="2250" dirty="0">
              <a:latin typeface="Tahoma"/>
              <a:cs typeface="Tahoma"/>
            </a:endParaRPr>
          </a:p>
          <a:p>
            <a:pPr marL="354965" marR="5080" algn="just">
              <a:lnSpc>
                <a:spcPct val="100000"/>
              </a:lnSpc>
              <a:spcBef>
                <a:spcPts val="75"/>
              </a:spcBef>
            </a:pPr>
            <a:r>
              <a:rPr sz="2250" b="1" spc="90" dirty="0">
                <a:latin typeface="Tahoma"/>
                <a:cs typeface="Tahoma"/>
              </a:rPr>
              <a:t>Enhanced</a:t>
            </a:r>
            <a:r>
              <a:rPr sz="2250" b="1" spc="95" dirty="0">
                <a:latin typeface="Tahoma"/>
                <a:cs typeface="Tahoma"/>
              </a:rPr>
              <a:t> </a:t>
            </a:r>
            <a:r>
              <a:rPr sz="2250" b="1" spc="60" dirty="0">
                <a:latin typeface="Tahoma"/>
                <a:cs typeface="Tahoma"/>
              </a:rPr>
              <a:t>Customer</a:t>
            </a:r>
            <a:r>
              <a:rPr sz="2250" b="1" spc="65" dirty="0">
                <a:latin typeface="Tahoma"/>
                <a:cs typeface="Tahoma"/>
              </a:rPr>
              <a:t> </a:t>
            </a:r>
            <a:r>
              <a:rPr sz="2250" b="1" spc="-5" dirty="0">
                <a:latin typeface="Tahoma"/>
                <a:cs typeface="Tahoma"/>
              </a:rPr>
              <a:t>Satisfaction:</a:t>
            </a:r>
            <a:r>
              <a:rPr sz="2250" b="1" dirty="0">
                <a:latin typeface="Tahoma"/>
                <a:cs typeface="Tahoma"/>
              </a:rPr>
              <a:t> </a:t>
            </a:r>
            <a:r>
              <a:rPr sz="2250" spc="20" dirty="0">
                <a:latin typeface="Verdana"/>
                <a:cs typeface="Verdana"/>
              </a:rPr>
              <a:t>By</a:t>
            </a:r>
            <a:r>
              <a:rPr sz="2250" spc="25" dirty="0">
                <a:latin typeface="Verdana"/>
                <a:cs typeface="Verdana"/>
              </a:rPr>
              <a:t> </a:t>
            </a:r>
            <a:r>
              <a:rPr sz="2250" spc="20" dirty="0">
                <a:latin typeface="Verdana"/>
                <a:cs typeface="Verdana"/>
              </a:rPr>
              <a:t>addressing</a:t>
            </a:r>
            <a:r>
              <a:rPr sz="2250" spc="25" dirty="0">
                <a:latin typeface="Verdana"/>
                <a:cs typeface="Verdana"/>
              </a:rPr>
              <a:t> </a:t>
            </a:r>
            <a:r>
              <a:rPr sz="2250" spc="15" dirty="0">
                <a:latin typeface="Verdana"/>
                <a:cs typeface="Verdana"/>
              </a:rPr>
              <a:t>these</a:t>
            </a:r>
            <a:r>
              <a:rPr lang="en-IN" sz="2250" spc="15" dirty="0">
                <a:latin typeface="Verdana"/>
                <a:cs typeface="Verdana"/>
              </a:rPr>
              <a:t> </a:t>
            </a:r>
            <a:r>
              <a:rPr lang="en-IN" sz="2250" spc="20" dirty="0">
                <a:latin typeface="Verdana"/>
                <a:cs typeface="Verdana"/>
              </a:rPr>
              <a:t> </a:t>
            </a:r>
            <a:r>
              <a:rPr sz="2250" spc="-70" dirty="0">
                <a:latin typeface="Verdana"/>
                <a:cs typeface="Verdana"/>
              </a:rPr>
              <a:t>issues, </a:t>
            </a:r>
            <a:r>
              <a:rPr sz="2250" spc="20" dirty="0">
                <a:latin typeface="Verdana"/>
                <a:cs typeface="Verdana"/>
              </a:rPr>
              <a:t>Zomato </a:t>
            </a:r>
            <a:r>
              <a:rPr sz="2250" spc="55" dirty="0">
                <a:latin typeface="Verdana"/>
                <a:cs typeface="Verdana"/>
              </a:rPr>
              <a:t>can </a:t>
            </a:r>
            <a:r>
              <a:rPr sz="2250" spc="10" dirty="0">
                <a:latin typeface="Verdana"/>
                <a:cs typeface="Verdana"/>
              </a:rPr>
              <a:t>improve </a:t>
            </a:r>
            <a:r>
              <a:rPr sz="2250" spc="-50" dirty="0">
                <a:latin typeface="Verdana"/>
                <a:cs typeface="Verdana"/>
              </a:rPr>
              <a:t>overall </a:t>
            </a:r>
            <a:r>
              <a:rPr sz="2250" spc="35" dirty="0">
                <a:latin typeface="Verdana"/>
                <a:cs typeface="Verdana"/>
              </a:rPr>
              <a:t>customer </a:t>
            </a:r>
            <a:r>
              <a:rPr sz="2250" spc="-25" dirty="0">
                <a:latin typeface="Verdana"/>
                <a:cs typeface="Verdana"/>
              </a:rPr>
              <a:t>experience, </a:t>
            </a:r>
            <a:r>
              <a:rPr sz="2250" spc="-20" dirty="0">
                <a:latin typeface="Verdana"/>
                <a:cs typeface="Verdana"/>
              </a:rPr>
              <a:t> </a:t>
            </a:r>
            <a:r>
              <a:rPr sz="2250" dirty="0">
                <a:latin typeface="Verdana"/>
                <a:cs typeface="Verdana"/>
              </a:rPr>
              <a:t>l</a:t>
            </a:r>
            <a:r>
              <a:rPr sz="2250" spc="-35" dirty="0">
                <a:latin typeface="Verdana"/>
                <a:cs typeface="Verdana"/>
              </a:rPr>
              <a:t>e</a:t>
            </a:r>
            <a:r>
              <a:rPr sz="2250" spc="60" dirty="0">
                <a:latin typeface="Verdana"/>
                <a:cs typeface="Verdana"/>
              </a:rPr>
              <a:t>ading</a:t>
            </a:r>
            <a:r>
              <a:rPr sz="2250" spc="-204" dirty="0">
                <a:latin typeface="Verdana"/>
                <a:cs typeface="Verdana"/>
              </a:rPr>
              <a:t> </a:t>
            </a:r>
            <a:r>
              <a:rPr sz="2250" spc="-20" dirty="0">
                <a:latin typeface="Verdana"/>
                <a:cs typeface="Verdana"/>
              </a:rPr>
              <a:t>t</a:t>
            </a:r>
            <a:r>
              <a:rPr sz="2250" spc="45" dirty="0">
                <a:latin typeface="Verdana"/>
                <a:cs typeface="Verdana"/>
              </a:rPr>
              <a:t>o</a:t>
            </a:r>
            <a:r>
              <a:rPr sz="2250" spc="-204" dirty="0">
                <a:latin typeface="Verdana"/>
                <a:cs typeface="Verdana"/>
              </a:rPr>
              <a:t> </a:t>
            </a:r>
            <a:r>
              <a:rPr sz="2250" spc="60" dirty="0">
                <a:latin typeface="Verdana"/>
                <a:cs typeface="Verdana"/>
              </a:rPr>
              <a:t>be</a:t>
            </a:r>
            <a:r>
              <a:rPr sz="2250" spc="5" dirty="0">
                <a:latin typeface="Verdana"/>
                <a:cs typeface="Verdana"/>
              </a:rPr>
              <a:t>t</a:t>
            </a:r>
            <a:r>
              <a:rPr sz="2250" spc="-20" dirty="0">
                <a:latin typeface="Verdana"/>
                <a:cs typeface="Verdana"/>
              </a:rPr>
              <a:t>ter</a:t>
            </a:r>
            <a:r>
              <a:rPr sz="2250" spc="-204" dirty="0">
                <a:latin typeface="Verdana"/>
                <a:cs typeface="Verdana"/>
              </a:rPr>
              <a:t> </a:t>
            </a:r>
            <a:r>
              <a:rPr sz="2250" spc="-170" dirty="0">
                <a:latin typeface="Verdana"/>
                <a:cs typeface="Verdana"/>
              </a:rPr>
              <a:t>r</a:t>
            </a:r>
            <a:r>
              <a:rPr sz="2250" spc="25" dirty="0">
                <a:latin typeface="Verdana"/>
                <a:cs typeface="Verdana"/>
              </a:rPr>
              <a:t>atings</a:t>
            </a:r>
            <a:r>
              <a:rPr sz="2250" spc="-204" dirty="0">
                <a:latin typeface="Verdana"/>
                <a:cs typeface="Verdana"/>
              </a:rPr>
              <a:t> </a:t>
            </a:r>
            <a:r>
              <a:rPr sz="2250" spc="65" dirty="0">
                <a:latin typeface="Verdana"/>
                <a:cs typeface="Verdana"/>
              </a:rPr>
              <a:t>and</a:t>
            </a:r>
            <a:r>
              <a:rPr sz="2250" spc="-204" dirty="0">
                <a:latin typeface="Verdana"/>
                <a:cs typeface="Verdana"/>
              </a:rPr>
              <a:t> </a:t>
            </a:r>
            <a:r>
              <a:rPr sz="2250" spc="-90" dirty="0">
                <a:latin typeface="Verdana"/>
                <a:cs typeface="Verdana"/>
              </a:rPr>
              <a:t>r</a:t>
            </a:r>
            <a:r>
              <a:rPr sz="2250" spc="-10" dirty="0">
                <a:latin typeface="Verdana"/>
                <a:cs typeface="Verdana"/>
              </a:rPr>
              <a:t>e</a:t>
            </a:r>
            <a:r>
              <a:rPr sz="2250" spc="-35" dirty="0">
                <a:latin typeface="Verdana"/>
                <a:cs typeface="Verdana"/>
              </a:rPr>
              <a:t>vi</a:t>
            </a:r>
            <a:r>
              <a:rPr sz="2250" spc="-70" dirty="0">
                <a:latin typeface="Verdana"/>
                <a:cs typeface="Verdana"/>
              </a:rPr>
              <a:t>e</a:t>
            </a:r>
            <a:r>
              <a:rPr sz="2250" spc="120" dirty="0">
                <a:latin typeface="Verdana"/>
                <a:cs typeface="Verdana"/>
              </a:rPr>
              <a:t>w</a:t>
            </a:r>
            <a:r>
              <a:rPr sz="2250" spc="-210" dirty="0">
                <a:latin typeface="Verdana"/>
                <a:cs typeface="Verdana"/>
              </a:rPr>
              <a:t>s.</a:t>
            </a:r>
            <a:endParaRPr sz="2250" dirty="0">
              <a:latin typeface="Verdana"/>
              <a:cs typeface="Verdana"/>
            </a:endParaRPr>
          </a:p>
          <a:p>
            <a:pPr marL="354965" marR="5080" algn="just">
              <a:lnSpc>
                <a:spcPct val="100000"/>
              </a:lnSpc>
            </a:pPr>
            <a:r>
              <a:rPr sz="2250" b="1" spc="60" dirty="0">
                <a:latin typeface="Tahoma"/>
                <a:cs typeface="Tahoma"/>
              </a:rPr>
              <a:t>Strengthened </a:t>
            </a:r>
            <a:r>
              <a:rPr sz="2250" b="1" spc="35" dirty="0">
                <a:latin typeface="Tahoma"/>
                <a:cs typeface="Tahoma"/>
              </a:rPr>
              <a:t>Market</a:t>
            </a:r>
            <a:r>
              <a:rPr sz="2250" b="1" spc="40" dirty="0">
                <a:latin typeface="Tahoma"/>
                <a:cs typeface="Tahoma"/>
              </a:rPr>
              <a:t> </a:t>
            </a:r>
            <a:r>
              <a:rPr sz="2250" b="1" spc="5" dirty="0">
                <a:latin typeface="Tahoma"/>
                <a:cs typeface="Tahoma"/>
              </a:rPr>
              <a:t>Position:</a:t>
            </a:r>
            <a:r>
              <a:rPr sz="2250" b="1" spc="10" dirty="0">
                <a:latin typeface="Tahoma"/>
                <a:cs typeface="Tahoma"/>
              </a:rPr>
              <a:t> </a:t>
            </a:r>
            <a:r>
              <a:rPr sz="2250" spc="15" dirty="0">
                <a:latin typeface="Verdana"/>
                <a:cs typeface="Verdana"/>
              </a:rPr>
              <a:t>Elevating </a:t>
            </a:r>
            <a:r>
              <a:rPr sz="2250" spc="30" dirty="0">
                <a:latin typeface="Verdana"/>
                <a:cs typeface="Verdana"/>
              </a:rPr>
              <a:t>performance </a:t>
            </a:r>
            <a:r>
              <a:rPr sz="2250" spc="40" dirty="0">
                <a:latin typeface="Verdana"/>
                <a:cs typeface="Verdana"/>
              </a:rPr>
              <a:t>in</a:t>
            </a:r>
            <a:r>
              <a:rPr lang="en-IN" sz="2250" spc="40" dirty="0">
                <a:latin typeface="Verdana"/>
                <a:cs typeface="Verdana"/>
              </a:rPr>
              <a:t> </a:t>
            </a:r>
            <a:r>
              <a:rPr lang="en-IN" sz="2250" spc="45" dirty="0">
                <a:latin typeface="Verdana"/>
                <a:cs typeface="Verdana"/>
              </a:rPr>
              <a:t> </a:t>
            </a:r>
            <a:r>
              <a:rPr sz="2250" spc="-15" dirty="0">
                <a:latin typeface="Verdana"/>
                <a:cs typeface="Verdana"/>
              </a:rPr>
              <a:t>low-rated </a:t>
            </a:r>
            <a:r>
              <a:rPr sz="2250" spc="-50" dirty="0">
                <a:latin typeface="Verdana"/>
                <a:cs typeface="Verdana"/>
              </a:rPr>
              <a:t>areas </a:t>
            </a:r>
            <a:r>
              <a:rPr sz="2250" spc="55" dirty="0">
                <a:latin typeface="Verdana"/>
                <a:cs typeface="Verdana"/>
              </a:rPr>
              <a:t>can </a:t>
            </a:r>
            <a:r>
              <a:rPr sz="2250" spc="35" dirty="0">
                <a:latin typeface="Verdana"/>
                <a:cs typeface="Verdana"/>
              </a:rPr>
              <a:t>reduce </a:t>
            </a:r>
            <a:r>
              <a:rPr sz="2250" spc="45" dirty="0">
                <a:latin typeface="Verdana"/>
                <a:cs typeface="Verdana"/>
              </a:rPr>
              <a:t>the </a:t>
            </a:r>
            <a:r>
              <a:rPr sz="2250" spc="-40" dirty="0">
                <a:latin typeface="Verdana"/>
                <a:cs typeface="Verdana"/>
              </a:rPr>
              <a:t>risk </a:t>
            </a:r>
            <a:r>
              <a:rPr sz="2250" spc="5" dirty="0">
                <a:latin typeface="Verdana"/>
                <a:cs typeface="Verdana"/>
              </a:rPr>
              <a:t>of </a:t>
            </a:r>
            <a:r>
              <a:rPr sz="2250" spc="30" dirty="0">
                <a:latin typeface="Verdana"/>
                <a:cs typeface="Verdana"/>
              </a:rPr>
              <a:t>losing </a:t>
            </a:r>
            <a:r>
              <a:rPr sz="2250" spc="20" dirty="0">
                <a:latin typeface="Verdana"/>
                <a:cs typeface="Verdana"/>
              </a:rPr>
              <a:t>customers </a:t>
            </a:r>
            <a:r>
              <a:rPr sz="2250" spc="10" dirty="0">
                <a:latin typeface="Verdana"/>
                <a:cs typeface="Verdana"/>
              </a:rPr>
              <a:t>to</a:t>
            </a:r>
            <a:r>
              <a:rPr lang="en-IN" sz="2250" spc="10" dirty="0">
                <a:latin typeface="Verdana"/>
                <a:cs typeface="Verdana"/>
              </a:rPr>
              <a:t> </a:t>
            </a:r>
            <a:r>
              <a:rPr lang="en-IN" sz="2250" spc="15" dirty="0">
                <a:latin typeface="Verdana"/>
                <a:cs typeface="Verdana"/>
              </a:rPr>
              <a:t> </a:t>
            </a:r>
            <a:r>
              <a:rPr sz="2250" spc="30" dirty="0">
                <a:latin typeface="Verdana"/>
                <a:cs typeface="Verdana"/>
              </a:rPr>
              <a:t>competitors</a:t>
            </a:r>
            <a:r>
              <a:rPr sz="2250" spc="35" dirty="0">
                <a:latin typeface="Verdana"/>
                <a:cs typeface="Verdana"/>
              </a:rPr>
              <a:t> </a:t>
            </a:r>
            <a:r>
              <a:rPr sz="2250" spc="65" dirty="0">
                <a:latin typeface="Verdana"/>
                <a:cs typeface="Verdana"/>
              </a:rPr>
              <a:t>and</a:t>
            </a:r>
            <a:r>
              <a:rPr sz="2250" spc="70" dirty="0">
                <a:latin typeface="Verdana"/>
                <a:cs typeface="Verdana"/>
              </a:rPr>
              <a:t> </a:t>
            </a:r>
            <a:r>
              <a:rPr sz="2250" spc="10" dirty="0">
                <a:latin typeface="Verdana"/>
                <a:cs typeface="Verdana"/>
              </a:rPr>
              <a:t>improve</a:t>
            </a:r>
            <a:r>
              <a:rPr sz="2250" spc="15" dirty="0">
                <a:latin typeface="Verdana"/>
                <a:cs typeface="Verdana"/>
              </a:rPr>
              <a:t> </a:t>
            </a:r>
            <a:r>
              <a:rPr sz="2250" spc="-20" dirty="0">
                <a:latin typeface="Verdana"/>
                <a:cs typeface="Verdana"/>
              </a:rPr>
              <a:t>Zomato's</a:t>
            </a:r>
            <a:r>
              <a:rPr sz="2250" spc="-15" dirty="0">
                <a:latin typeface="Verdana"/>
                <a:cs typeface="Verdana"/>
              </a:rPr>
              <a:t> </a:t>
            </a:r>
            <a:r>
              <a:rPr sz="2250" spc="30" dirty="0">
                <a:latin typeface="Verdana"/>
                <a:cs typeface="Verdana"/>
              </a:rPr>
              <a:t>reputation</a:t>
            </a:r>
            <a:r>
              <a:rPr sz="2250" spc="35" dirty="0">
                <a:latin typeface="Verdana"/>
                <a:cs typeface="Verdana"/>
              </a:rPr>
              <a:t> </a:t>
            </a:r>
            <a:r>
              <a:rPr sz="2250" spc="40" dirty="0">
                <a:latin typeface="Verdana"/>
                <a:cs typeface="Verdana"/>
              </a:rPr>
              <a:t>in</a:t>
            </a:r>
            <a:r>
              <a:rPr sz="2250" spc="45" dirty="0">
                <a:latin typeface="Verdana"/>
                <a:cs typeface="Verdana"/>
              </a:rPr>
              <a:t> </a:t>
            </a:r>
            <a:r>
              <a:rPr sz="2250" spc="15" dirty="0">
                <a:latin typeface="Verdana"/>
                <a:cs typeface="Verdana"/>
              </a:rPr>
              <a:t>these </a:t>
            </a:r>
            <a:r>
              <a:rPr sz="2250" spc="-780" dirty="0">
                <a:latin typeface="Verdana"/>
                <a:cs typeface="Verdana"/>
              </a:rPr>
              <a:t> </a:t>
            </a:r>
            <a:r>
              <a:rPr sz="2250" spc="-30" dirty="0">
                <a:latin typeface="Verdana"/>
                <a:cs typeface="Verdana"/>
              </a:rPr>
              <a:t>regions.</a:t>
            </a:r>
            <a:endParaRPr sz="225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240"/>
            <a:ext cx="7991475" cy="10283190"/>
            <a:chOff x="0" y="4240"/>
            <a:chExt cx="7991475" cy="10283190"/>
          </a:xfrm>
        </p:grpSpPr>
        <p:sp>
          <p:nvSpPr>
            <p:cNvPr id="3" name="object 3"/>
            <p:cNvSpPr/>
            <p:nvPr/>
          </p:nvSpPr>
          <p:spPr>
            <a:xfrm>
              <a:off x="0" y="4240"/>
              <a:ext cx="7991475" cy="10283190"/>
            </a:xfrm>
            <a:custGeom>
              <a:avLst/>
              <a:gdLst/>
              <a:ahLst/>
              <a:cxnLst/>
              <a:rect l="l" t="t" r="r" b="b"/>
              <a:pathLst>
                <a:path w="7991475" h="10283190">
                  <a:moveTo>
                    <a:pt x="7991410" y="0"/>
                  </a:moveTo>
                  <a:lnTo>
                    <a:pt x="0" y="0"/>
                  </a:lnTo>
                  <a:lnTo>
                    <a:pt x="0" y="10282757"/>
                  </a:lnTo>
                  <a:lnTo>
                    <a:pt x="7991410" y="10282757"/>
                  </a:lnTo>
                  <a:lnTo>
                    <a:pt x="79914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1340" y="903578"/>
              <a:ext cx="6981825" cy="819149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098267" y="339598"/>
            <a:ext cx="9876790" cy="551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50" spc="-35" dirty="0">
                <a:solidFill>
                  <a:srgbClr val="0700FF"/>
                </a:solidFill>
                <a:latin typeface="Cambria"/>
                <a:cs typeface="Cambria"/>
              </a:rPr>
              <a:t>Leverage</a:t>
            </a:r>
            <a:r>
              <a:rPr sz="3450" spc="40" dirty="0">
                <a:solidFill>
                  <a:srgbClr val="0700FF"/>
                </a:solidFill>
                <a:latin typeface="Cambria"/>
                <a:cs typeface="Cambria"/>
              </a:rPr>
              <a:t> </a:t>
            </a:r>
            <a:r>
              <a:rPr sz="3450" spc="45" dirty="0">
                <a:solidFill>
                  <a:srgbClr val="0700FF"/>
                </a:solidFill>
                <a:latin typeface="Cambria"/>
                <a:cs typeface="Cambria"/>
              </a:rPr>
              <a:t>Customer</a:t>
            </a:r>
            <a:r>
              <a:rPr sz="3450" spc="-30" dirty="0">
                <a:solidFill>
                  <a:srgbClr val="0700FF"/>
                </a:solidFill>
                <a:latin typeface="Cambria"/>
                <a:cs typeface="Cambria"/>
              </a:rPr>
              <a:t> </a:t>
            </a:r>
            <a:r>
              <a:rPr sz="3450" spc="-20" dirty="0">
                <a:solidFill>
                  <a:srgbClr val="0700FF"/>
                </a:solidFill>
                <a:latin typeface="Cambria"/>
                <a:cs typeface="Cambria"/>
              </a:rPr>
              <a:t>Feedback</a:t>
            </a:r>
            <a:r>
              <a:rPr sz="3450" spc="25" dirty="0">
                <a:solidFill>
                  <a:srgbClr val="0700FF"/>
                </a:solidFill>
                <a:latin typeface="Cambria"/>
                <a:cs typeface="Cambria"/>
              </a:rPr>
              <a:t> </a:t>
            </a:r>
            <a:r>
              <a:rPr sz="3450" spc="-10" dirty="0">
                <a:solidFill>
                  <a:srgbClr val="0700FF"/>
                </a:solidFill>
                <a:latin typeface="Cambria"/>
                <a:cs typeface="Cambria"/>
              </a:rPr>
              <a:t>and</a:t>
            </a:r>
            <a:r>
              <a:rPr sz="3450" spc="40" dirty="0">
                <a:solidFill>
                  <a:srgbClr val="0700FF"/>
                </a:solidFill>
                <a:latin typeface="Cambria"/>
                <a:cs typeface="Cambria"/>
              </a:rPr>
              <a:t> </a:t>
            </a:r>
            <a:r>
              <a:rPr sz="3450" spc="10" dirty="0">
                <a:solidFill>
                  <a:srgbClr val="0700FF"/>
                </a:solidFill>
                <a:latin typeface="Cambria"/>
                <a:cs typeface="Cambria"/>
              </a:rPr>
              <a:t>Benchmarking</a:t>
            </a:r>
            <a:endParaRPr sz="3450">
              <a:latin typeface="Cambria"/>
              <a:cs typeface="Cambri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91410" y="2736354"/>
            <a:ext cx="95250" cy="9525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91410" y="3784105"/>
            <a:ext cx="95250" cy="9525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491410" y="6426848"/>
            <a:ext cx="95250" cy="9525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491410" y="7474598"/>
            <a:ext cx="95250" cy="9525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8383460" y="1152029"/>
            <a:ext cx="9531985" cy="76610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550" b="1" spc="90" dirty="0">
                <a:solidFill>
                  <a:srgbClr val="010101"/>
                </a:solidFill>
                <a:latin typeface="Tahoma"/>
                <a:cs typeface="Tahoma"/>
              </a:rPr>
              <a:t>Recommendation</a:t>
            </a:r>
            <a:r>
              <a:rPr sz="2550" b="1" spc="-70" dirty="0">
                <a:solidFill>
                  <a:srgbClr val="010101"/>
                </a:solidFill>
                <a:latin typeface="Tahoma"/>
                <a:cs typeface="Tahoma"/>
              </a:rPr>
              <a:t> </a:t>
            </a:r>
            <a:r>
              <a:rPr sz="2550" b="1" spc="-470" dirty="0">
                <a:solidFill>
                  <a:srgbClr val="010101"/>
                </a:solidFill>
                <a:latin typeface="Tahoma"/>
                <a:cs typeface="Tahoma"/>
              </a:rPr>
              <a:t>1</a:t>
            </a:r>
            <a:r>
              <a:rPr sz="2450" b="1" spc="-470" dirty="0">
                <a:solidFill>
                  <a:srgbClr val="010101"/>
                </a:solidFill>
                <a:latin typeface="Tahoma"/>
                <a:cs typeface="Tahoma"/>
              </a:rPr>
              <a:t>:</a:t>
            </a:r>
            <a:endParaRPr sz="2450" dirty="0">
              <a:latin typeface="Tahoma"/>
              <a:cs typeface="Tahoma"/>
            </a:endParaRPr>
          </a:p>
          <a:p>
            <a:pPr marL="12700" marR="5080">
              <a:spcBef>
                <a:spcPts val="60"/>
              </a:spcBef>
            </a:pPr>
            <a:r>
              <a:rPr sz="2250" spc="5" dirty="0">
                <a:latin typeface="Verdana"/>
                <a:cs typeface="Verdana"/>
              </a:rPr>
              <a:t>Regularly</a:t>
            </a:r>
            <a:r>
              <a:rPr sz="2250" spc="195" dirty="0">
                <a:latin typeface="Verdana"/>
                <a:cs typeface="Verdana"/>
              </a:rPr>
              <a:t> </a:t>
            </a:r>
            <a:r>
              <a:rPr sz="2250" spc="30" dirty="0">
                <a:latin typeface="Verdana"/>
                <a:cs typeface="Verdana"/>
              </a:rPr>
              <a:t>gather</a:t>
            </a:r>
            <a:r>
              <a:rPr sz="2250" spc="195" dirty="0">
                <a:latin typeface="Verdana"/>
                <a:cs typeface="Verdana"/>
              </a:rPr>
              <a:t> </a:t>
            </a:r>
            <a:r>
              <a:rPr sz="2250" spc="65" dirty="0">
                <a:latin typeface="Verdana"/>
                <a:cs typeface="Verdana"/>
              </a:rPr>
              <a:t>and</a:t>
            </a:r>
            <a:r>
              <a:rPr sz="2250" spc="195" dirty="0">
                <a:latin typeface="Verdana"/>
                <a:cs typeface="Verdana"/>
              </a:rPr>
              <a:t> </a:t>
            </a:r>
            <a:r>
              <a:rPr sz="2250" spc="-20" dirty="0">
                <a:latin typeface="Verdana"/>
                <a:cs typeface="Verdana"/>
              </a:rPr>
              <a:t>analyze</a:t>
            </a:r>
            <a:r>
              <a:rPr sz="2250" spc="195" dirty="0">
                <a:latin typeface="Verdana"/>
                <a:cs typeface="Verdana"/>
              </a:rPr>
              <a:t> </a:t>
            </a:r>
            <a:r>
              <a:rPr sz="2250" spc="35" dirty="0">
                <a:latin typeface="Verdana"/>
                <a:cs typeface="Verdana"/>
              </a:rPr>
              <a:t>customer</a:t>
            </a:r>
            <a:r>
              <a:rPr sz="2250" spc="195" dirty="0">
                <a:latin typeface="Verdana"/>
                <a:cs typeface="Verdana"/>
              </a:rPr>
              <a:t> </a:t>
            </a:r>
            <a:r>
              <a:rPr sz="2250" spc="35" dirty="0">
                <a:latin typeface="Verdana"/>
                <a:cs typeface="Verdana"/>
              </a:rPr>
              <a:t>feedback</a:t>
            </a:r>
            <a:r>
              <a:rPr sz="2250" spc="195" dirty="0">
                <a:latin typeface="Verdana"/>
                <a:cs typeface="Verdana"/>
              </a:rPr>
              <a:t> </a:t>
            </a:r>
            <a:r>
              <a:rPr sz="2250" spc="10" dirty="0">
                <a:latin typeface="Verdana"/>
                <a:cs typeface="Verdana"/>
              </a:rPr>
              <a:t>to</a:t>
            </a:r>
            <a:r>
              <a:rPr sz="2250" spc="195" dirty="0">
                <a:latin typeface="Verdana"/>
                <a:cs typeface="Verdana"/>
              </a:rPr>
              <a:t> </a:t>
            </a:r>
            <a:r>
              <a:rPr sz="2250" spc="40" dirty="0">
                <a:latin typeface="Verdana"/>
                <a:cs typeface="Verdana"/>
              </a:rPr>
              <a:t>make</a:t>
            </a:r>
            <a:r>
              <a:rPr sz="2250" spc="195" dirty="0">
                <a:latin typeface="Verdana"/>
                <a:cs typeface="Verdana"/>
              </a:rPr>
              <a:t> </a:t>
            </a:r>
            <a:r>
              <a:rPr lang="en-IN" sz="2250" spc="-15" dirty="0">
                <a:latin typeface="Verdana"/>
                <a:cs typeface="Verdana"/>
              </a:rPr>
              <a:t>data- </a:t>
            </a:r>
            <a:r>
              <a:rPr lang="en-IN" sz="2250" spc="-775" dirty="0">
                <a:latin typeface="Verdana"/>
                <a:cs typeface="Verdana"/>
              </a:rPr>
              <a:t> </a:t>
            </a:r>
            <a:r>
              <a:rPr lang="en-IN" sz="2250" spc="35" dirty="0">
                <a:latin typeface="Verdana"/>
                <a:cs typeface="Verdana"/>
              </a:rPr>
              <a:t>d</a:t>
            </a:r>
            <a:r>
              <a:rPr lang="en-IN" sz="2250" spc="5" dirty="0">
                <a:latin typeface="Verdana"/>
                <a:cs typeface="Verdana"/>
              </a:rPr>
              <a:t>r</a:t>
            </a:r>
            <a:r>
              <a:rPr lang="en-IN" sz="2250" spc="-40" dirty="0">
                <a:latin typeface="Verdana"/>
                <a:cs typeface="Verdana"/>
              </a:rPr>
              <a:t>i</a:t>
            </a:r>
            <a:r>
              <a:rPr lang="en-IN" sz="2250" spc="-120" dirty="0">
                <a:latin typeface="Verdana"/>
                <a:cs typeface="Verdana"/>
              </a:rPr>
              <a:t>v</a:t>
            </a:r>
            <a:r>
              <a:rPr lang="en-IN" sz="2250" spc="55" dirty="0">
                <a:latin typeface="Verdana"/>
                <a:cs typeface="Verdana"/>
              </a:rPr>
              <a:t>en</a:t>
            </a:r>
            <a:r>
              <a:rPr sz="2250" spc="-204" dirty="0">
                <a:latin typeface="Verdana"/>
                <a:cs typeface="Verdana"/>
              </a:rPr>
              <a:t> </a:t>
            </a:r>
            <a:r>
              <a:rPr sz="2250" spc="65" dirty="0">
                <a:latin typeface="Verdana"/>
                <a:cs typeface="Verdana"/>
              </a:rPr>
              <a:t>imp</a:t>
            </a:r>
            <a:r>
              <a:rPr sz="2250" spc="15" dirty="0">
                <a:latin typeface="Verdana"/>
                <a:cs typeface="Verdana"/>
              </a:rPr>
              <a:t>r</a:t>
            </a:r>
            <a:r>
              <a:rPr sz="2250" spc="10" dirty="0">
                <a:latin typeface="Verdana"/>
                <a:cs typeface="Verdana"/>
              </a:rPr>
              <a:t>o</a:t>
            </a:r>
            <a:r>
              <a:rPr sz="2250" spc="-150" dirty="0">
                <a:latin typeface="Verdana"/>
                <a:cs typeface="Verdana"/>
              </a:rPr>
              <a:t>v</a:t>
            </a:r>
            <a:r>
              <a:rPr sz="2250" spc="-10" dirty="0">
                <a:latin typeface="Verdana"/>
                <a:cs typeface="Verdana"/>
              </a:rPr>
              <a:t>ements.</a:t>
            </a:r>
            <a:endParaRPr sz="2250" dirty="0">
              <a:latin typeface="Verdana"/>
              <a:cs typeface="Verdana"/>
            </a:endParaRPr>
          </a:p>
          <a:p>
            <a:pPr marL="278130" indent="-266065">
              <a:buAutoNum type="arabicPeriod"/>
              <a:tabLst>
                <a:tab pos="278765" algn="l"/>
              </a:tabLst>
            </a:pPr>
            <a:r>
              <a:rPr sz="2300" b="1" spc="40" dirty="0">
                <a:solidFill>
                  <a:srgbClr val="FF0000"/>
                </a:solidFill>
                <a:latin typeface="Tahoma"/>
                <a:cs typeface="Tahoma"/>
              </a:rPr>
              <a:t>Data-Driven</a:t>
            </a:r>
            <a:r>
              <a:rPr sz="2300" b="1" spc="-5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300" b="1" spc="5" dirty="0">
                <a:solidFill>
                  <a:srgbClr val="FF0000"/>
                </a:solidFill>
                <a:latin typeface="Tahoma"/>
                <a:cs typeface="Tahoma"/>
              </a:rPr>
              <a:t>Reason:</a:t>
            </a:r>
            <a:endParaRPr sz="2300" dirty="0">
              <a:latin typeface="Tahoma"/>
              <a:cs typeface="Tahoma"/>
            </a:endParaRPr>
          </a:p>
          <a:p>
            <a:pPr marL="355600" marR="5080" algn="just">
              <a:spcBef>
                <a:spcPts val="85"/>
              </a:spcBef>
            </a:pPr>
            <a:r>
              <a:rPr sz="2250" spc="35" dirty="0">
                <a:latin typeface="Verdana"/>
                <a:cs typeface="Verdana"/>
              </a:rPr>
              <a:t>Continuous</a:t>
            </a:r>
            <a:r>
              <a:rPr sz="2250" spc="40" dirty="0">
                <a:latin typeface="Verdana"/>
                <a:cs typeface="Verdana"/>
              </a:rPr>
              <a:t> </a:t>
            </a:r>
            <a:r>
              <a:rPr sz="2250" spc="35" dirty="0">
                <a:latin typeface="Verdana"/>
                <a:cs typeface="Verdana"/>
              </a:rPr>
              <a:t>feedback</a:t>
            </a:r>
            <a:r>
              <a:rPr sz="2250" spc="40" dirty="0">
                <a:latin typeface="Verdana"/>
                <a:cs typeface="Verdana"/>
              </a:rPr>
              <a:t> </a:t>
            </a:r>
            <a:r>
              <a:rPr sz="2250" spc="30" dirty="0">
                <a:latin typeface="Verdana"/>
                <a:cs typeface="Verdana"/>
              </a:rPr>
              <a:t>helps</a:t>
            </a:r>
            <a:r>
              <a:rPr sz="2250" spc="35" dirty="0">
                <a:latin typeface="Verdana"/>
                <a:cs typeface="Verdana"/>
              </a:rPr>
              <a:t> </a:t>
            </a:r>
            <a:r>
              <a:rPr sz="2250" spc="15" dirty="0">
                <a:latin typeface="Verdana"/>
                <a:cs typeface="Verdana"/>
              </a:rPr>
              <a:t>identify</a:t>
            </a:r>
            <a:r>
              <a:rPr sz="2250" spc="20" dirty="0">
                <a:latin typeface="Verdana"/>
                <a:cs typeface="Verdana"/>
              </a:rPr>
              <a:t> </a:t>
            </a:r>
            <a:r>
              <a:rPr sz="2250" spc="25" dirty="0">
                <a:latin typeface="Verdana"/>
                <a:cs typeface="Verdana"/>
              </a:rPr>
              <a:t>shifting</a:t>
            </a:r>
            <a:r>
              <a:rPr sz="2250" spc="30" dirty="0">
                <a:latin typeface="Verdana"/>
                <a:cs typeface="Verdana"/>
              </a:rPr>
              <a:t> </a:t>
            </a:r>
            <a:r>
              <a:rPr sz="2250" spc="35" dirty="0">
                <a:latin typeface="Verdana"/>
                <a:cs typeface="Verdana"/>
              </a:rPr>
              <a:t>customer</a:t>
            </a:r>
            <a:r>
              <a:rPr lang="en-IN" sz="2250" spc="35" dirty="0">
                <a:latin typeface="Verdana"/>
                <a:cs typeface="Verdana"/>
              </a:rPr>
              <a:t> </a:t>
            </a:r>
            <a:r>
              <a:rPr sz="2250" spc="5" dirty="0">
                <a:latin typeface="Verdana"/>
                <a:cs typeface="Verdana"/>
              </a:rPr>
              <a:t>preferences</a:t>
            </a:r>
            <a:r>
              <a:rPr sz="2250" spc="-204" dirty="0">
                <a:latin typeface="Verdana"/>
                <a:cs typeface="Verdana"/>
              </a:rPr>
              <a:t> </a:t>
            </a:r>
            <a:r>
              <a:rPr sz="2250" spc="65" dirty="0">
                <a:latin typeface="Verdana"/>
                <a:cs typeface="Verdana"/>
              </a:rPr>
              <a:t>and</a:t>
            </a:r>
            <a:r>
              <a:rPr sz="2250" spc="-204" dirty="0">
                <a:latin typeface="Verdana"/>
                <a:cs typeface="Verdana"/>
              </a:rPr>
              <a:t> </a:t>
            </a:r>
            <a:r>
              <a:rPr sz="2250" spc="-50" dirty="0">
                <a:latin typeface="Verdana"/>
                <a:cs typeface="Verdana"/>
              </a:rPr>
              <a:t>areas</a:t>
            </a:r>
            <a:r>
              <a:rPr sz="2250" spc="-200" dirty="0">
                <a:latin typeface="Verdana"/>
                <a:cs typeface="Verdana"/>
              </a:rPr>
              <a:t> </a:t>
            </a:r>
            <a:r>
              <a:rPr sz="2250" spc="30" dirty="0">
                <a:latin typeface="Verdana"/>
                <a:cs typeface="Verdana"/>
              </a:rPr>
              <a:t>that</a:t>
            </a:r>
            <a:r>
              <a:rPr sz="2250" spc="-204" dirty="0">
                <a:latin typeface="Verdana"/>
                <a:cs typeface="Verdana"/>
              </a:rPr>
              <a:t> </a:t>
            </a:r>
            <a:r>
              <a:rPr sz="2250" spc="5" dirty="0">
                <a:latin typeface="Verdana"/>
                <a:cs typeface="Verdana"/>
              </a:rPr>
              <a:t>require</a:t>
            </a:r>
            <a:r>
              <a:rPr sz="2250" spc="-204" dirty="0">
                <a:latin typeface="Verdana"/>
                <a:cs typeface="Verdana"/>
              </a:rPr>
              <a:t> </a:t>
            </a:r>
            <a:r>
              <a:rPr sz="2250" spc="50" dirty="0">
                <a:latin typeface="Verdana"/>
                <a:cs typeface="Verdana"/>
              </a:rPr>
              <a:t>immediate</a:t>
            </a:r>
            <a:r>
              <a:rPr sz="2250" spc="-200" dirty="0">
                <a:latin typeface="Verdana"/>
                <a:cs typeface="Verdana"/>
              </a:rPr>
              <a:t> </a:t>
            </a:r>
            <a:r>
              <a:rPr sz="2250" spc="-15" dirty="0">
                <a:latin typeface="Verdana"/>
                <a:cs typeface="Verdana"/>
              </a:rPr>
              <a:t>attention.</a:t>
            </a:r>
            <a:endParaRPr sz="2250" dirty="0">
              <a:latin typeface="Verdana"/>
              <a:cs typeface="Verdana"/>
            </a:endParaRPr>
          </a:p>
          <a:p>
            <a:pPr marL="330200" indent="-318135">
              <a:buAutoNum type="arabicPeriod" startAt="2"/>
              <a:tabLst>
                <a:tab pos="330835" algn="l"/>
              </a:tabLst>
            </a:pPr>
            <a:r>
              <a:rPr sz="2250" b="1" spc="65" dirty="0">
                <a:solidFill>
                  <a:srgbClr val="F20000"/>
                </a:solidFill>
                <a:latin typeface="Tahoma"/>
                <a:cs typeface="Tahoma"/>
              </a:rPr>
              <a:t>Expected</a:t>
            </a:r>
            <a:r>
              <a:rPr sz="2250" b="1" spc="-85" dirty="0">
                <a:solidFill>
                  <a:srgbClr val="F20000"/>
                </a:solidFill>
                <a:latin typeface="Tahoma"/>
                <a:cs typeface="Tahoma"/>
              </a:rPr>
              <a:t> </a:t>
            </a:r>
            <a:r>
              <a:rPr sz="2250" b="1" spc="-20" dirty="0">
                <a:solidFill>
                  <a:srgbClr val="F20000"/>
                </a:solidFill>
                <a:latin typeface="Tahoma"/>
                <a:cs typeface="Tahoma"/>
              </a:rPr>
              <a:t>Impact:</a:t>
            </a:r>
            <a:endParaRPr sz="2250" dirty="0">
              <a:latin typeface="Tahoma"/>
              <a:cs typeface="Tahoma"/>
            </a:endParaRPr>
          </a:p>
          <a:p>
            <a:pPr marL="355600" marR="5080" algn="just">
              <a:spcBef>
                <a:spcPts val="75"/>
              </a:spcBef>
            </a:pPr>
            <a:r>
              <a:rPr sz="2250" b="1" spc="10" dirty="0">
                <a:latin typeface="Tahoma"/>
                <a:cs typeface="Tahoma"/>
              </a:rPr>
              <a:t>Improved </a:t>
            </a:r>
            <a:r>
              <a:rPr sz="2250" b="1" spc="60" dirty="0">
                <a:latin typeface="Tahoma"/>
                <a:cs typeface="Tahoma"/>
              </a:rPr>
              <a:t>Customer </a:t>
            </a:r>
            <a:r>
              <a:rPr sz="2250" b="1" spc="-25" dirty="0">
                <a:latin typeface="Tahoma"/>
                <a:cs typeface="Tahoma"/>
              </a:rPr>
              <a:t>Loyalty: </a:t>
            </a:r>
            <a:r>
              <a:rPr sz="2250" spc="60" dirty="0">
                <a:latin typeface="Verdana"/>
                <a:cs typeface="Verdana"/>
              </a:rPr>
              <a:t>Responding </a:t>
            </a:r>
            <a:r>
              <a:rPr sz="2250" spc="10" dirty="0">
                <a:latin typeface="Verdana"/>
                <a:cs typeface="Verdana"/>
              </a:rPr>
              <a:t>to </a:t>
            </a:r>
            <a:r>
              <a:rPr sz="2250" spc="35" dirty="0">
                <a:latin typeface="Verdana"/>
                <a:cs typeface="Verdana"/>
              </a:rPr>
              <a:t>feedback </a:t>
            </a:r>
            <a:r>
              <a:rPr sz="2250" spc="-35" dirty="0">
                <a:latin typeface="Verdana"/>
                <a:cs typeface="Verdana"/>
              </a:rPr>
              <a:t>fosters</a:t>
            </a:r>
            <a:r>
              <a:rPr lang="en-IN" sz="2250" spc="-35" dirty="0">
                <a:latin typeface="Verdana"/>
                <a:cs typeface="Verdana"/>
              </a:rPr>
              <a:t> </a:t>
            </a:r>
            <a:r>
              <a:rPr sz="2250" dirty="0">
                <a:latin typeface="Verdana"/>
                <a:cs typeface="Verdana"/>
              </a:rPr>
              <a:t>trust </a:t>
            </a:r>
            <a:r>
              <a:rPr sz="2250" spc="65" dirty="0">
                <a:latin typeface="Verdana"/>
                <a:cs typeface="Verdana"/>
              </a:rPr>
              <a:t>and </a:t>
            </a:r>
            <a:r>
              <a:rPr sz="2250" spc="55" dirty="0">
                <a:latin typeface="Verdana"/>
                <a:cs typeface="Verdana"/>
              </a:rPr>
              <a:t>can </a:t>
            </a:r>
            <a:r>
              <a:rPr sz="2250" spc="15" dirty="0">
                <a:latin typeface="Verdana"/>
                <a:cs typeface="Verdana"/>
              </a:rPr>
              <a:t>lead </a:t>
            </a:r>
            <a:r>
              <a:rPr sz="2250" spc="10" dirty="0">
                <a:latin typeface="Verdana"/>
                <a:cs typeface="Verdana"/>
              </a:rPr>
              <a:t>to </a:t>
            </a:r>
            <a:r>
              <a:rPr sz="2250" spc="5" dirty="0">
                <a:latin typeface="Verdana"/>
                <a:cs typeface="Verdana"/>
              </a:rPr>
              <a:t>repeat </a:t>
            </a:r>
            <a:r>
              <a:rPr sz="2250" spc="10" dirty="0">
                <a:latin typeface="Verdana"/>
                <a:cs typeface="Verdana"/>
              </a:rPr>
              <a:t>business </a:t>
            </a:r>
            <a:r>
              <a:rPr sz="2250" spc="65" dirty="0">
                <a:latin typeface="Verdana"/>
                <a:cs typeface="Verdana"/>
              </a:rPr>
              <a:t>and </a:t>
            </a:r>
            <a:r>
              <a:rPr sz="2250" spc="-5" dirty="0">
                <a:latin typeface="Verdana"/>
                <a:cs typeface="Verdana"/>
              </a:rPr>
              <a:t>positive </a:t>
            </a:r>
            <a:r>
              <a:rPr lang="en-IN" sz="2250" spc="-20" dirty="0">
                <a:latin typeface="Verdana"/>
                <a:cs typeface="Verdana"/>
              </a:rPr>
              <a:t>word-of-mouth</a:t>
            </a:r>
            <a:r>
              <a:rPr sz="2250" spc="15" dirty="0">
                <a:latin typeface="Verdana"/>
                <a:cs typeface="Verdana"/>
              </a:rPr>
              <a:t>.</a:t>
            </a:r>
            <a:endParaRPr sz="2250" dirty="0">
              <a:latin typeface="Verdana"/>
              <a:cs typeface="Verdana"/>
            </a:endParaRPr>
          </a:p>
          <a:p>
            <a:pPr marL="12700">
              <a:spcBef>
                <a:spcPts val="1535"/>
              </a:spcBef>
            </a:pPr>
            <a:r>
              <a:rPr sz="2550" b="1" spc="90" dirty="0">
                <a:solidFill>
                  <a:srgbClr val="010101"/>
                </a:solidFill>
                <a:latin typeface="Tahoma"/>
                <a:cs typeface="Tahoma"/>
              </a:rPr>
              <a:t>Recommendation</a:t>
            </a:r>
            <a:r>
              <a:rPr sz="2550" b="1" spc="-70" dirty="0">
                <a:solidFill>
                  <a:srgbClr val="010101"/>
                </a:solidFill>
                <a:latin typeface="Tahoma"/>
                <a:cs typeface="Tahoma"/>
              </a:rPr>
              <a:t> </a:t>
            </a:r>
            <a:r>
              <a:rPr sz="2550" b="1" spc="-215" dirty="0">
                <a:solidFill>
                  <a:srgbClr val="010101"/>
                </a:solidFill>
                <a:latin typeface="Tahoma"/>
                <a:cs typeface="Tahoma"/>
              </a:rPr>
              <a:t>2</a:t>
            </a:r>
            <a:r>
              <a:rPr sz="2450" b="1" spc="-215" dirty="0">
                <a:solidFill>
                  <a:srgbClr val="010101"/>
                </a:solidFill>
                <a:latin typeface="Tahoma"/>
                <a:cs typeface="Tahoma"/>
              </a:rPr>
              <a:t>:</a:t>
            </a:r>
            <a:endParaRPr sz="2450" dirty="0">
              <a:latin typeface="Tahoma"/>
              <a:cs typeface="Tahoma"/>
            </a:endParaRPr>
          </a:p>
          <a:p>
            <a:pPr marL="12700" marR="5080">
              <a:spcBef>
                <a:spcPts val="60"/>
              </a:spcBef>
              <a:tabLst>
                <a:tab pos="717550" algn="l"/>
                <a:tab pos="2398395" algn="l"/>
                <a:tab pos="4308475" algn="l"/>
                <a:tab pos="4782820" algn="l"/>
                <a:tab pos="6751320" algn="l"/>
                <a:tab pos="7207884" algn="l"/>
                <a:tab pos="7802245" algn="l"/>
                <a:tab pos="8962390" algn="l"/>
              </a:tabLst>
            </a:pPr>
            <a:r>
              <a:rPr sz="2250" spc="25" dirty="0">
                <a:latin typeface="Verdana"/>
                <a:cs typeface="Verdana"/>
              </a:rPr>
              <a:t>Use	</a:t>
            </a:r>
            <a:r>
              <a:rPr sz="2250" spc="30" dirty="0">
                <a:latin typeface="Verdana"/>
                <a:cs typeface="Verdana"/>
              </a:rPr>
              <a:t>high-</a:t>
            </a:r>
            <a:r>
              <a:rPr sz="2250" spc="-170" dirty="0">
                <a:latin typeface="Verdana"/>
                <a:cs typeface="Verdana"/>
              </a:rPr>
              <a:t>r</a:t>
            </a:r>
            <a:r>
              <a:rPr sz="2250" dirty="0">
                <a:latin typeface="Verdana"/>
                <a:cs typeface="Verdana"/>
              </a:rPr>
              <a:t>a</a:t>
            </a:r>
            <a:r>
              <a:rPr sz="2250" spc="-45" dirty="0">
                <a:latin typeface="Verdana"/>
                <a:cs typeface="Verdana"/>
              </a:rPr>
              <a:t>t</a:t>
            </a:r>
            <a:r>
              <a:rPr sz="2250" spc="70" dirty="0">
                <a:latin typeface="Verdana"/>
                <a:cs typeface="Verdana"/>
              </a:rPr>
              <a:t>ed</a:t>
            </a:r>
            <a:r>
              <a:rPr sz="2250" dirty="0">
                <a:latin typeface="Verdana"/>
                <a:cs typeface="Verdana"/>
              </a:rPr>
              <a:t>	</a:t>
            </a:r>
            <a:r>
              <a:rPr sz="2250" spc="65" dirty="0">
                <a:latin typeface="Verdana"/>
                <a:cs typeface="Verdana"/>
              </a:rPr>
              <a:t>c</a:t>
            </a:r>
            <a:r>
              <a:rPr sz="2250" spc="60" dirty="0">
                <a:latin typeface="Verdana"/>
                <a:cs typeface="Verdana"/>
              </a:rPr>
              <a:t>ompeti</a:t>
            </a:r>
            <a:r>
              <a:rPr sz="2250" spc="-5" dirty="0">
                <a:latin typeface="Verdana"/>
                <a:cs typeface="Verdana"/>
              </a:rPr>
              <a:t>t</a:t>
            </a:r>
            <a:r>
              <a:rPr sz="2250" spc="-10" dirty="0">
                <a:latin typeface="Verdana"/>
                <a:cs typeface="Verdana"/>
              </a:rPr>
              <a:t>o</a:t>
            </a:r>
            <a:r>
              <a:rPr sz="2250" spc="-15" dirty="0">
                <a:latin typeface="Verdana"/>
                <a:cs typeface="Verdana"/>
              </a:rPr>
              <a:t>r</a:t>
            </a:r>
            <a:r>
              <a:rPr sz="2250" spc="-75" dirty="0">
                <a:latin typeface="Verdana"/>
                <a:cs typeface="Verdana"/>
              </a:rPr>
              <a:t>s</a:t>
            </a:r>
            <a:r>
              <a:rPr sz="2250" dirty="0">
                <a:latin typeface="Verdana"/>
                <a:cs typeface="Verdana"/>
              </a:rPr>
              <a:t>	</a:t>
            </a:r>
            <a:r>
              <a:rPr sz="2250" spc="-50" dirty="0">
                <a:latin typeface="Verdana"/>
                <a:cs typeface="Verdana"/>
              </a:rPr>
              <a:t>as</a:t>
            </a:r>
            <a:r>
              <a:rPr sz="2250" dirty="0">
                <a:latin typeface="Verdana"/>
                <a:cs typeface="Verdana"/>
              </a:rPr>
              <a:t>	</a:t>
            </a:r>
            <a:r>
              <a:rPr sz="2250" spc="85" dirty="0">
                <a:latin typeface="Verdana"/>
                <a:cs typeface="Verdana"/>
              </a:rPr>
              <a:t>ben</a:t>
            </a:r>
            <a:r>
              <a:rPr sz="2250" spc="50" dirty="0">
                <a:latin typeface="Verdana"/>
                <a:cs typeface="Verdana"/>
              </a:rPr>
              <a:t>c</a:t>
            </a:r>
            <a:r>
              <a:rPr sz="2250" spc="55" dirty="0">
                <a:latin typeface="Verdana"/>
                <a:cs typeface="Verdana"/>
              </a:rPr>
              <a:t>hma</a:t>
            </a:r>
            <a:r>
              <a:rPr sz="2250" spc="10" dirty="0">
                <a:latin typeface="Verdana"/>
                <a:cs typeface="Verdana"/>
              </a:rPr>
              <a:t>r</a:t>
            </a:r>
            <a:r>
              <a:rPr sz="2250" spc="-20" dirty="0">
                <a:latin typeface="Verdana"/>
                <a:cs typeface="Verdana"/>
              </a:rPr>
              <a:t>k</a:t>
            </a:r>
            <a:r>
              <a:rPr sz="2250" spc="-75" dirty="0">
                <a:latin typeface="Verdana"/>
                <a:cs typeface="Verdana"/>
              </a:rPr>
              <a:t>s</a:t>
            </a:r>
            <a:r>
              <a:rPr sz="2250" dirty="0">
                <a:latin typeface="Verdana"/>
                <a:cs typeface="Verdana"/>
              </a:rPr>
              <a:t>	</a:t>
            </a:r>
            <a:r>
              <a:rPr sz="2250" spc="-20" dirty="0">
                <a:latin typeface="Verdana"/>
                <a:cs typeface="Verdana"/>
              </a:rPr>
              <a:t>t</a:t>
            </a:r>
            <a:r>
              <a:rPr sz="2250" spc="45" dirty="0">
                <a:latin typeface="Verdana"/>
                <a:cs typeface="Verdana"/>
              </a:rPr>
              <a:t>o</a:t>
            </a:r>
            <a:r>
              <a:rPr sz="2250" dirty="0">
                <a:latin typeface="Verdana"/>
                <a:cs typeface="Verdana"/>
              </a:rPr>
              <a:t>	</a:t>
            </a:r>
            <a:r>
              <a:rPr sz="2250" spc="-10" dirty="0">
                <a:latin typeface="Verdana"/>
                <a:cs typeface="Verdana"/>
              </a:rPr>
              <a:t>set</a:t>
            </a:r>
            <a:r>
              <a:rPr sz="2250" dirty="0">
                <a:latin typeface="Verdana"/>
                <a:cs typeface="Verdana"/>
              </a:rPr>
              <a:t>	</a:t>
            </a:r>
            <a:r>
              <a:rPr sz="2250" spc="-45" dirty="0">
                <a:latin typeface="Verdana"/>
                <a:cs typeface="Verdana"/>
              </a:rPr>
              <a:t>se</a:t>
            </a:r>
            <a:r>
              <a:rPr sz="2250" spc="-5" dirty="0">
                <a:latin typeface="Verdana"/>
                <a:cs typeface="Verdana"/>
              </a:rPr>
              <a:t>r</a:t>
            </a:r>
            <a:r>
              <a:rPr sz="2250" spc="-10" dirty="0">
                <a:latin typeface="Verdana"/>
                <a:cs typeface="Verdana"/>
              </a:rPr>
              <a:t>vi</a:t>
            </a:r>
            <a:r>
              <a:rPr sz="2250" spc="-40" dirty="0">
                <a:latin typeface="Verdana"/>
                <a:cs typeface="Verdana"/>
              </a:rPr>
              <a:t>c</a:t>
            </a:r>
            <a:r>
              <a:rPr sz="2250" spc="15" dirty="0">
                <a:latin typeface="Verdana"/>
                <a:cs typeface="Verdana"/>
              </a:rPr>
              <a:t>e</a:t>
            </a:r>
            <a:r>
              <a:rPr sz="2250" dirty="0">
                <a:latin typeface="Verdana"/>
                <a:cs typeface="Verdana"/>
              </a:rPr>
              <a:t>	</a:t>
            </a:r>
            <a:r>
              <a:rPr sz="2250" spc="50" dirty="0">
                <a:latin typeface="Verdana"/>
                <a:cs typeface="Verdana"/>
              </a:rPr>
              <a:t>and</a:t>
            </a:r>
            <a:r>
              <a:rPr lang="en-IN" sz="2250" spc="50" dirty="0">
                <a:latin typeface="Verdana"/>
                <a:cs typeface="Verdana"/>
              </a:rPr>
              <a:t> </a:t>
            </a:r>
            <a:r>
              <a:rPr sz="2250" spc="30" dirty="0">
                <a:latin typeface="Verdana"/>
                <a:cs typeface="Verdana"/>
              </a:rPr>
              <a:t>quali</a:t>
            </a:r>
            <a:r>
              <a:rPr sz="2250" dirty="0">
                <a:latin typeface="Verdana"/>
                <a:cs typeface="Verdana"/>
              </a:rPr>
              <a:t>t</a:t>
            </a:r>
            <a:r>
              <a:rPr sz="2250" spc="-114" dirty="0">
                <a:latin typeface="Verdana"/>
                <a:cs typeface="Verdana"/>
              </a:rPr>
              <a:t>y</a:t>
            </a:r>
            <a:r>
              <a:rPr sz="2250" spc="-204" dirty="0">
                <a:latin typeface="Verdana"/>
                <a:cs typeface="Verdana"/>
              </a:rPr>
              <a:t> </a:t>
            </a:r>
            <a:r>
              <a:rPr sz="2250" spc="10" dirty="0">
                <a:latin typeface="Verdana"/>
                <a:cs typeface="Verdana"/>
              </a:rPr>
              <a:t>standa</a:t>
            </a:r>
            <a:r>
              <a:rPr sz="2250" spc="-25" dirty="0">
                <a:latin typeface="Verdana"/>
                <a:cs typeface="Verdana"/>
              </a:rPr>
              <a:t>r</a:t>
            </a:r>
            <a:r>
              <a:rPr sz="2250" spc="-100" dirty="0">
                <a:latin typeface="Verdana"/>
                <a:cs typeface="Verdana"/>
              </a:rPr>
              <a:t>ds.</a:t>
            </a:r>
            <a:endParaRPr sz="2250" dirty="0">
              <a:latin typeface="Verdana"/>
              <a:cs typeface="Verdana"/>
            </a:endParaRPr>
          </a:p>
          <a:p>
            <a:pPr marL="278130" indent="-266065">
              <a:buAutoNum type="arabicPeriod"/>
              <a:tabLst>
                <a:tab pos="278765" algn="l"/>
              </a:tabLst>
            </a:pPr>
            <a:r>
              <a:rPr sz="2300" b="1" spc="40" dirty="0">
                <a:solidFill>
                  <a:srgbClr val="FF0000"/>
                </a:solidFill>
                <a:latin typeface="Tahoma"/>
                <a:cs typeface="Tahoma"/>
              </a:rPr>
              <a:t>Data-Driven</a:t>
            </a:r>
            <a:r>
              <a:rPr sz="2300" b="1" spc="-5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300" b="1" spc="5" dirty="0">
                <a:solidFill>
                  <a:srgbClr val="FF0000"/>
                </a:solidFill>
                <a:latin typeface="Tahoma"/>
                <a:cs typeface="Tahoma"/>
              </a:rPr>
              <a:t>Reason:</a:t>
            </a:r>
            <a:endParaRPr sz="2300" dirty="0">
              <a:latin typeface="Tahoma"/>
              <a:cs typeface="Tahoma"/>
            </a:endParaRPr>
          </a:p>
          <a:p>
            <a:pPr marL="355600" marR="5080" algn="just">
              <a:spcBef>
                <a:spcPts val="85"/>
              </a:spcBef>
            </a:pPr>
            <a:r>
              <a:rPr sz="2250" spc="95" dirty="0">
                <a:latin typeface="Verdana"/>
                <a:cs typeface="Verdana"/>
              </a:rPr>
              <a:t>Ben</a:t>
            </a:r>
            <a:r>
              <a:rPr sz="2250" spc="55" dirty="0">
                <a:latin typeface="Verdana"/>
                <a:cs typeface="Verdana"/>
              </a:rPr>
              <a:t>chma</a:t>
            </a:r>
            <a:r>
              <a:rPr sz="2250" spc="10" dirty="0">
                <a:latin typeface="Verdana"/>
                <a:cs typeface="Verdana"/>
              </a:rPr>
              <a:t>r</a:t>
            </a:r>
            <a:r>
              <a:rPr sz="2250" spc="60" dirty="0">
                <a:latin typeface="Verdana"/>
                <a:cs typeface="Verdana"/>
              </a:rPr>
              <a:t>king</a:t>
            </a:r>
            <a:r>
              <a:rPr sz="2250" spc="-185" dirty="0">
                <a:latin typeface="Verdana"/>
                <a:cs typeface="Verdana"/>
              </a:rPr>
              <a:t> </a:t>
            </a:r>
            <a:r>
              <a:rPr sz="2250" spc="15" dirty="0">
                <a:latin typeface="Verdana"/>
                <a:cs typeface="Verdana"/>
              </a:rPr>
              <a:t>against</a:t>
            </a:r>
            <a:r>
              <a:rPr sz="2250" spc="-185" dirty="0">
                <a:latin typeface="Verdana"/>
                <a:cs typeface="Verdana"/>
              </a:rPr>
              <a:t> </a:t>
            </a:r>
            <a:r>
              <a:rPr sz="2250" spc="-20" dirty="0">
                <a:latin typeface="Verdana"/>
                <a:cs typeface="Verdana"/>
              </a:rPr>
              <a:t>t</a:t>
            </a:r>
            <a:r>
              <a:rPr sz="2250" spc="80" dirty="0">
                <a:latin typeface="Verdana"/>
                <a:cs typeface="Verdana"/>
              </a:rPr>
              <a:t>o</a:t>
            </a:r>
            <a:r>
              <a:rPr sz="2250" spc="105" dirty="0">
                <a:latin typeface="Verdana"/>
                <a:cs typeface="Verdana"/>
              </a:rPr>
              <a:t>p</a:t>
            </a:r>
            <a:r>
              <a:rPr sz="2250" spc="-25" dirty="0">
                <a:latin typeface="Verdana"/>
                <a:cs typeface="Verdana"/>
              </a:rPr>
              <a:t>-per</a:t>
            </a:r>
            <a:r>
              <a:rPr sz="2250" spc="-45" dirty="0">
                <a:latin typeface="Verdana"/>
                <a:cs typeface="Verdana"/>
              </a:rPr>
              <a:t>f</a:t>
            </a:r>
            <a:r>
              <a:rPr sz="2250" spc="-10" dirty="0">
                <a:latin typeface="Verdana"/>
                <a:cs typeface="Verdana"/>
              </a:rPr>
              <a:t>o</a:t>
            </a:r>
            <a:r>
              <a:rPr sz="2250" spc="-30" dirty="0">
                <a:latin typeface="Verdana"/>
                <a:cs typeface="Verdana"/>
              </a:rPr>
              <a:t>r</a:t>
            </a:r>
            <a:r>
              <a:rPr sz="2250" spc="105" dirty="0">
                <a:latin typeface="Verdana"/>
                <a:cs typeface="Verdana"/>
              </a:rPr>
              <a:t>ming</a:t>
            </a:r>
            <a:r>
              <a:rPr sz="2250" spc="-185" dirty="0">
                <a:latin typeface="Verdana"/>
                <a:cs typeface="Verdana"/>
              </a:rPr>
              <a:t> </a:t>
            </a:r>
            <a:r>
              <a:rPr sz="2250" spc="-90" dirty="0">
                <a:latin typeface="Verdana"/>
                <a:cs typeface="Verdana"/>
              </a:rPr>
              <a:t>r</a:t>
            </a:r>
            <a:r>
              <a:rPr sz="2250" spc="5" dirty="0">
                <a:latin typeface="Verdana"/>
                <a:cs typeface="Verdana"/>
              </a:rPr>
              <a:t>estau</a:t>
            </a:r>
            <a:r>
              <a:rPr sz="2250" spc="-170" dirty="0">
                <a:latin typeface="Verdana"/>
                <a:cs typeface="Verdana"/>
              </a:rPr>
              <a:t>r</a:t>
            </a:r>
            <a:r>
              <a:rPr sz="2250" spc="5" dirty="0">
                <a:latin typeface="Verdana"/>
                <a:cs typeface="Verdana"/>
              </a:rPr>
              <a:t>ants</a:t>
            </a:r>
            <a:r>
              <a:rPr sz="2250" spc="-185" dirty="0">
                <a:latin typeface="Verdana"/>
                <a:cs typeface="Verdana"/>
              </a:rPr>
              <a:t> </a:t>
            </a:r>
            <a:r>
              <a:rPr sz="2250" spc="15" dirty="0">
                <a:latin typeface="Verdana"/>
                <a:cs typeface="Verdana"/>
              </a:rPr>
              <a:t>ensu</a:t>
            </a:r>
            <a:r>
              <a:rPr sz="2250" spc="-20" dirty="0">
                <a:latin typeface="Verdana"/>
                <a:cs typeface="Verdana"/>
              </a:rPr>
              <a:t>r</a:t>
            </a:r>
            <a:r>
              <a:rPr sz="2250" spc="-30" dirty="0">
                <a:latin typeface="Verdana"/>
                <a:cs typeface="Verdana"/>
              </a:rPr>
              <a:t>es</a:t>
            </a:r>
            <a:r>
              <a:rPr sz="2250" spc="-185" dirty="0">
                <a:latin typeface="Verdana"/>
                <a:cs typeface="Verdana"/>
              </a:rPr>
              <a:t> </a:t>
            </a:r>
            <a:r>
              <a:rPr sz="2250" spc="25" dirty="0">
                <a:latin typeface="Verdana"/>
                <a:cs typeface="Verdana"/>
              </a:rPr>
              <a:t>that  </a:t>
            </a:r>
            <a:r>
              <a:rPr sz="2250" spc="20" dirty="0">
                <a:latin typeface="Verdana"/>
                <a:cs typeface="Verdana"/>
              </a:rPr>
              <a:t>Zomato</a:t>
            </a:r>
            <a:r>
              <a:rPr sz="2250" spc="-204" dirty="0">
                <a:latin typeface="Verdana"/>
                <a:cs typeface="Verdana"/>
              </a:rPr>
              <a:t> </a:t>
            </a:r>
            <a:r>
              <a:rPr sz="2250" spc="30" dirty="0">
                <a:latin typeface="Verdana"/>
                <a:cs typeface="Verdana"/>
              </a:rPr>
              <a:t>maintains</a:t>
            </a:r>
            <a:r>
              <a:rPr sz="2250" spc="-204" dirty="0">
                <a:latin typeface="Verdana"/>
                <a:cs typeface="Verdana"/>
              </a:rPr>
              <a:t> </a:t>
            </a:r>
            <a:r>
              <a:rPr sz="2250" spc="-10" dirty="0">
                <a:latin typeface="Verdana"/>
                <a:cs typeface="Verdana"/>
              </a:rPr>
              <a:t>or</a:t>
            </a:r>
            <a:r>
              <a:rPr sz="2250" spc="-204" dirty="0">
                <a:latin typeface="Verdana"/>
                <a:cs typeface="Verdana"/>
              </a:rPr>
              <a:t> </a:t>
            </a:r>
            <a:r>
              <a:rPr sz="2250" spc="-5" dirty="0">
                <a:latin typeface="Verdana"/>
                <a:cs typeface="Verdana"/>
              </a:rPr>
              <a:t>exceeds</a:t>
            </a:r>
            <a:r>
              <a:rPr sz="2250" spc="-204" dirty="0">
                <a:latin typeface="Verdana"/>
                <a:cs typeface="Verdana"/>
              </a:rPr>
              <a:t> </a:t>
            </a:r>
            <a:r>
              <a:rPr sz="2250" spc="10" dirty="0">
                <a:latin typeface="Verdana"/>
                <a:cs typeface="Verdana"/>
              </a:rPr>
              <a:t>industry</a:t>
            </a:r>
            <a:r>
              <a:rPr sz="2250" spc="-204" dirty="0">
                <a:latin typeface="Verdana"/>
                <a:cs typeface="Verdana"/>
              </a:rPr>
              <a:t> </a:t>
            </a:r>
            <a:r>
              <a:rPr sz="2250" spc="-30" dirty="0">
                <a:latin typeface="Verdana"/>
                <a:cs typeface="Verdana"/>
              </a:rPr>
              <a:t>standards.</a:t>
            </a:r>
            <a:endParaRPr sz="2250" dirty="0">
              <a:latin typeface="Verdana"/>
              <a:cs typeface="Verdana"/>
            </a:endParaRPr>
          </a:p>
          <a:p>
            <a:pPr marL="330200" indent="-318135">
              <a:buAutoNum type="arabicPeriod" startAt="2"/>
              <a:tabLst>
                <a:tab pos="330835" algn="l"/>
              </a:tabLst>
            </a:pPr>
            <a:r>
              <a:rPr sz="2250" b="1" spc="65" dirty="0">
                <a:solidFill>
                  <a:srgbClr val="FF0000"/>
                </a:solidFill>
                <a:latin typeface="Tahoma"/>
                <a:cs typeface="Tahoma"/>
              </a:rPr>
              <a:t>Expected</a:t>
            </a:r>
            <a:r>
              <a:rPr sz="2250" b="1" spc="-8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250" b="1" spc="-20" dirty="0">
                <a:solidFill>
                  <a:srgbClr val="FF0000"/>
                </a:solidFill>
                <a:latin typeface="Tahoma"/>
                <a:cs typeface="Tahoma"/>
              </a:rPr>
              <a:t>Impact:</a:t>
            </a:r>
            <a:endParaRPr sz="2250" dirty="0">
              <a:latin typeface="Tahoma"/>
              <a:cs typeface="Tahoma"/>
            </a:endParaRPr>
          </a:p>
          <a:p>
            <a:pPr marL="355600" marR="5080" algn="just">
              <a:spcBef>
                <a:spcPts val="75"/>
              </a:spcBef>
            </a:pPr>
            <a:r>
              <a:rPr sz="2250" b="1" spc="40" dirty="0">
                <a:latin typeface="Tahoma"/>
                <a:cs typeface="Tahoma"/>
              </a:rPr>
              <a:t>Consistency </a:t>
            </a:r>
            <a:r>
              <a:rPr sz="2250" b="1" spc="35" dirty="0">
                <a:latin typeface="Tahoma"/>
                <a:cs typeface="Tahoma"/>
              </a:rPr>
              <a:t>in </a:t>
            </a:r>
            <a:r>
              <a:rPr sz="2250" b="1" spc="10" dirty="0">
                <a:latin typeface="Tahoma"/>
                <a:cs typeface="Tahoma"/>
              </a:rPr>
              <a:t>Excellence: </a:t>
            </a:r>
            <a:r>
              <a:rPr sz="2250" spc="75" dirty="0">
                <a:latin typeface="Verdana"/>
                <a:cs typeface="Verdana"/>
              </a:rPr>
              <a:t>Adopting </a:t>
            </a:r>
            <a:r>
              <a:rPr sz="2250" spc="20" dirty="0">
                <a:latin typeface="Verdana"/>
                <a:cs typeface="Verdana"/>
              </a:rPr>
              <a:t>best </a:t>
            </a:r>
            <a:r>
              <a:rPr sz="2250" spc="5" dirty="0">
                <a:latin typeface="Verdana"/>
                <a:cs typeface="Verdana"/>
              </a:rPr>
              <a:t>practices </a:t>
            </a:r>
            <a:r>
              <a:rPr sz="2250" spc="30" dirty="0">
                <a:latin typeface="Verdana"/>
                <a:cs typeface="Verdana"/>
              </a:rPr>
              <a:t>from </a:t>
            </a:r>
            <a:r>
              <a:rPr lang="en-IN" sz="2250" spc="30" dirty="0">
                <a:latin typeface="Verdana"/>
                <a:cs typeface="Verdana"/>
              </a:rPr>
              <a:t>high-rated</a:t>
            </a:r>
            <a:r>
              <a:rPr sz="2250" spc="-10" dirty="0">
                <a:latin typeface="Verdana"/>
                <a:cs typeface="Verdana"/>
              </a:rPr>
              <a:t> </a:t>
            </a:r>
            <a:r>
              <a:rPr sz="2250" spc="30" dirty="0">
                <a:latin typeface="Verdana"/>
                <a:cs typeface="Verdana"/>
              </a:rPr>
              <a:t>competitors</a:t>
            </a:r>
            <a:r>
              <a:rPr sz="2250" spc="35" dirty="0">
                <a:latin typeface="Verdana"/>
                <a:cs typeface="Verdana"/>
              </a:rPr>
              <a:t> </a:t>
            </a:r>
            <a:r>
              <a:rPr sz="2250" spc="55" dirty="0">
                <a:latin typeface="Verdana"/>
                <a:cs typeface="Verdana"/>
              </a:rPr>
              <a:t>can</a:t>
            </a:r>
            <a:r>
              <a:rPr sz="2250" spc="60" dirty="0">
                <a:latin typeface="Verdana"/>
                <a:cs typeface="Verdana"/>
              </a:rPr>
              <a:t> </a:t>
            </a:r>
            <a:r>
              <a:rPr sz="2250" spc="15" dirty="0">
                <a:latin typeface="Verdana"/>
                <a:cs typeface="Verdana"/>
              </a:rPr>
              <a:t>lead</a:t>
            </a:r>
            <a:r>
              <a:rPr sz="2250" spc="20" dirty="0">
                <a:latin typeface="Verdana"/>
                <a:cs typeface="Verdana"/>
              </a:rPr>
              <a:t> </a:t>
            </a:r>
            <a:r>
              <a:rPr sz="2250" spc="10" dirty="0">
                <a:latin typeface="Verdana"/>
                <a:cs typeface="Verdana"/>
              </a:rPr>
              <a:t>to</a:t>
            </a:r>
            <a:r>
              <a:rPr sz="2250" spc="15" dirty="0">
                <a:latin typeface="Verdana"/>
                <a:cs typeface="Verdana"/>
              </a:rPr>
              <a:t> consistent</a:t>
            </a:r>
            <a:r>
              <a:rPr sz="2250" spc="20" dirty="0">
                <a:latin typeface="Verdana"/>
                <a:cs typeface="Verdana"/>
              </a:rPr>
              <a:t> </a:t>
            </a:r>
            <a:r>
              <a:rPr sz="2250" spc="-20" dirty="0">
                <a:latin typeface="Verdana"/>
                <a:cs typeface="Verdana"/>
              </a:rPr>
              <a:t>service</a:t>
            </a:r>
            <a:r>
              <a:rPr sz="2250" spc="-15" dirty="0">
                <a:latin typeface="Verdana"/>
                <a:cs typeface="Verdana"/>
              </a:rPr>
              <a:t> </a:t>
            </a:r>
            <a:r>
              <a:rPr sz="2250" spc="-50" dirty="0">
                <a:latin typeface="Verdana"/>
                <a:cs typeface="Verdana"/>
              </a:rPr>
              <a:t>quality, </a:t>
            </a:r>
            <a:r>
              <a:rPr sz="2250" spc="-45" dirty="0">
                <a:latin typeface="Verdana"/>
                <a:cs typeface="Verdana"/>
              </a:rPr>
              <a:t> </a:t>
            </a:r>
            <a:r>
              <a:rPr sz="2250" spc="65" dirty="0">
                <a:latin typeface="Verdana"/>
                <a:cs typeface="Verdana"/>
              </a:rPr>
              <a:t>enhancing </a:t>
            </a:r>
            <a:r>
              <a:rPr sz="2250" spc="-15" dirty="0">
                <a:latin typeface="Verdana"/>
                <a:cs typeface="Verdana"/>
              </a:rPr>
              <a:t>Zomato’s </a:t>
            </a:r>
            <a:r>
              <a:rPr sz="2250" spc="30" dirty="0">
                <a:latin typeface="Verdana"/>
                <a:cs typeface="Verdana"/>
              </a:rPr>
              <a:t>brand </a:t>
            </a:r>
            <a:r>
              <a:rPr sz="2250" spc="60" dirty="0">
                <a:latin typeface="Verdana"/>
                <a:cs typeface="Verdana"/>
              </a:rPr>
              <a:t>image </a:t>
            </a:r>
            <a:r>
              <a:rPr sz="2250" spc="65" dirty="0">
                <a:latin typeface="Verdana"/>
                <a:cs typeface="Verdana"/>
              </a:rPr>
              <a:t>and </a:t>
            </a:r>
            <a:r>
              <a:rPr sz="2250" spc="35" dirty="0">
                <a:latin typeface="Verdana"/>
                <a:cs typeface="Verdana"/>
              </a:rPr>
              <a:t>customer </a:t>
            </a:r>
            <a:r>
              <a:rPr sz="2250" dirty="0">
                <a:latin typeface="Verdana"/>
                <a:cs typeface="Verdana"/>
              </a:rPr>
              <a:t>satisfaction</a:t>
            </a:r>
            <a:r>
              <a:rPr lang="en-IN" sz="2250" dirty="0">
                <a:latin typeface="Verdana"/>
                <a:cs typeface="Verdana"/>
              </a:rPr>
              <a:t> </a:t>
            </a:r>
            <a:r>
              <a:rPr sz="2250" dirty="0">
                <a:latin typeface="Verdana"/>
                <a:cs typeface="Verdana"/>
              </a:rPr>
              <a:t>ac</a:t>
            </a:r>
            <a:r>
              <a:rPr sz="2250" spc="-30" dirty="0">
                <a:latin typeface="Verdana"/>
                <a:cs typeface="Verdana"/>
              </a:rPr>
              <a:t>r</a:t>
            </a:r>
            <a:r>
              <a:rPr sz="2250" spc="-35" dirty="0">
                <a:latin typeface="Verdana"/>
                <a:cs typeface="Verdana"/>
              </a:rPr>
              <a:t>oss</a:t>
            </a:r>
            <a:r>
              <a:rPr sz="2250" spc="-204" dirty="0">
                <a:latin typeface="Verdana"/>
                <a:cs typeface="Verdana"/>
              </a:rPr>
              <a:t> </a:t>
            </a:r>
            <a:r>
              <a:rPr sz="2250" spc="-20" dirty="0">
                <a:latin typeface="Verdana"/>
                <a:cs typeface="Verdana"/>
              </a:rPr>
              <a:t>all</a:t>
            </a:r>
            <a:r>
              <a:rPr sz="2250" spc="-204" dirty="0">
                <a:latin typeface="Verdana"/>
                <a:cs typeface="Verdana"/>
              </a:rPr>
              <a:t> </a:t>
            </a:r>
            <a:r>
              <a:rPr sz="2250" spc="-90" dirty="0">
                <a:latin typeface="Verdana"/>
                <a:cs typeface="Verdana"/>
              </a:rPr>
              <a:t>r</a:t>
            </a:r>
            <a:r>
              <a:rPr sz="2250" spc="-20" dirty="0">
                <a:latin typeface="Verdana"/>
                <a:cs typeface="Verdana"/>
              </a:rPr>
              <a:t>egions.</a:t>
            </a:r>
            <a:endParaRPr sz="225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57114"/>
            <a:ext cx="18288000" cy="882967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4674" y="92633"/>
            <a:ext cx="8207375" cy="734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50" spc="45" dirty="0">
                <a:solidFill>
                  <a:srgbClr val="FF00F3"/>
                </a:solidFill>
                <a:latin typeface="Cambria"/>
                <a:cs typeface="Cambria"/>
              </a:rPr>
              <a:t>Dashboard</a:t>
            </a:r>
            <a:r>
              <a:rPr sz="4650" spc="30" dirty="0">
                <a:solidFill>
                  <a:srgbClr val="FF00F3"/>
                </a:solidFill>
                <a:latin typeface="Cambria"/>
                <a:cs typeface="Cambria"/>
              </a:rPr>
              <a:t> </a:t>
            </a:r>
            <a:r>
              <a:rPr sz="4650" spc="15" dirty="0">
                <a:solidFill>
                  <a:srgbClr val="FF00F3"/>
                </a:solidFill>
                <a:latin typeface="Cambria"/>
                <a:cs typeface="Cambria"/>
              </a:rPr>
              <a:t>and</a:t>
            </a:r>
            <a:r>
              <a:rPr sz="4650" spc="-150" dirty="0">
                <a:solidFill>
                  <a:srgbClr val="FF00F3"/>
                </a:solidFill>
                <a:latin typeface="Cambria"/>
                <a:cs typeface="Cambria"/>
              </a:rPr>
              <a:t> </a:t>
            </a:r>
            <a:r>
              <a:rPr sz="4650" spc="15" dirty="0">
                <a:solidFill>
                  <a:srgbClr val="FF00F3"/>
                </a:solidFill>
                <a:latin typeface="Cambria"/>
                <a:cs typeface="Cambria"/>
              </a:rPr>
              <a:t>Visualizations</a:t>
            </a:r>
            <a:endParaRPr sz="46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9634" y="298501"/>
            <a:ext cx="20897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0" dirty="0">
                <a:solidFill>
                  <a:srgbClr val="FE0000"/>
                </a:solidFill>
              </a:rPr>
              <a:t>Sh</a:t>
            </a:r>
            <a:r>
              <a:rPr spc="35" dirty="0">
                <a:solidFill>
                  <a:srgbClr val="FE0000"/>
                </a:solidFill>
              </a:rPr>
              <a:t>o</a:t>
            </a:r>
            <a:r>
              <a:rPr spc="40" dirty="0">
                <a:solidFill>
                  <a:srgbClr val="FE0000"/>
                </a:solidFill>
              </a:rPr>
              <a:t>w</a:t>
            </a:r>
            <a:r>
              <a:rPr spc="-20" dirty="0">
                <a:solidFill>
                  <a:srgbClr val="FE0000"/>
                </a:solidFill>
              </a:rPr>
              <a:t>case: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8995" y="1042416"/>
            <a:ext cx="16951960" cy="9052478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r>
              <a:rPr lang="en-US" sz="2800" dirty="0"/>
              <a:t>This dashboard provides a comprehensive overview of Zomato restaurant analytics, capturing key metrics across various dimensions. Here’s a breakdown of the dashboard elements:</a:t>
            </a:r>
          </a:p>
          <a:p>
            <a:pPr>
              <a:buFont typeface="+mj-lt"/>
              <a:buAutoNum type="arabicPeriod"/>
            </a:pPr>
            <a:r>
              <a:rPr lang="en-US" sz="2800" b="1" dirty="0"/>
              <a:t>Total Restaurants, Countries, Cities, Cuisines</a:t>
            </a:r>
            <a:r>
              <a:rPr lang="en-US" sz="2800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800" dirty="0"/>
              <a:t>Displays a high-level summary of the Zomato dataset, showing the total number of restaurants (9,551), countries (15), cities (141), and cuisines (1,826) represented in the data. This gives a quick snapshot of the scale of operations.</a:t>
            </a:r>
          </a:p>
          <a:p>
            <a:pPr>
              <a:buFont typeface="+mj-lt"/>
              <a:buAutoNum type="arabicPeriod"/>
            </a:pPr>
            <a:r>
              <a:rPr lang="en-US" sz="2800" b="1" dirty="0"/>
              <a:t>Total Votes and Average Rating</a:t>
            </a:r>
            <a:r>
              <a:rPr lang="en-US" sz="2800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800" dirty="0"/>
              <a:t>Summarizes user engagement through total votes (14,98,645) and provides an overall average rating (2.89). These metrics indicate customer interaction and satisfaction levels.</a:t>
            </a:r>
          </a:p>
          <a:p>
            <a:pPr>
              <a:buFont typeface="+mj-lt"/>
              <a:buAutoNum type="arabicPeriod"/>
            </a:pPr>
            <a:r>
              <a:rPr lang="en-US" sz="2800" b="1" dirty="0"/>
              <a:t>Month-wise Restaurants</a:t>
            </a:r>
            <a:r>
              <a:rPr lang="en-US" sz="2800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800" dirty="0"/>
              <a:t>A line chart shows the number of restaurants added each month. The trend helps in understanding the growth over time and identifying peak periods.</a:t>
            </a:r>
          </a:p>
          <a:p>
            <a:pPr>
              <a:buFont typeface="+mj-lt"/>
              <a:buAutoNum type="arabicPeriod"/>
            </a:pPr>
            <a:r>
              <a:rPr lang="en-US" sz="2800" b="1" dirty="0"/>
              <a:t>Country-wise Restaurants</a:t>
            </a:r>
            <a:r>
              <a:rPr lang="en-US" sz="2800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800" dirty="0"/>
              <a:t>A bar chart representing the distribution of restaurants across different countries, with the United Kingdom leading with 80 restaurants. This can inform market penetration and regional focus.</a:t>
            </a:r>
          </a:p>
          <a:p>
            <a:pPr>
              <a:buFont typeface="+mj-lt"/>
              <a:buAutoNum type="arabicPeriod"/>
            </a:pPr>
            <a:r>
              <a:rPr lang="en-US" sz="2800" b="1" dirty="0"/>
              <a:t>Table Booking and Online Delivery</a:t>
            </a:r>
            <a:r>
              <a:rPr lang="en-US" sz="2800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800" dirty="0"/>
              <a:t>Donut charts provide insights into customer behavior, with high percentages for online delivery (93.98%) and table booking (89.89%). This highlights the importance of these services.</a:t>
            </a:r>
          </a:p>
          <a:p>
            <a:pPr>
              <a:buFont typeface="+mj-lt"/>
              <a:buAutoNum type="arabicPeriod"/>
            </a:pPr>
            <a:r>
              <a:rPr lang="en-US" sz="2800" b="1" dirty="0"/>
              <a:t>Rating vs. Restaurants</a:t>
            </a:r>
            <a:r>
              <a:rPr lang="en-US" sz="2800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800" dirty="0"/>
              <a:t>A bar chart mapping the number of restaurants against their ratings. This helps in identifying how many restaurants fall within specific rating brackets, useful for quality assessment.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6945" y="4675378"/>
            <a:ext cx="95250" cy="9525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6945" y="5380228"/>
            <a:ext cx="95250" cy="952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6945" y="6094603"/>
            <a:ext cx="95250" cy="9525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67693" y="1894078"/>
            <a:ext cx="16952595" cy="556260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 marR="5715">
              <a:spcBef>
                <a:spcPts val="30"/>
              </a:spcBef>
              <a:buFont typeface="Verdana"/>
              <a:buAutoNum type="arabicPeriod" startAt="7"/>
              <a:tabLst>
                <a:tab pos="400050" algn="l"/>
                <a:tab pos="400685" algn="l"/>
                <a:tab pos="1735455" algn="l"/>
                <a:tab pos="3216910" algn="l"/>
              </a:tabLst>
            </a:pPr>
            <a:r>
              <a:rPr sz="2300" b="1" spc="65" dirty="0">
                <a:latin typeface="Tahoma"/>
                <a:cs typeface="Tahoma"/>
              </a:rPr>
              <a:t>Popular	</a:t>
            </a:r>
            <a:r>
              <a:rPr sz="2300" b="1" spc="15" dirty="0">
                <a:latin typeface="Tahoma"/>
                <a:cs typeface="Tahoma"/>
              </a:rPr>
              <a:t>Cuisines:	</a:t>
            </a:r>
            <a:r>
              <a:rPr sz="2300" spc="90" dirty="0">
                <a:latin typeface="Verdana"/>
                <a:cs typeface="Verdana"/>
              </a:rPr>
              <a:t>A</a:t>
            </a:r>
            <a:r>
              <a:rPr sz="2300" spc="275" dirty="0">
                <a:latin typeface="Verdana"/>
                <a:cs typeface="Verdana"/>
              </a:rPr>
              <a:t> </a:t>
            </a:r>
            <a:r>
              <a:rPr sz="2300" spc="20" dirty="0">
                <a:latin typeface="Verdana"/>
                <a:cs typeface="Verdana"/>
              </a:rPr>
              <a:t>bar</a:t>
            </a:r>
            <a:r>
              <a:rPr sz="2300" spc="280" dirty="0">
                <a:latin typeface="Verdana"/>
                <a:cs typeface="Verdana"/>
              </a:rPr>
              <a:t> </a:t>
            </a:r>
            <a:r>
              <a:rPr sz="2300" spc="40" dirty="0">
                <a:latin typeface="Verdana"/>
                <a:cs typeface="Verdana"/>
              </a:rPr>
              <a:t>chart</a:t>
            </a:r>
            <a:r>
              <a:rPr sz="2300" spc="275" dirty="0">
                <a:latin typeface="Verdana"/>
                <a:cs typeface="Verdana"/>
              </a:rPr>
              <a:t> </a:t>
            </a:r>
            <a:r>
              <a:rPr sz="2300" spc="50" dirty="0">
                <a:latin typeface="Verdana"/>
                <a:cs typeface="Verdana"/>
              </a:rPr>
              <a:t>showcasing</a:t>
            </a:r>
            <a:r>
              <a:rPr sz="2300" spc="280" dirty="0">
                <a:latin typeface="Verdana"/>
                <a:cs typeface="Verdana"/>
              </a:rPr>
              <a:t> </a:t>
            </a:r>
            <a:r>
              <a:rPr sz="2300" spc="60" dirty="0">
                <a:latin typeface="Verdana"/>
                <a:cs typeface="Verdana"/>
              </a:rPr>
              <a:t>the</a:t>
            </a:r>
            <a:r>
              <a:rPr sz="2300" spc="280" dirty="0">
                <a:latin typeface="Verdana"/>
                <a:cs typeface="Verdana"/>
              </a:rPr>
              <a:t> </a:t>
            </a:r>
            <a:r>
              <a:rPr sz="2300" spc="25" dirty="0">
                <a:latin typeface="Verdana"/>
                <a:cs typeface="Verdana"/>
              </a:rPr>
              <a:t>popularity</a:t>
            </a:r>
            <a:r>
              <a:rPr sz="2300" spc="275" dirty="0">
                <a:latin typeface="Verdana"/>
                <a:cs typeface="Verdana"/>
              </a:rPr>
              <a:t> </a:t>
            </a:r>
            <a:r>
              <a:rPr sz="2300" spc="20" dirty="0">
                <a:latin typeface="Verdana"/>
                <a:cs typeface="Verdana"/>
              </a:rPr>
              <a:t>of</a:t>
            </a:r>
            <a:r>
              <a:rPr sz="2300" spc="280" dirty="0">
                <a:latin typeface="Verdana"/>
                <a:cs typeface="Verdana"/>
              </a:rPr>
              <a:t> </a:t>
            </a:r>
            <a:r>
              <a:rPr sz="2300" spc="20" dirty="0">
                <a:latin typeface="Verdana"/>
                <a:cs typeface="Verdana"/>
              </a:rPr>
              <a:t>different</a:t>
            </a:r>
            <a:r>
              <a:rPr sz="2300" spc="280" dirty="0">
                <a:latin typeface="Verdana"/>
                <a:cs typeface="Verdana"/>
              </a:rPr>
              <a:t> </a:t>
            </a:r>
            <a:r>
              <a:rPr sz="2300" spc="-15" dirty="0">
                <a:latin typeface="Verdana"/>
                <a:cs typeface="Verdana"/>
              </a:rPr>
              <a:t>cuisines,</a:t>
            </a:r>
            <a:r>
              <a:rPr sz="2300" spc="275" dirty="0">
                <a:latin typeface="Verdana"/>
                <a:cs typeface="Verdana"/>
              </a:rPr>
              <a:t> </a:t>
            </a:r>
            <a:r>
              <a:rPr sz="2300" spc="75" dirty="0">
                <a:latin typeface="Verdana"/>
                <a:cs typeface="Verdana"/>
              </a:rPr>
              <a:t>with</a:t>
            </a:r>
            <a:r>
              <a:rPr sz="2300" spc="280" dirty="0">
                <a:latin typeface="Verdana"/>
                <a:cs typeface="Verdana"/>
              </a:rPr>
              <a:t> </a:t>
            </a:r>
            <a:r>
              <a:rPr sz="2300" spc="-35" dirty="0">
                <a:latin typeface="Verdana"/>
                <a:cs typeface="Verdana"/>
              </a:rPr>
              <a:t>Turkey</a:t>
            </a:r>
            <a:r>
              <a:rPr sz="2300" spc="280" dirty="0">
                <a:latin typeface="Verdana"/>
                <a:cs typeface="Verdana"/>
              </a:rPr>
              <a:t> </a:t>
            </a:r>
            <a:r>
              <a:rPr sz="2300" spc="80" dirty="0">
                <a:latin typeface="Verdana"/>
                <a:cs typeface="Verdana"/>
              </a:rPr>
              <a:t>and</a:t>
            </a:r>
            <a:r>
              <a:rPr sz="2300" spc="275" dirty="0">
                <a:latin typeface="Verdana"/>
                <a:cs typeface="Verdana"/>
              </a:rPr>
              <a:t> </a:t>
            </a:r>
            <a:r>
              <a:rPr sz="2300" spc="-5" dirty="0">
                <a:latin typeface="Verdana"/>
                <a:cs typeface="Verdana"/>
              </a:rPr>
              <a:t>Brazil</a:t>
            </a:r>
            <a:r>
              <a:rPr sz="2300" spc="280" dirty="0">
                <a:latin typeface="Verdana"/>
                <a:cs typeface="Verdana"/>
              </a:rPr>
              <a:t> </a:t>
            </a:r>
            <a:r>
              <a:rPr sz="2300" spc="85" dirty="0">
                <a:latin typeface="Verdana"/>
                <a:cs typeface="Verdana"/>
              </a:rPr>
              <a:t>being</a:t>
            </a:r>
            <a:r>
              <a:rPr lang="en-IN" sz="2300" spc="85" dirty="0">
                <a:latin typeface="Verdana"/>
                <a:cs typeface="Verdana"/>
              </a:rPr>
              <a:t> </a:t>
            </a:r>
            <a:r>
              <a:rPr sz="2300" spc="10" dirty="0">
                <a:latin typeface="Verdana"/>
                <a:cs typeface="Verdana"/>
              </a:rPr>
              <a:t>particularly</a:t>
            </a:r>
            <a:r>
              <a:rPr sz="2300" spc="-200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notable.</a:t>
            </a:r>
            <a:r>
              <a:rPr sz="2300" spc="-200" dirty="0">
                <a:latin typeface="Verdana"/>
                <a:cs typeface="Verdana"/>
              </a:rPr>
              <a:t> </a:t>
            </a:r>
            <a:r>
              <a:rPr sz="2300" spc="-10" dirty="0">
                <a:latin typeface="Verdana"/>
                <a:cs typeface="Verdana"/>
              </a:rPr>
              <a:t>This</a:t>
            </a:r>
            <a:r>
              <a:rPr sz="2300" spc="-195" dirty="0">
                <a:latin typeface="Verdana"/>
                <a:cs typeface="Verdana"/>
              </a:rPr>
              <a:t> </a:t>
            </a:r>
            <a:r>
              <a:rPr sz="2300" spc="50" dirty="0">
                <a:latin typeface="Verdana"/>
                <a:cs typeface="Verdana"/>
              </a:rPr>
              <a:t>insight</a:t>
            </a:r>
            <a:r>
              <a:rPr sz="2300" spc="-200" dirty="0">
                <a:latin typeface="Verdana"/>
                <a:cs typeface="Verdana"/>
              </a:rPr>
              <a:t> </a:t>
            </a:r>
            <a:r>
              <a:rPr sz="2300" spc="70" dirty="0">
                <a:latin typeface="Verdana"/>
                <a:cs typeface="Verdana"/>
              </a:rPr>
              <a:t>can</a:t>
            </a:r>
            <a:r>
              <a:rPr sz="2300" spc="-195" dirty="0">
                <a:latin typeface="Verdana"/>
                <a:cs typeface="Verdana"/>
              </a:rPr>
              <a:t> </a:t>
            </a:r>
            <a:r>
              <a:rPr sz="2300" spc="85" dirty="0">
                <a:latin typeface="Verdana"/>
                <a:cs typeface="Verdana"/>
              </a:rPr>
              <a:t>guide</a:t>
            </a:r>
            <a:r>
              <a:rPr sz="2300" spc="-200" dirty="0">
                <a:latin typeface="Verdana"/>
                <a:cs typeface="Verdana"/>
              </a:rPr>
              <a:t> </a:t>
            </a:r>
            <a:r>
              <a:rPr sz="2300" spc="120" dirty="0">
                <a:latin typeface="Verdana"/>
                <a:cs typeface="Verdana"/>
              </a:rPr>
              <a:t>menu</a:t>
            </a:r>
            <a:r>
              <a:rPr sz="2300" spc="-195" dirty="0">
                <a:latin typeface="Verdana"/>
                <a:cs typeface="Verdana"/>
              </a:rPr>
              <a:t> </a:t>
            </a:r>
            <a:r>
              <a:rPr sz="2300" spc="30" dirty="0">
                <a:latin typeface="Verdana"/>
                <a:cs typeface="Verdana"/>
              </a:rPr>
              <a:t>decisions</a:t>
            </a:r>
            <a:r>
              <a:rPr sz="2300" spc="-200" dirty="0">
                <a:latin typeface="Verdana"/>
                <a:cs typeface="Verdana"/>
              </a:rPr>
              <a:t> </a:t>
            </a:r>
            <a:r>
              <a:rPr sz="2300" spc="80" dirty="0">
                <a:latin typeface="Verdana"/>
                <a:cs typeface="Verdana"/>
              </a:rPr>
              <a:t>and</a:t>
            </a:r>
            <a:r>
              <a:rPr sz="2300" spc="-200" dirty="0">
                <a:latin typeface="Verdana"/>
                <a:cs typeface="Verdana"/>
              </a:rPr>
              <a:t> </a:t>
            </a:r>
            <a:r>
              <a:rPr sz="2300" spc="50" dirty="0">
                <a:latin typeface="Verdana"/>
                <a:cs typeface="Verdana"/>
              </a:rPr>
              <a:t>marketing</a:t>
            </a:r>
            <a:r>
              <a:rPr sz="2300" spc="-195" dirty="0">
                <a:latin typeface="Verdana"/>
                <a:cs typeface="Verdana"/>
              </a:rPr>
              <a:t> </a:t>
            </a:r>
            <a:r>
              <a:rPr sz="2300" spc="-40" dirty="0">
                <a:latin typeface="Verdana"/>
                <a:cs typeface="Verdana"/>
              </a:rPr>
              <a:t>strategies.</a:t>
            </a:r>
            <a:endParaRPr sz="2300" dirty="0">
              <a:latin typeface="Verdana"/>
              <a:cs typeface="Verdana"/>
            </a:endParaRPr>
          </a:p>
          <a:p>
            <a:pPr marL="12700" marR="5715">
              <a:spcBef>
                <a:spcPts val="5"/>
              </a:spcBef>
              <a:buAutoNum type="arabicPeriod" startAt="7"/>
              <a:tabLst>
                <a:tab pos="441325" algn="l"/>
                <a:tab pos="441959" algn="l"/>
                <a:tab pos="2062480" algn="l"/>
                <a:tab pos="4123690" algn="l"/>
                <a:tab pos="4492625" algn="l"/>
                <a:tab pos="5142230" algn="l"/>
                <a:tab pos="6080125" algn="l"/>
                <a:tab pos="6851650" algn="l"/>
                <a:tab pos="7888605" algn="l"/>
                <a:tab pos="8543925" algn="l"/>
                <a:tab pos="9909810" algn="l"/>
                <a:tab pos="10352405" algn="l"/>
                <a:tab pos="12181840" algn="l"/>
                <a:tab pos="13481685" algn="l"/>
                <a:tab pos="14350365" algn="l"/>
                <a:tab pos="15189835" algn="l"/>
                <a:tab pos="16764000" algn="l"/>
              </a:tabLst>
            </a:pPr>
            <a:r>
              <a:rPr sz="2300" b="1" spc="-150" dirty="0">
                <a:latin typeface="Tahoma"/>
                <a:cs typeface="Tahoma"/>
              </a:rPr>
              <a:t>Y</a:t>
            </a:r>
            <a:r>
              <a:rPr sz="2300" b="1" spc="45" dirty="0">
                <a:latin typeface="Tahoma"/>
                <a:cs typeface="Tahoma"/>
              </a:rPr>
              <a:t>e</a:t>
            </a:r>
            <a:r>
              <a:rPr sz="2300" b="1" spc="5" dirty="0">
                <a:latin typeface="Tahoma"/>
                <a:cs typeface="Tahoma"/>
              </a:rPr>
              <a:t>a</a:t>
            </a:r>
            <a:r>
              <a:rPr sz="2300" b="1" spc="-15" dirty="0">
                <a:latin typeface="Tahoma"/>
                <a:cs typeface="Tahoma"/>
              </a:rPr>
              <a:t>r</a:t>
            </a:r>
            <a:r>
              <a:rPr sz="2300" b="1" spc="-135" dirty="0">
                <a:latin typeface="Tahoma"/>
                <a:cs typeface="Tahoma"/>
              </a:rPr>
              <a:t>-</a:t>
            </a:r>
            <a:r>
              <a:rPr sz="2300" b="1" spc="40" dirty="0">
                <a:latin typeface="Tahoma"/>
                <a:cs typeface="Tahoma"/>
              </a:rPr>
              <a:t>wise</a:t>
            </a:r>
            <a:r>
              <a:rPr sz="2300" b="1" dirty="0">
                <a:latin typeface="Tahoma"/>
                <a:cs typeface="Tahoma"/>
              </a:rPr>
              <a:t>	</a:t>
            </a:r>
            <a:r>
              <a:rPr sz="2300" b="1" spc="45" dirty="0">
                <a:latin typeface="Tahoma"/>
                <a:cs typeface="Tahoma"/>
              </a:rPr>
              <a:t>Restau</a:t>
            </a:r>
            <a:r>
              <a:rPr sz="2300" b="1" spc="-125" dirty="0">
                <a:latin typeface="Tahoma"/>
                <a:cs typeface="Tahoma"/>
              </a:rPr>
              <a:t>r</a:t>
            </a:r>
            <a:r>
              <a:rPr sz="2300" b="1" spc="-15" dirty="0">
                <a:latin typeface="Tahoma"/>
                <a:cs typeface="Tahoma"/>
              </a:rPr>
              <a:t>ants:</a:t>
            </a:r>
            <a:r>
              <a:rPr sz="2300" b="1" dirty="0">
                <a:latin typeface="Tahoma"/>
                <a:cs typeface="Tahoma"/>
              </a:rPr>
              <a:t>	</a:t>
            </a:r>
            <a:r>
              <a:rPr sz="2300" spc="90" dirty="0">
                <a:latin typeface="Verdana"/>
                <a:cs typeface="Verdana"/>
              </a:rPr>
              <a:t>A</a:t>
            </a:r>
            <a:r>
              <a:rPr sz="2300" dirty="0">
                <a:latin typeface="Verdana"/>
                <a:cs typeface="Verdana"/>
              </a:rPr>
              <a:t>	</a:t>
            </a:r>
            <a:r>
              <a:rPr sz="2300" spc="130" dirty="0">
                <a:latin typeface="Verdana"/>
                <a:cs typeface="Verdana"/>
              </a:rPr>
              <a:t>b</a:t>
            </a:r>
            <a:r>
              <a:rPr sz="2300" spc="-30" dirty="0">
                <a:latin typeface="Verdana"/>
                <a:cs typeface="Verdana"/>
              </a:rPr>
              <a:t>ar</a:t>
            </a:r>
            <a:r>
              <a:rPr sz="2300" dirty="0">
                <a:latin typeface="Verdana"/>
                <a:cs typeface="Verdana"/>
              </a:rPr>
              <a:t>	</a:t>
            </a:r>
            <a:r>
              <a:rPr sz="2300" spc="90" dirty="0">
                <a:latin typeface="Verdana"/>
                <a:cs typeface="Verdana"/>
              </a:rPr>
              <a:t>c</a:t>
            </a:r>
            <a:r>
              <a:rPr sz="2300" spc="20" dirty="0">
                <a:latin typeface="Verdana"/>
                <a:cs typeface="Verdana"/>
              </a:rPr>
              <a:t>ha</a:t>
            </a:r>
            <a:r>
              <a:rPr sz="2300" spc="40" dirty="0">
                <a:latin typeface="Verdana"/>
                <a:cs typeface="Verdana"/>
              </a:rPr>
              <a:t>r</a:t>
            </a:r>
            <a:r>
              <a:rPr sz="2300" spc="35" dirty="0">
                <a:latin typeface="Verdana"/>
                <a:cs typeface="Verdana"/>
              </a:rPr>
              <a:t>t</a:t>
            </a:r>
            <a:r>
              <a:rPr sz="2300" dirty="0">
                <a:latin typeface="Verdana"/>
                <a:cs typeface="Verdana"/>
              </a:rPr>
              <a:t>	</a:t>
            </a:r>
            <a:r>
              <a:rPr sz="2300" spc="45" dirty="0">
                <a:latin typeface="Verdana"/>
                <a:cs typeface="Verdana"/>
              </a:rPr>
              <a:t>that</a:t>
            </a:r>
            <a:r>
              <a:rPr sz="2300" dirty="0">
                <a:latin typeface="Verdana"/>
                <a:cs typeface="Verdana"/>
              </a:rPr>
              <a:t>	</a:t>
            </a:r>
            <a:r>
              <a:rPr sz="2300" spc="35" dirty="0">
                <a:latin typeface="Verdana"/>
                <a:cs typeface="Verdana"/>
              </a:rPr>
              <a:t>t</a:t>
            </a:r>
            <a:r>
              <a:rPr sz="2300" spc="-160" dirty="0">
                <a:latin typeface="Verdana"/>
                <a:cs typeface="Verdana"/>
              </a:rPr>
              <a:t>r</a:t>
            </a:r>
            <a:r>
              <a:rPr sz="2300" spc="50" dirty="0">
                <a:latin typeface="Verdana"/>
                <a:cs typeface="Verdana"/>
              </a:rPr>
              <a:t>a</a:t>
            </a:r>
            <a:r>
              <a:rPr sz="2300" spc="25" dirty="0">
                <a:latin typeface="Verdana"/>
                <a:cs typeface="Verdana"/>
              </a:rPr>
              <a:t>c</a:t>
            </a:r>
            <a:r>
              <a:rPr sz="2300" spc="-5" dirty="0">
                <a:latin typeface="Verdana"/>
                <a:cs typeface="Verdana"/>
              </a:rPr>
              <a:t>k</a:t>
            </a:r>
            <a:r>
              <a:rPr sz="2300" spc="-65" dirty="0">
                <a:latin typeface="Verdana"/>
                <a:cs typeface="Verdana"/>
              </a:rPr>
              <a:t>s</a:t>
            </a:r>
            <a:r>
              <a:rPr sz="2300" dirty="0">
                <a:latin typeface="Verdana"/>
                <a:cs typeface="Verdana"/>
              </a:rPr>
              <a:t>	</a:t>
            </a:r>
            <a:r>
              <a:rPr sz="2300" spc="60" dirty="0">
                <a:latin typeface="Verdana"/>
                <a:cs typeface="Verdana"/>
              </a:rPr>
              <a:t>the</a:t>
            </a:r>
            <a:r>
              <a:rPr sz="2300" dirty="0">
                <a:latin typeface="Verdana"/>
                <a:cs typeface="Verdana"/>
              </a:rPr>
              <a:t>	</a:t>
            </a:r>
            <a:r>
              <a:rPr sz="2300" spc="95" dirty="0">
                <a:latin typeface="Verdana"/>
                <a:cs typeface="Verdana"/>
              </a:rPr>
              <a:t>number</a:t>
            </a:r>
            <a:r>
              <a:rPr sz="2300" dirty="0">
                <a:latin typeface="Verdana"/>
                <a:cs typeface="Verdana"/>
              </a:rPr>
              <a:t>	</a:t>
            </a:r>
            <a:r>
              <a:rPr sz="2300" spc="20" dirty="0">
                <a:latin typeface="Verdana"/>
                <a:cs typeface="Verdana"/>
              </a:rPr>
              <a:t>of</a:t>
            </a:r>
            <a:r>
              <a:rPr sz="2300" dirty="0">
                <a:latin typeface="Verdana"/>
                <a:cs typeface="Verdana"/>
              </a:rPr>
              <a:t>	</a:t>
            </a:r>
            <a:r>
              <a:rPr sz="2300" spc="-85" dirty="0">
                <a:latin typeface="Verdana"/>
                <a:cs typeface="Verdana"/>
              </a:rPr>
              <a:t>r</a:t>
            </a:r>
            <a:r>
              <a:rPr sz="2300" spc="20" dirty="0">
                <a:latin typeface="Verdana"/>
                <a:cs typeface="Verdana"/>
              </a:rPr>
              <a:t>estau</a:t>
            </a:r>
            <a:r>
              <a:rPr sz="2300" spc="-160" dirty="0">
                <a:latin typeface="Verdana"/>
                <a:cs typeface="Verdana"/>
              </a:rPr>
              <a:t>r</a:t>
            </a:r>
            <a:r>
              <a:rPr sz="2300" spc="20" dirty="0">
                <a:latin typeface="Verdana"/>
                <a:cs typeface="Verdana"/>
              </a:rPr>
              <a:t>ants</a:t>
            </a:r>
            <a:r>
              <a:rPr sz="2300" dirty="0">
                <a:latin typeface="Verdana"/>
                <a:cs typeface="Verdana"/>
              </a:rPr>
              <a:t>	</a:t>
            </a:r>
            <a:r>
              <a:rPr sz="2300" spc="85" dirty="0">
                <a:latin typeface="Verdana"/>
                <a:cs typeface="Verdana"/>
              </a:rPr>
              <a:t>opened</a:t>
            </a:r>
            <a:r>
              <a:rPr sz="2300" dirty="0">
                <a:latin typeface="Verdana"/>
                <a:cs typeface="Verdana"/>
              </a:rPr>
              <a:t>	</a:t>
            </a:r>
            <a:r>
              <a:rPr sz="2300" spc="-5" dirty="0">
                <a:latin typeface="Verdana"/>
                <a:cs typeface="Verdana"/>
              </a:rPr>
              <a:t>e</a:t>
            </a:r>
            <a:r>
              <a:rPr sz="2300" spc="50" dirty="0">
                <a:latin typeface="Verdana"/>
                <a:cs typeface="Verdana"/>
              </a:rPr>
              <a:t>a</a:t>
            </a:r>
            <a:r>
              <a:rPr sz="2300" spc="25" dirty="0">
                <a:latin typeface="Verdana"/>
                <a:cs typeface="Verdana"/>
              </a:rPr>
              <a:t>c</a:t>
            </a:r>
            <a:r>
              <a:rPr sz="2300" spc="114" dirty="0">
                <a:latin typeface="Verdana"/>
                <a:cs typeface="Verdana"/>
              </a:rPr>
              <a:t>h</a:t>
            </a:r>
            <a:r>
              <a:rPr sz="2300" dirty="0">
                <a:latin typeface="Verdana"/>
                <a:cs typeface="Verdana"/>
              </a:rPr>
              <a:t>	</a:t>
            </a:r>
            <a:r>
              <a:rPr sz="2300" spc="-140" dirty="0">
                <a:latin typeface="Verdana"/>
                <a:cs typeface="Verdana"/>
              </a:rPr>
              <a:t>y</a:t>
            </a:r>
            <a:r>
              <a:rPr sz="2300" spc="-5" dirty="0">
                <a:latin typeface="Verdana"/>
                <a:cs typeface="Verdana"/>
              </a:rPr>
              <a:t>e</a:t>
            </a:r>
            <a:r>
              <a:rPr sz="2300" spc="-35" dirty="0">
                <a:latin typeface="Verdana"/>
                <a:cs typeface="Verdana"/>
              </a:rPr>
              <a:t>a</a:t>
            </a:r>
            <a:r>
              <a:rPr sz="2300" spc="-50" dirty="0">
                <a:latin typeface="Verdana"/>
                <a:cs typeface="Verdana"/>
              </a:rPr>
              <a:t>r</a:t>
            </a:r>
            <a:r>
              <a:rPr sz="2300" spc="-345" dirty="0">
                <a:latin typeface="Verdana"/>
                <a:cs typeface="Verdana"/>
              </a:rPr>
              <a:t>,</a:t>
            </a:r>
            <a:r>
              <a:rPr sz="2300" dirty="0">
                <a:latin typeface="Verdana"/>
                <a:cs typeface="Verdana"/>
              </a:rPr>
              <a:t>	</a:t>
            </a:r>
            <a:r>
              <a:rPr sz="2300" spc="55" dirty="0">
                <a:latin typeface="Verdana"/>
                <a:cs typeface="Verdana"/>
              </a:rPr>
              <a:t>p</a:t>
            </a:r>
            <a:r>
              <a:rPr sz="2300" dirty="0">
                <a:latin typeface="Verdana"/>
                <a:cs typeface="Verdana"/>
              </a:rPr>
              <a:t>r</a:t>
            </a:r>
            <a:r>
              <a:rPr sz="2300" spc="25" dirty="0">
                <a:latin typeface="Verdana"/>
                <a:cs typeface="Verdana"/>
              </a:rPr>
              <a:t>o</a:t>
            </a:r>
            <a:r>
              <a:rPr sz="2300" spc="50" dirty="0">
                <a:latin typeface="Verdana"/>
                <a:cs typeface="Verdana"/>
              </a:rPr>
              <a:t>viding</a:t>
            </a:r>
            <a:r>
              <a:rPr sz="2300" dirty="0">
                <a:latin typeface="Verdana"/>
                <a:cs typeface="Verdana"/>
              </a:rPr>
              <a:t>	</a:t>
            </a:r>
            <a:r>
              <a:rPr sz="2300" spc="-10" dirty="0">
                <a:latin typeface="Verdana"/>
                <a:cs typeface="Verdana"/>
              </a:rPr>
              <a:t>a</a:t>
            </a:r>
            <a:r>
              <a:rPr lang="en-IN" sz="2300" spc="-10" dirty="0">
                <a:latin typeface="Verdana"/>
                <a:cs typeface="Verdana"/>
              </a:rPr>
              <a:t> </a:t>
            </a:r>
            <a:r>
              <a:rPr sz="2300" spc="10" dirty="0">
                <a:latin typeface="Verdana"/>
                <a:cs typeface="Verdana"/>
              </a:rPr>
              <a:t>historical</a:t>
            </a:r>
            <a:r>
              <a:rPr sz="2300" spc="-204" dirty="0">
                <a:latin typeface="Verdana"/>
                <a:cs typeface="Verdana"/>
              </a:rPr>
              <a:t> </a:t>
            </a:r>
            <a:r>
              <a:rPr sz="2300" spc="25" dirty="0">
                <a:latin typeface="Verdana"/>
                <a:cs typeface="Verdana"/>
              </a:rPr>
              <a:t>perspective</a:t>
            </a:r>
            <a:r>
              <a:rPr sz="2300" spc="-200" dirty="0">
                <a:latin typeface="Verdana"/>
                <a:cs typeface="Verdana"/>
              </a:rPr>
              <a:t> </a:t>
            </a:r>
            <a:r>
              <a:rPr sz="2300" spc="85" dirty="0">
                <a:latin typeface="Verdana"/>
                <a:cs typeface="Verdana"/>
              </a:rPr>
              <a:t>on</a:t>
            </a:r>
            <a:r>
              <a:rPr sz="2300" spc="-200" dirty="0">
                <a:latin typeface="Verdana"/>
                <a:cs typeface="Verdana"/>
              </a:rPr>
              <a:t> </a:t>
            </a:r>
            <a:r>
              <a:rPr sz="2300" spc="25" dirty="0">
                <a:latin typeface="Verdana"/>
                <a:cs typeface="Verdana"/>
              </a:rPr>
              <a:t>business</a:t>
            </a:r>
            <a:r>
              <a:rPr sz="2300" spc="-200" dirty="0">
                <a:latin typeface="Verdana"/>
                <a:cs typeface="Verdana"/>
              </a:rPr>
              <a:t> </a:t>
            </a:r>
            <a:r>
              <a:rPr sz="2300" spc="-15" dirty="0">
                <a:latin typeface="Verdana"/>
                <a:cs typeface="Verdana"/>
              </a:rPr>
              <a:t>expansion.</a:t>
            </a:r>
            <a:endParaRPr sz="23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800" dirty="0">
              <a:latin typeface="Verdana"/>
              <a:cs typeface="Verdana"/>
            </a:endParaRPr>
          </a:p>
          <a:p>
            <a:pPr marL="13970">
              <a:lnSpc>
                <a:spcPct val="100000"/>
              </a:lnSpc>
            </a:pPr>
            <a:r>
              <a:rPr sz="3000" b="1" spc="-20" dirty="0">
                <a:solidFill>
                  <a:srgbClr val="FE0000"/>
                </a:solidFill>
                <a:latin typeface="Tahoma"/>
                <a:cs typeface="Tahoma"/>
              </a:rPr>
              <a:t>Interpretation:</a:t>
            </a:r>
            <a:endParaRPr sz="3000" dirty="0">
              <a:latin typeface="Tahoma"/>
              <a:cs typeface="Tahoma"/>
            </a:endParaRPr>
          </a:p>
          <a:p>
            <a:pPr marL="13335">
              <a:lnSpc>
                <a:spcPct val="100000"/>
              </a:lnSpc>
              <a:spcBef>
                <a:spcPts val="2660"/>
              </a:spcBef>
            </a:pPr>
            <a:r>
              <a:rPr sz="2450" dirty="0">
                <a:solidFill>
                  <a:srgbClr val="263166"/>
                </a:solidFill>
                <a:latin typeface="Verdana"/>
                <a:cs typeface="Verdana"/>
              </a:rPr>
              <a:t>H</a:t>
            </a:r>
            <a:r>
              <a:rPr sz="2450" spc="40" dirty="0">
                <a:solidFill>
                  <a:srgbClr val="263166"/>
                </a:solidFill>
                <a:latin typeface="Verdana"/>
                <a:cs typeface="Verdana"/>
              </a:rPr>
              <a:t>o</a:t>
            </a:r>
            <a:r>
              <a:rPr sz="2450" spc="65" dirty="0">
                <a:solidFill>
                  <a:srgbClr val="263166"/>
                </a:solidFill>
                <a:latin typeface="Verdana"/>
                <a:cs typeface="Verdana"/>
              </a:rPr>
              <a:t>w</a:t>
            </a:r>
            <a:r>
              <a:rPr sz="2450" spc="-180" dirty="0">
                <a:solidFill>
                  <a:srgbClr val="263166"/>
                </a:solidFill>
                <a:latin typeface="Verdana"/>
                <a:cs typeface="Verdana"/>
              </a:rPr>
              <a:t> </a:t>
            </a:r>
            <a:r>
              <a:rPr sz="2450" spc="10" dirty="0">
                <a:solidFill>
                  <a:srgbClr val="263166"/>
                </a:solidFill>
                <a:latin typeface="Verdana"/>
                <a:cs typeface="Verdana"/>
              </a:rPr>
              <a:t>t</a:t>
            </a:r>
            <a:r>
              <a:rPr sz="2450" spc="35" dirty="0">
                <a:solidFill>
                  <a:srgbClr val="263166"/>
                </a:solidFill>
                <a:latin typeface="Verdana"/>
                <a:cs typeface="Verdana"/>
              </a:rPr>
              <a:t>o</a:t>
            </a:r>
            <a:r>
              <a:rPr sz="2450" spc="-180" dirty="0">
                <a:solidFill>
                  <a:srgbClr val="263166"/>
                </a:solidFill>
                <a:latin typeface="Verdana"/>
                <a:cs typeface="Verdana"/>
              </a:rPr>
              <a:t> </a:t>
            </a:r>
            <a:r>
              <a:rPr sz="2450" spc="-70" dirty="0">
                <a:solidFill>
                  <a:srgbClr val="263166"/>
                </a:solidFill>
                <a:latin typeface="Verdana"/>
                <a:cs typeface="Verdana"/>
              </a:rPr>
              <a:t>Rea</a:t>
            </a:r>
            <a:r>
              <a:rPr sz="2450" spc="-65" dirty="0">
                <a:solidFill>
                  <a:srgbClr val="263166"/>
                </a:solidFill>
                <a:latin typeface="Verdana"/>
                <a:cs typeface="Verdana"/>
              </a:rPr>
              <a:t>d</a:t>
            </a:r>
            <a:r>
              <a:rPr sz="2450" spc="-180" dirty="0">
                <a:solidFill>
                  <a:srgbClr val="263166"/>
                </a:solidFill>
                <a:latin typeface="Verdana"/>
                <a:cs typeface="Verdana"/>
              </a:rPr>
              <a:t> </a:t>
            </a:r>
            <a:r>
              <a:rPr sz="2450" spc="-25" dirty="0">
                <a:solidFill>
                  <a:srgbClr val="263166"/>
                </a:solidFill>
                <a:latin typeface="Verdana"/>
                <a:cs typeface="Verdana"/>
              </a:rPr>
              <a:t>the</a:t>
            </a:r>
            <a:r>
              <a:rPr sz="2450" spc="-180" dirty="0">
                <a:solidFill>
                  <a:srgbClr val="263166"/>
                </a:solidFill>
                <a:latin typeface="Verdana"/>
                <a:cs typeface="Verdana"/>
              </a:rPr>
              <a:t> </a:t>
            </a:r>
            <a:r>
              <a:rPr sz="2450" spc="-75" dirty="0">
                <a:solidFill>
                  <a:srgbClr val="263166"/>
                </a:solidFill>
                <a:latin typeface="Verdana"/>
                <a:cs typeface="Verdana"/>
              </a:rPr>
              <a:t>D</a:t>
            </a:r>
            <a:r>
              <a:rPr sz="2450" spc="-55" dirty="0">
                <a:solidFill>
                  <a:srgbClr val="263166"/>
                </a:solidFill>
                <a:latin typeface="Verdana"/>
                <a:cs typeface="Verdana"/>
              </a:rPr>
              <a:t>ashbo</a:t>
            </a:r>
            <a:r>
              <a:rPr sz="2450" spc="-65" dirty="0">
                <a:solidFill>
                  <a:srgbClr val="263166"/>
                </a:solidFill>
                <a:latin typeface="Verdana"/>
                <a:cs typeface="Verdana"/>
              </a:rPr>
              <a:t>a</a:t>
            </a:r>
            <a:r>
              <a:rPr sz="2450" spc="-30" dirty="0">
                <a:solidFill>
                  <a:srgbClr val="263166"/>
                </a:solidFill>
                <a:latin typeface="Verdana"/>
                <a:cs typeface="Verdana"/>
              </a:rPr>
              <a:t>r</a:t>
            </a:r>
            <a:r>
              <a:rPr sz="2450" spc="-5" dirty="0">
                <a:solidFill>
                  <a:srgbClr val="263166"/>
                </a:solidFill>
                <a:latin typeface="Verdana"/>
                <a:cs typeface="Verdana"/>
              </a:rPr>
              <a:t>d</a:t>
            </a:r>
            <a:r>
              <a:rPr sz="2450" spc="-420" dirty="0">
                <a:solidFill>
                  <a:srgbClr val="263166"/>
                </a:solidFill>
                <a:latin typeface="Verdana"/>
                <a:cs typeface="Verdana"/>
              </a:rPr>
              <a:t>:</a:t>
            </a:r>
            <a:endParaRPr sz="245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Verdana"/>
              <a:cs typeface="Verdana"/>
            </a:endParaRPr>
          </a:p>
          <a:p>
            <a:pPr marL="367030" marR="5080">
              <a:tabLst>
                <a:tab pos="1100455" algn="l"/>
                <a:tab pos="1825625" algn="l"/>
                <a:tab pos="3048000" algn="l"/>
                <a:tab pos="4502150" algn="l"/>
              </a:tabLst>
            </a:pPr>
            <a:r>
              <a:rPr sz="2300" b="1" spc="35" dirty="0">
                <a:latin typeface="Tahoma"/>
                <a:cs typeface="Tahoma"/>
              </a:rPr>
              <a:t>City	</a:t>
            </a:r>
            <a:r>
              <a:rPr sz="2300" b="1" spc="100" dirty="0">
                <a:latin typeface="Tahoma"/>
                <a:cs typeface="Tahoma"/>
              </a:rPr>
              <a:t>and	</a:t>
            </a:r>
            <a:r>
              <a:rPr sz="2300" b="1" spc="75" dirty="0">
                <a:latin typeface="Tahoma"/>
                <a:cs typeface="Tahoma"/>
              </a:rPr>
              <a:t>Region	</a:t>
            </a:r>
            <a:r>
              <a:rPr sz="2300" b="1" dirty="0">
                <a:latin typeface="Tahoma"/>
                <a:cs typeface="Tahoma"/>
              </a:rPr>
              <a:t>Analysis:	</a:t>
            </a:r>
            <a:r>
              <a:rPr sz="2300" spc="20" dirty="0">
                <a:latin typeface="Verdana"/>
                <a:cs typeface="Verdana"/>
              </a:rPr>
              <a:t>The</a:t>
            </a:r>
            <a:r>
              <a:rPr sz="2300" spc="265" dirty="0">
                <a:latin typeface="Verdana"/>
                <a:cs typeface="Verdana"/>
              </a:rPr>
              <a:t> </a:t>
            </a:r>
            <a:r>
              <a:rPr sz="2300" spc="15" dirty="0">
                <a:latin typeface="Verdana"/>
                <a:cs typeface="Verdana"/>
              </a:rPr>
              <a:t>dashboard's</a:t>
            </a:r>
            <a:r>
              <a:rPr sz="2300" spc="270" dirty="0">
                <a:latin typeface="Verdana"/>
                <a:cs typeface="Verdana"/>
              </a:rPr>
              <a:t> </a:t>
            </a:r>
            <a:r>
              <a:rPr sz="2300" spc="70" dirty="0">
                <a:latin typeface="Verdana"/>
                <a:cs typeface="Verdana"/>
              </a:rPr>
              <a:t>heatmap</a:t>
            </a:r>
            <a:r>
              <a:rPr sz="2300" spc="270" dirty="0">
                <a:latin typeface="Verdana"/>
                <a:cs typeface="Verdana"/>
              </a:rPr>
              <a:t> </a:t>
            </a:r>
            <a:r>
              <a:rPr sz="2300" spc="30" dirty="0">
                <a:latin typeface="Verdana"/>
                <a:cs typeface="Verdana"/>
              </a:rPr>
              <a:t>shows</a:t>
            </a:r>
            <a:r>
              <a:rPr sz="2300" spc="270" dirty="0">
                <a:latin typeface="Verdana"/>
                <a:cs typeface="Verdana"/>
              </a:rPr>
              <a:t> </a:t>
            </a:r>
            <a:r>
              <a:rPr sz="2300" spc="-35" dirty="0">
                <a:latin typeface="Verdana"/>
                <a:cs typeface="Verdana"/>
              </a:rPr>
              <a:t>areas</a:t>
            </a:r>
            <a:r>
              <a:rPr sz="2300" spc="270" dirty="0">
                <a:latin typeface="Verdana"/>
                <a:cs typeface="Verdana"/>
              </a:rPr>
              <a:t> </a:t>
            </a:r>
            <a:r>
              <a:rPr sz="2300" spc="75" dirty="0">
                <a:latin typeface="Verdana"/>
                <a:cs typeface="Verdana"/>
              </a:rPr>
              <a:t>with</a:t>
            </a:r>
            <a:r>
              <a:rPr sz="2300" spc="270" dirty="0">
                <a:latin typeface="Verdana"/>
                <a:cs typeface="Verdana"/>
              </a:rPr>
              <a:t> </a:t>
            </a:r>
            <a:r>
              <a:rPr sz="2300" spc="60" dirty="0">
                <a:latin typeface="Verdana"/>
                <a:cs typeface="Verdana"/>
              </a:rPr>
              <a:t>the</a:t>
            </a:r>
            <a:r>
              <a:rPr sz="2300" spc="270" dirty="0">
                <a:latin typeface="Verdana"/>
                <a:cs typeface="Verdana"/>
              </a:rPr>
              <a:t> </a:t>
            </a:r>
            <a:r>
              <a:rPr sz="2300" spc="55" dirty="0">
                <a:latin typeface="Verdana"/>
                <a:cs typeface="Verdana"/>
              </a:rPr>
              <a:t>highest</a:t>
            </a:r>
            <a:r>
              <a:rPr sz="2300" spc="270" dirty="0">
                <a:latin typeface="Verdana"/>
                <a:cs typeface="Verdana"/>
              </a:rPr>
              <a:t> </a:t>
            </a:r>
            <a:r>
              <a:rPr sz="2300" spc="-20" dirty="0">
                <a:latin typeface="Verdana"/>
                <a:cs typeface="Verdana"/>
              </a:rPr>
              <a:t>average</a:t>
            </a:r>
            <a:r>
              <a:rPr sz="2300" spc="270" dirty="0">
                <a:latin typeface="Verdana"/>
                <a:cs typeface="Verdana"/>
              </a:rPr>
              <a:t> </a:t>
            </a:r>
            <a:r>
              <a:rPr sz="2300" spc="-35" dirty="0">
                <a:latin typeface="Verdana"/>
                <a:cs typeface="Verdana"/>
              </a:rPr>
              <a:t>ratings,</a:t>
            </a:r>
            <a:r>
              <a:rPr sz="2300" spc="270" dirty="0">
                <a:latin typeface="Verdana"/>
                <a:cs typeface="Verdana"/>
              </a:rPr>
              <a:t> </a:t>
            </a:r>
            <a:r>
              <a:rPr sz="2300" spc="75" dirty="0">
                <a:latin typeface="Verdana"/>
                <a:cs typeface="Verdana"/>
              </a:rPr>
              <a:t>helping</a:t>
            </a:r>
            <a:r>
              <a:rPr lang="en-IN" sz="2300" spc="75" dirty="0">
                <a:latin typeface="Verdana"/>
                <a:cs typeface="Verdana"/>
              </a:rPr>
              <a:t> </a:t>
            </a:r>
            <a:r>
              <a:rPr sz="2300" spc="20" dirty="0">
                <a:latin typeface="Verdana"/>
                <a:cs typeface="Verdana"/>
              </a:rPr>
              <a:t>decision-makers</a:t>
            </a:r>
            <a:r>
              <a:rPr sz="2300" spc="-200" dirty="0">
                <a:latin typeface="Verdana"/>
                <a:cs typeface="Verdana"/>
              </a:rPr>
              <a:t> </a:t>
            </a:r>
            <a:r>
              <a:rPr sz="2300" spc="25" dirty="0">
                <a:latin typeface="Verdana"/>
                <a:cs typeface="Verdana"/>
              </a:rPr>
              <a:t>identify</a:t>
            </a:r>
            <a:r>
              <a:rPr sz="2300" spc="-200" dirty="0">
                <a:latin typeface="Verdana"/>
                <a:cs typeface="Verdana"/>
              </a:rPr>
              <a:t> </a:t>
            </a:r>
            <a:r>
              <a:rPr sz="2300" spc="40" dirty="0">
                <a:latin typeface="Verdana"/>
                <a:cs typeface="Verdana"/>
              </a:rPr>
              <a:t>potential</a:t>
            </a:r>
            <a:r>
              <a:rPr sz="2300" spc="-200" dirty="0">
                <a:latin typeface="Verdana"/>
                <a:cs typeface="Verdana"/>
              </a:rPr>
              <a:t> </a:t>
            </a:r>
            <a:r>
              <a:rPr sz="2300" spc="30" dirty="0">
                <a:latin typeface="Verdana"/>
                <a:cs typeface="Verdana"/>
              </a:rPr>
              <a:t>regions</a:t>
            </a:r>
            <a:r>
              <a:rPr sz="2300" spc="-200" dirty="0">
                <a:latin typeface="Verdana"/>
                <a:cs typeface="Verdana"/>
              </a:rPr>
              <a:t> </a:t>
            </a:r>
            <a:r>
              <a:rPr sz="2300" spc="-15" dirty="0">
                <a:latin typeface="Verdana"/>
                <a:cs typeface="Verdana"/>
              </a:rPr>
              <a:t>for</a:t>
            </a:r>
            <a:r>
              <a:rPr sz="2300" spc="-200" dirty="0">
                <a:latin typeface="Verdana"/>
                <a:cs typeface="Verdana"/>
              </a:rPr>
              <a:t> </a:t>
            </a:r>
            <a:r>
              <a:rPr sz="2300" spc="-15" dirty="0">
                <a:latin typeface="Verdana"/>
                <a:cs typeface="Verdana"/>
              </a:rPr>
              <a:t>expansion.</a:t>
            </a:r>
            <a:endParaRPr sz="2300" dirty="0">
              <a:latin typeface="Verdana"/>
              <a:cs typeface="Verdana"/>
            </a:endParaRPr>
          </a:p>
          <a:p>
            <a:pPr marL="367030" marR="5080">
              <a:tabLst>
                <a:tab pos="1583690" algn="l"/>
                <a:tab pos="3677285" algn="l"/>
                <a:tab pos="4393565" algn="l"/>
                <a:tab pos="5518785" algn="l"/>
                <a:tab pos="6293485" algn="l"/>
                <a:tab pos="7505065" algn="l"/>
                <a:tab pos="8434705" algn="l"/>
                <a:tab pos="9971405" algn="l"/>
                <a:tab pos="11844020" algn="l"/>
                <a:tab pos="12400280" algn="l"/>
                <a:tab pos="13687425" algn="l"/>
                <a:tab pos="15142844" algn="l"/>
                <a:tab pos="15744190" algn="l"/>
                <a:tab pos="16119475" algn="l"/>
              </a:tabLst>
            </a:pPr>
            <a:r>
              <a:rPr sz="2300" b="1" spc="10" dirty="0">
                <a:latin typeface="Tahoma"/>
                <a:cs typeface="Tahoma"/>
              </a:rPr>
              <a:t>R</a:t>
            </a:r>
            <a:r>
              <a:rPr sz="2300" b="1" spc="40" dirty="0">
                <a:latin typeface="Tahoma"/>
                <a:cs typeface="Tahoma"/>
              </a:rPr>
              <a:t>atin</a:t>
            </a:r>
            <a:r>
              <a:rPr sz="2300" b="1" spc="165" dirty="0">
                <a:latin typeface="Tahoma"/>
                <a:cs typeface="Tahoma"/>
              </a:rPr>
              <a:t>g</a:t>
            </a:r>
            <a:r>
              <a:rPr sz="2300" b="1" dirty="0">
                <a:latin typeface="Tahoma"/>
                <a:cs typeface="Tahoma"/>
              </a:rPr>
              <a:t>	</a:t>
            </a:r>
            <a:r>
              <a:rPr sz="2300" b="1" spc="35" dirty="0">
                <a:latin typeface="Tahoma"/>
                <a:cs typeface="Tahoma"/>
              </a:rPr>
              <a:t>Dist</a:t>
            </a:r>
            <a:r>
              <a:rPr sz="2300" b="1" spc="15" dirty="0">
                <a:latin typeface="Tahoma"/>
                <a:cs typeface="Tahoma"/>
              </a:rPr>
              <a:t>r</a:t>
            </a:r>
            <a:r>
              <a:rPr sz="2300" b="1" spc="20" dirty="0">
                <a:latin typeface="Tahoma"/>
                <a:cs typeface="Tahoma"/>
              </a:rPr>
              <a:t>ibution:</a:t>
            </a:r>
            <a:r>
              <a:rPr sz="2300" b="1" dirty="0">
                <a:latin typeface="Tahoma"/>
                <a:cs typeface="Tahoma"/>
              </a:rPr>
              <a:t>	</a:t>
            </a:r>
            <a:r>
              <a:rPr sz="2300" spc="35" dirty="0">
                <a:latin typeface="Verdana"/>
                <a:cs typeface="Verdana"/>
              </a:rPr>
              <a:t>Bar</a:t>
            </a:r>
            <a:r>
              <a:rPr sz="2300" dirty="0">
                <a:latin typeface="Verdana"/>
                <a:cs typeface="Verdana"/>
              </a:rPr>
              <a:t>	</a:t>
            </a:r>
            <a:r>
              <a:rPr sz="2300" spc="90" dirty="0">
                <a:latin typeface="Verdana"/>
                <a:cs typeface="Verdana"/>
              </a:rPr>
              <a:t>c</a:t>
            </a:r>
            <a:r>
              <a:rPr sz="2300" spc="20" dirty="0">
                <a:latin typeface="Verdana"/>
                <a:cs typeface="Verdana"/>
              </a:rPr>
              <a:t>ha</a:t>
            </a:r>
            <a:r>
              <a:rPr sz="2300" spc="40" dirty="0">
                <a:latin typeface="Verdana"/>
                <a:cs typeface="Verdana"/>
              </a:rPr>
              <a:t>r</a:t>
            </a:r>
            <a:r>
              <a:rPr sz="2300" spc="-15" dirty="0">
                <a:latin typeface="Verdana"/>
                <a:cs typeface="Verdana"/>
              </a:rPr>
              <a:t>ts</a:t>
            </a:r>
            <a:r>
              <a:rPr sz="2300" dirty="0">
                <a:latin typeface="Verdana"/>
                <a:cs typeface="Verdana"/>
              </a:rPr>
              <a:t>	</a:t>
            </a:r>
            <a:r>
              <a:rPr sz="2300" spc="80" dirty="0">
                <a:latin typeface="Verdana"/>
                <a:cs typeface="Verdana"/>
              </a:rPr>
              <a:t>and</a:t>
            </a:r>
            <a:r>
              <a:rPr sz="2300" dirty="0">
                <a:latin typeface="Verdana"/>
                <a:cs typeface="Verdana"/>
              </a:rPr>
              <a:t>	</a:t>
            </a:r>
            <a:r>
              <a:rPr sz="2300" spc="20" dirty="0">
                <a:latin typeface="Verdana"/>
                <a:cs typeface="Verdana"/>
              </a:rPr>
              <a:t>sca</a:t>
            </a:r>
            <a:r>
              <a:rPr sz="2300" spc="-25" dirty="0">
                <a:latin typeface="Verdana"/>
                <a:cs typeface="Verdana"/>
              </a:rPr>
              <a:t>t</a:t>
            </a:r>
            <a:r>
              <a:rPr sz="2300" spc="-10" dirty="0">
                <a:latin typeface="Verdana"/>
                <a:cs typeface="Verdana"/>
              </a:rPr>
              <a:t>ter</a:t>
            </a:r>
            <a:r>
              <a:rPr sz="2300" dirty="0">
                <a:latin typeface="Verdana"/>
                <a:cs typeface="Verdana"/>
              </a:rPr>
              <a:t>	</a:t>
            </a:r>
            <a:r>
              <a:rPr sz="2300" spc="30" dirty="0">
                <a:latin typeface="Verdana"/>
                <a:cs typeface="Verdana"/>
              </a:rPr>
              <a:t>plots</a:t>
            </a:r>
            <a:r>
              <a:rPr sz="2300" dirty="0">
                <a:latin typeface="Verdana"/>
                <a:cs typeface="Verdana"/>
              </a:rPr>
              <a:t>	</a:t>
            </a:r>
            <a:r>
              <a:rPr sz="2300" spc="75" dirty="0">
                <a:latin typeface="Verdana"/>
                <a:cs typeface="Verdana"/>
              </a:rPr>
              <a:t>segment</a:t>
            </a:r>
            <a:r>
              <a:rPr sz="2300" dirty="0">
                <a:latin typeface="Verdana"/>
                <a:cs typeface="Verdana"/>
              </a:rPr>
              <a:t>	</a:t>
            </a:r>
            <a:r>
              <a:rPr sz="2300" spc="-85" dirty="0">
                <a:latin typeface="Verdana"/>
                <a:cs typeface="Verdana"/>
              </a:rPr>
              <a:t>r</a:t>
            </a:r>
            <a:r>
              <a:rPr sz="2300" spc="20" dirty="0">
                <a:latin typeface="Verdana"/>
                <a:cs typeface="Verdana"/>
              </a:rPr>
              <a:t>estau</a:t>
            </a:r>
            <a:r>
              <a:rPr sz="2300" spc="-160" dirty="0">
                <a:latin typeface="Verdana"/>
                <a:cs typeface="Verdana"/>
              </a:rPr>
              <a:t>r</a:t>
            </a:r>
            <a:r>
              <a:rPr sz="2300" spc="20" dirty="0">
                <a:latin typeface="Verdana"/>
                <a:cs typeface="Verdana"/>
              </a:rPr>
              <a:t>ants</a:t>
            </a:r>
            <a:r>
              <a:rPr sz="2300" dirty="0">
                <a:latin typeface="Verdana"/>
                <a:cs typeface="Verdana"/>
              </a:rPr>
              <a:t>	</a:t>
            </a:r>
            <a:r>
              <a:rPr sz="2300" spc="105" dirty="0">
                <a:latin typeface="Verdana"/>
                <a:cs typeface="Verdana"/>
              </a:rPr>
              <a:t>b</a:t>
            </a:r>
            <a:r>
              <a:rPr sz="2300" spc="-105" dirty="0">
                <a:latin typeface="Verdana"/>
                <a:cs typeface="Verdana"/>
              </a:rPr>
              <a:t>y</a:t>
            </a:r>
            <a:r>
              <a:rPr sz="2300" dirty="0">
                <a:latin typeface="Verdana"/>
                <a:cs typeface="Verdana"/>
              </a:rPr>
              <a:t>	</a:t>
            </a:r>
            <a:r>
              <a:rPr sz="2300" spc="-160" dirty="0">
                <a:latin typeface="Verdana"/>
                <a:cs typeface="Verdana"/>
              </a:rPr>
              <a:t>r</a:t>
            </a:r>
            <a:r>
              <a:rPr sz="2300" spc="-20" dirty="0">
                <a:latin typeface="Verdana"/>
                <a:cs typeface="Verdana"/>
              </a:rPr>
              <a:t>atings,</a:t>
            </a:r>
            <a:r>
              <a:rPr sz="2300" dirty="0">
                <a:latin typeface="Verdana"/>
                <a:cs typeface="Verdana"/>
              </a:rPr>
              <a:t>	</a:t>
            </a:r>
            <a:r>
              <a:rPr sz="2300" spc="5" dirty="0">
                <a:latin typeface="Verdana"/>
                <a:cs typeface="Verdana"/>
              </a:rPr>
              <a:t>all</a:t>
            </a:r>
            <a:r>
              <a:rPr sz="2300" spc="-25" dirty="0">
                <a:latin typeface="Verdana"/>
                <a:cs typeface="Verdana"/>
              </a:rPr>
              <a:t>o</a:t>
            </a:r>
            <a:r>
              <a:rPr sz="2300" spc="105" dirty="0">
                <a:latin typeface="Verdana"/>
                <a:cs typeface="Verdana"/>
              </a:rPr>
              <a:t>wing</a:t>
            </a:r>
            <a:r>
              <a:rPr sz="2300" dirty="0">
                <a:latin typeface="Verdana"/>
                <a:cs typeface="Verdana"/>
              </a:rPr>
              <a:t>	</a:t>
            </a:r>
            <a:r>
              <a:rPr sz="2300" spc="-50" dirty="0">
                <a:latin typeface="Verdana"/>
                <a:cs typeface="Verdana"/>
              </a:rPr>
              <a:t>f</a:t>
            </a:r>
            <a:r>
              <a:rPr sz="2300" spc="5" dirty="0">
                <a:latin typeface="Verdana"/>
                <a:cs typeface="Verdana"/>
              </a:rPr>
              <a:t>or</a:t>
            </a:r>
            <a:r>
              <a:rPr sz="2300" dirty="0">
                <a:latin typeface="Verdana"/>
                <a:cs typeface="Verdana"/>
              </a:rPr>
              <a:t>	</a:t>
            </a:r>
            <a:r>
              <a:rPr sz="2300" spc="-10" dirty="0">
                <a:latin typeface="Verdana"/>
                <a:cs typeface="Verdana"/>
              </a:rPr>
              <a:t>a</a:t>
            </a:r>
            <a:r>
              <a:rPr sz="2300" dirty="0">
                <a:latin typeface="Verdana"/>
                <a:cs typeface="Verdana"/>
              </a:rPr>
              <a:t>	</a:t>
            </a:r>
            <a:r>
              <a:rPr sz="2300" spc="85" dirty="0">
                <a:latin typeface="Verdana"/>
                <a:cs typeface="Verdana"/>
              </a:rPr>
              <a:t>qui</a:t>
            </a:r>
            <a:r>
              <a:rPr sz="2300" spc="70" dirty="0">
                <a:latin typeface="Verdana"/>
                <a:cs typeface="Verdana"/>
              </a:rPr>
              <a:t>c</a:t>
            </a:r>
            <a:r>
              <a:rPr sz="2300" spc="25" dirty="0">
                <a:latin typeface="Verdana"/>
                <a:cs typeface="Verdana"/>
              </a:rPr>
              <a:t>k</a:t>
            </a:r>
            <a:r>
              <a:rPr lang="en-IN" sz="2300" spc="25" dirty="0">
                <a:latin typeface="Verdana"/>
                <a:cs typeface="Verdana"/>
              </a:rPr>
              <a:t> </a:t>
            </a:r>
            <a:r>
              <a:rPr sz="2300" spc="15" dirty="0">
                <a:latin typeface="Verdana"/>
                <a:cs typeface="Verdana"/>
              </a:rPr>
              <a:t>assessment</a:t>
            </a:r>
            <a:r>
              <a:rPr sz="2300" spc="-200" dirty="0">
                <a:latin typeface="Verdana"/>
                <a:cs typeface="Verdana"/>
              </a:rPr>
              <a:t> </a:t>
            </a:r>
            <a:r>
              <a:rPr sz="2300" spc="20" dirty="0">
                <a:latin typeface="Verdana"/>
                <a:cs typeface="Verdana"/>
              </a:rPr>
              <a:t>of</a:t>
            </a:r>
            <a:r>
              <a:rPr sz="2300" spc="-200" dirty="0">
                <a:latin typeface="Verdana"/>
                <a:cs typeface="Verdana"/>
              </a:rPr>
              <a:t> </a:t>
            </a:r>
            <a:r>
              <a:rPr sz="2300" spc="50" dirty="0">
                <a:latin typeface="Verdana"/>
                <a:cs typeface="Verdana"/>
              </a:rPr>
              <a:t>where</a:t>
            </a:r>
            <a:r>
              <a:rPr sz="2300" spc="-200" dirty="0">
                <a:latin typeface="Verdana"/>
                <a:cs typeface="Verdana"/>
              </a:rPr>
              <a:t> </a:t>
            </a:r>
            <a:r>
              <a:rPr sz="2300" spc="60" dirty="0">
                <a:latin typeface="Verdana"/>
                <a:cs typeface="Verdana"/>
              </a:rPr>
              <a:t>the</a:t>
            </a:r>
            <a:r>
              <a:rPr sz="2300" spc="-195" dirty="0">
                <a:latin typeface="Verdana"/>
                <a:cs typeface="Verdana"/>
              </a:rPr>
              <a:t> </a:t>
            </a:r>
            <a:r>
              <a:rPr sz="2300" spc="-5" dirty="0">
                <a:latin typeface="Verdana"/>
                <a:cs typeface="Verdana"/>
              </a:rPr>
              <a:t>majority</a:t>
            </a:r>
            <a:r>
              <a:rPr sz="2300" spc="-200" dirty="0">
                <a:latin typeface="Verdana"/>
                <a:cs typeface="Verdana"/>
              </a:rPr>
              <a:t> </a:t>
            </a:r>
            <a:r>
              <a:rPr sz="2300" spc="20" dirty="0">
                <a:latin typeface="Verdana"/>
                <a:cs typeface="Verdana"/>
              </a:rPr>
              <a:t>of</a:t>
            </a:r>
            <a:r>
              <a:rPr sz="2300" spc="-200" dirty="0">
                <a:latin typeface="Verdana"/>
                <a:cs typeface="Verdana"/>
              </a:rPr>
              <a:t> </a:t>
            </a:r>
            <a:r>
              <a:rPr sz="2300" spc="95" dirty="0">
                <a:latin typeface="Verdana"/>
                <a:cs typeface="Verdana"/>
              </a:rPr>
              <a:t>high</a:t>
            </a:r>
            <a:r>
              <a:rPr sz="2300" spc="-195" dirty="0">
                <a:latin typeface="Verdana"/>
                <a:cs typeface="Verdana"/>
              </a:rPr>
              <a:t> </a:t>
            </a:r>
            <a:r>
              <a:rPr sz="2300" spc="80" dirty="0">
                <a:latin typeface="Verdana"/>
                <a:cs typeface="Verdana"/>
              </a:rPr>
              <a:t>and</a:t>
            </a:r>
            <a:r>
              <a:rPr sz="2300" spc="-200" dirty="0">
                <a:latin typeface="Verdana"/>
                <a:cs typeface="Verdana"/>
              </a:rPr>
              <a:t> </a:t>
            </a:r>
            <a:r>
              <a:rPr sz="2300" spc="-5" dirty="0">
                <a:latin typeface="Verdana"/>
                <a:cs typeface="Verdana"/>
              </a:rPr>
              <a:t>low-rated</a:t>
            </a:r>
            <a:r>
              <a:rPr sz="2300" spc="-200" dirty="0">
                <a:latin typeface="Verdana"/>
                <a:cs typeface="Verdana"/>
              </a:rPr>
              <a:t> </a:t>
            </a:r>
            <a:r>
              <a:rPr sz="2300" spc="35" dirty="0">
                <a:latin typeface="Verdana"/>
                <a:cs typeface="Verdana"/>
              </a:rPr>
              <a:t>establishments</a:t>
            </a:r>
            <a:r>
              <a:rPr sz="2300" spc="-200" dirty="0">
                <a:latin typeface="Verdana"/>
                <a:cs typeface="Verdana"/>
              </a:rPr>
              <a:t> </a:t>
            </a:r>
            <a:r>
              <a:rPr sz="2300" spc="-20" dirty="0">
                <a:latin typeface="Verdana"/>
                <a:cs typeface="Verdana"/>
              </a:rPr>
              <a:t>are</a:t>
            </a:r>
            <a:r>
              <a:rPr sz="2300" spc="-195" dirty="0">
                <a:latin typeface="Verdana"/>
                <a:cs typeface="Verdana"/>
              </a:rPr>
              <a:t> </a:t>
            </a:r>
            <a:r>
              <a:rPr sz="2300" spc="-5" dirty="0">
                <a:latin typeface="Verdana"/>
                <a:cs typeface="Verdana"/>
              </a:rPr>
              <a:t>located.</a:t>
            </a:r>
            <a:endParaRPr sz="2300" dirty="0">
              <a:latin typeface="Verdana"/>
              <a:cs typeface="Verdana"/>
            </a:endParaRPr>
          </a:p>
          <a:p>
            <a:pPr marL="367030" marR="5080">
              <a:spcBef>
                <a:spcPts val="80"/>
              </a:spcBef>
            </a:pPr>
            <a:r>
              <a:rPr sz="2300" b="1" spc="75" dirty="0">
                <a:latin typeface="Tahoma"/>
                <a:cs typeface="Tahoma"/>
              </a:rPr>
              <a:t>Time</a:t>
            </a:r>
            <a:r>
              <a:rPr sz="2300" b="1" spc="235" dirty="0">
                <a:latin typeface="Tahoma"/>
                <a:cs typeface="Tahoma"/>
              </a:rPr>
              <a:t> </a:t>
            </a:r>
            <a:r>
              <a:rPr sz="2300" b="1" spc="20" dirty="0">
                <a:latin typeface="Tahoma"/>
                <a:cs typeface="Tahoma"/>
              </a:rPr>
              <a:t>Series</a:t>
            </a:r>
            <a:r>
              <a:rPr sz="2300" b="1" spc="240" dirty="0">
                <a:latin typeface="Tahoma"/>
                <a:cs typeface="Tahoma"/>
              </a:rPr>
              <a:t> </a:t>
            </a:r>
            <a:r>
              <a:rPr sz="2300" b="1" dirty="0">
                <a:latin typeface="Tahoma"/>
                <a:cs typeface="Tahoma"/>
              </a:rPr>
              <a:t>Analysis:</a:t>
            </a:r>
            <a:r>
              <a:rPr sz="2300" b="1" spc="240" dirty="0">
                <a:latin typeface="Tahoma"/>
                <a:cs typeface="Tahoma"/>
              </a:rPr>
              <a:t> </a:t>
            </a:r>
            <a:r>
              <a:rPr sz="2300" spc="55" dirty="0">
                <a:latin typeface="Verdana"/>
                <a:cs typeface="Verdana"/>
              </a:rPr>
              <a:t>Line</a:t>
            </a:r>
            <a:r>
              <a:rPr sz="2300" spc="75" dirty="0">
                <a:latin typeface="Verdana"/>
                <a:cs typeface="Verdana"/>
              </a:rPr>
              <a:t> </a:t>
            </a:r>
            <a:r>
              <a:rPr sz="2300" spc="25" dirty="0">
                <a:latin typeface="Verdana"/>
                <a:cs typeface="Verdana"/>
              </a:rPr>
              <a:t>charts</a:t>
            </a:r>
            <a:r>
              <a:rPr sz="2300" spc="75" dirty="0">
                <a:latin typeface="Verdana"/>
                <a:cs typeface="Verdana"/>
              </a:rPr>
              <a:t> </a:t>
            </a:r>
            <a:r>
              <a:rPr sz="2300" spc="-5" dirty="0">
                <a:latin typeface="Verdana"/>
                <a:cs typeface="Verdana"/>
              </a:rPr>
              <a:t>track</a:t>
            </a:r>
            <a:r>
              <a:rPr sz="2300" spc="75" dirty="0">
                <a:latin typeface="Verdana"/>
                <a:cs typeface="Verdana"/>
              </a:rPr>
              <a:t> </a:t>
            </a:r>
            <a:r>
              <a:rPr sz="2300" spc="60" dirty="0">
                <a:latin typeface="Verdana"/>
                <a:cs typeface="Verdana"/>
              </a:rPr>
              <a:t>the</a:t>
            </a:r>
            <a:r>
              <a:rPr sz="2300" spc="75" dirty="0">
                <a:latin typeface="Verdana"/>
                <a:cs typeface="Verdana"/>
              </a:rPr>
              <a:t> </a:t>
            </a:r>
            <a:r>
              <a:rPr sz="2300" spc="95" dirty="0">
                <a:latin typeface="Verdana"/>
                <a:cs typeface="Verdana"/>
              </a:rPr>
              <a:t>number</a:t>
            </a:r>
            <a:r>
              <a:rPr sz="2300" spc="75" dirty="0">
                <a:latin typeface="Verdana"/>
                <a:cs typeface="Verdana"/>
              </a:rPr>
              <a:t> </a:t>
            </a:r>
            <a:r>
              <a:rPr sz="2300" spc="20" dirty="0">
                <a:latin typeface="Verdana"/>
                <a:cs typeface="Verdana"/>
              </a:rPr>
              <a:t>of</a:t>
            </a:r>
            <a:r>
              <a:rPr sz="2300" spc="75" dirty="0">
                <a:latin typeface="Verdana"/>
                <a:cs typeface="Verdana"/>
              </a:rPr>
              <a:t> </a:t>
            </a:r>
            <a:r>
              <a:rPr sz="2300" spc="95" dirty="0">
                <a:latin typeface="Verdana"/>
                <a:cs typeface="Verdana"/>
              </a:rPr>
              <a:t>new</a:t>
            </a:r>
            <a:r>
              <a:rPr sz="2300" spc="75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restaurant</a:t>
            </a:r>
            <a:r>
              <a:rPr sz="2300" spc="75" dirty="0">
                <a:latin typeface="Verdana"/>
                <a:cs typeface="Verdana"/>
              </a:rPr>
              <a:t> </a:t>
            </a:r>
            <a:r>
              <a:rPr sz="2300" spc="70" dirty="0">
                <a:latin typeface="Verdana"/>
                <a:cs typeface="Verdana"/>
              </a:rPr>
              <a:t>openings</a:t>
            </a:r>
            <a:r>
              <a:rPr sz="2300" spc="75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by</a:t>
            </a:r>
            <a:r>
              <a:rPr sz="2300" spc="75" dirty="0">
                <a:latin typeface="Verdana"/>
                <a:cs typeface="Verdana"/>
              </a:rPr>
              <a:t> </a:t>
            </a:r>
            <a:r>
              <a:rPr sz="2300" spc="-114" dirty="0">
                <a:latin typeface="Verdana"/>
                <a:cs typeface="Verdana"/>
              </a:rPr>
              <a:t>year,</a:t>
            </a:r>
            <a:r>
              <a:rPr sz="2300" spc="75" dirty="0">
                <a:latin typeface="Verdana"/>
                <a:cs typeface="Verdana"/>
              </a:rPr>
              <a:t> </a:t>
            </a:r>
            <a:r>
              <a:rPr sz="2300" spc="25" dirty="0">
                <a:latin typeface="Verdana"/>
                <a:cs typeface="Verdana"/>
              </a:rPr>
              <a:t>offering</a:t>
            </a:r>
            <a:r>
              <a:rPr sz="2300" spc="75" dirty="0">
                <a:latin typeface="Verdana"/>
                <a:cs typeface="Verdana"/>
              </a:rPr>
              <a:t> </a:t>
            </a:r>
            <a:r>
              <a:rPr sz="2300" spc="35" dirty="0">
                <a:latin typeface="Verdana"/>
                <a:cs typeface="Verdana"/>
              </a:rPr>
              <a:t>insights</a:t>
            </a:r>
            <a:r>
              <a:rPr sz="2300" spc="75" dirty="0">
                <a:latin typeface="Verdana"/>
                <a:cs typeface="Verdana"/>
              </a:rPr>
              <a:t> </a:t>
            </a:r>
            <a:r>
              <a:rPr sz="2300" spc="40" dirty="0">
                <a:latin typeface="Verdana"/>
                <a:cs typeface="Verdana"/>
              </a:rPr>
              <a:t>into</a:t>
            </a:r>
            <a:r>
              <a:rPr lang="en-IN" sz="2300" spc="40" dirty="0">
                <a:latin typeface="Verdana"/>
                <a:cs typeface="Verdana"/>
              </a:rPr>
              <a:t> </a:t>
            </a:r>
            <a:r>
              <a:rPr sz="2300" spc="30" dirty="0">
                <a:latin typeface="Verdana"/>
                <a:cs typeface="Verdana"/>
              </a:rPr>
              <a:t>market</a:t>
            </a:r>
            <a:r>
              <a:rPr sz="2300" spc="-200" dirty="0">
                <a:latin typeface="Verdana"/>
                <a:cs typeface="Verdana"/>
              </a:rPr>
              <a:t> </a:t>
            </a:r>
            <a:r>
              <a:rPr sz="2300" spc="70" dirty="0">
                <a:latin typeface="Verdana"/>
                <a:cs typeface="Verdana"/>
              </a:rPr>
              <a:t>growth</a:t>
            </a:r>
            <a:r>
              <a:rPr sz="2300" spc="-204" dirty="0">
                <a:latin typeface="Verdana"/>
                <a:cs typeface="Verdana"/>
              </a:rPr>
              <a:t> </a:t>
            </a:r>
            <a:r>
              <a:rPr sz="2300" spc="80" dirty="0">
                <a:latin typeface="Verdana"/>
                <a:cs typeface="Verdana"/>
              </a:rPr>
              <a:t>and</a:t>
            </a:r>
            <a:r>
              <a:rPr sz="2300" spc="-200" dirty="0">
                <a:latin typeface="Verdana"/>
                <a:cs typeface="Verdana"/>
              </a:rPr>
              <a:t> </a:t>
            </a:r>
            <a:r>
              <a:rPr sz="2300" spc="10" dirty="0">
                <a:latin typeface="Verdana"/>
                <a:cs typeface="Verdana"/>
              </a:rPr>
              <a:t>saturation</a:t>
            </a:r>
            <a:r>
              <a:rPr sz="2300" spc="-200" dirty="0">
                <a:latin typeface="Verdana"/>
                <a:cs typeface="Verdana"/>
              </a:rPr>
              <a:t> </a:t>
            </a:r>
            <a:r>
              <a:rPr sz="2300" spc="-10" dirty="0">
                <a:latin typeface="Verdana"/>
                <a:cs typeface="Verdana"/>
              </a:rPr>
              <a:t>points.</a:t>
            </a:r>
            <a:endParaRPr sz="23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6305" y="1492186"/>
            <a:ext cx="95250" cy="9525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6305" y="2206561"/>
            <a:ext cx="95250" cy="952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5995" y="4141114"/>
            <a:ext cx="104775" cy="1047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5995" y="4893589"/>
            <a:ext cx="104775" cy="10477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72110" y="1263650"/>
            <a:ext cx="16952595" cy="417576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67030" marR="5080">
              <a:spcBef>
                <a:spcPts val="30"/>
              </a:spcBef>
            </a:pPr>
            <a:r>
              <a:rPr sz="2300" b="1" spc="30" dirty="0">
                <a:latin typeface="Tahoma"/>
                <a:cs typeface="Tahoma"/>
              </a:rPr>
              <a:t>Filters</a:t>
            </a:r>
            <a:r>
              <a:rPr sz="2300" b="1" spc="180" dirty="0">
                <a:latin typeface="Tahoma"/>
                <a:cs typeface="Tahoma"/>
              </a:rPr>
              <a:t> </a:t>
            </a:r>
            <a:r>
              <a:rPr sz="2300" b="1" spc="100" dirty="0">
                <a:latin typeface="Tahoma"/>
                <a:cs typeface="Tahoma"/>
              </a:rPr>
              <a:t>and</a:t>
            </a:r>
            <a:r>
              <a:rPr sz="2300" b="1" spc="180" dirty="0">
                <a:latin typeface="Tahoma"/>
                <a:cs typeface="Tahoma"/>
              </a:rPr>
              <a:t> </a:t>
            </a:r>
            <a:r>
              <a:rPr sz="2300" b="1" spc="-15" dirty="0">
                <a:latin typeface="Tahoma"/>
                <a:cs typeface="Tahoma"/>
              </a:rPr>
              <a:t>Slicers:</a:t>
            </a:r>
            <a:r>
              <a:rPr sz="2300" b="1" spc="155" dirty="0">
                <a:latin typeface="Tahoma"/>
                <a:cs typeface="Tahoma"/>
              </a:rPr>
              <a:t> </a:t>
            </a:r>
            <a:r>
              <a:rPr sz="2300" spc="20" dirty="0">
                <a:latin typeface="Verdana"/>
                <a:cs typeface="Verdana"/>
              </a:rPr>
              <a:t>The</a:t>
            </a:r>
            <a:r>
              <a:rPr sz="2300" spc="15" dirty="0">
                <a:latin typeface="Verdana"/>
                <a:cs typeface="Verdana"/>
              </a:rPr>
              <a:t> </a:t>
            </a:r>
            <a:r>
              <a:rPr sz="2300" spc="45" dirty="0">
                <a:latin typeface="Verdana"/>
                <a:cs typeface="Verdana"/>
              </a:rPr>
              <a:t>dashboard</a:t>
            </a:r>
            <a:r>
              <a:rPr sz="2300" spc="15" dirty="0">
                <a:latin typeface="Verdana"/>
                <a:cs typeface="Verdana"/>
              </a:rPr>
              <a:t> </a:t>
            </a:r>
            <a:r>
              <a:rPr sz="2300" spc="50" dirty="0">
                <a:latin typeface="Verdana"/>
                <a:cs typeface="Verdana"/>
              </a:rPr>
              <a:t>includes</a:t>
            </a:r>
            <a:r>
              <a:rPr sz="2300" spc="20" dirty="0">
                <a:latin typeface="Verdana"/>
                <a:cs typeface="Verdana"/>
              </a:rPr>
              <a:t> </a:t>
            </a:r>
            <a:r>
              <a:rPr sz="2300" spc="-20" dirty="0">
                <a:latin typeface="Verdana"/>
                <a:cs typeface="Verdana"/>
              </a:rPr>
              <a:t>ﬁlters</a:t>
            </a:r>
            <a:r>
              <a:rPr sz="2300" spc="15" dirty="0">
                <a:latin typeface="Verdana"/>
                <a:cs typeface="Verdana"/>
              </a:rPr>
              <a:t> </a:t>
            </a:r>
            <a:r>
              <a:rPr sz="2300" spc="-15" dirty="0">
                <a:latin typeface="Verdana"/>
                <a:cs typeface="Verdana"/>
              </a:rPr>
              <a:t>for</a:t>
            </a:r>
            <a:r>
              <a:rPr sz="2300" spc="20" dirty="0">
                <a:latin typeface="Verdana"/>
                <a:cs typeface="Verdana"/>
              </a:rPr>
              <a:t> </a:t>
            </a:r>
            <a:r>
              <a:rPr sz="2300" spc="45" dirty="0">
                <a:latin typeface="Verdana"/>
                <a:cs typeface="Verdana"/>
              </a:rPr>
              <a:t>selecting</a:t>
            </a:r>
            <a:r>
              <a:rPr sz="2300" spc="15" dirty="0">
                <a:latin typeface="Verdana"/>
                <a:cs typeface="Verdana"/>
              </a:rPr>
              <a:t> </a:t>
            </a:r>
            <a:r>
              <a:rPr sz="2300" spc="40" dirty="0">
                <a:latin typeface="Verdana"/>
                <a:cs typeface="Verdana"/>
              </a:rPr>
              <a:t>speciﬁc</a:t>
            </a:r>
            <a:r>
              <a:rPr sz="2300" spc="15" dirty="0">
                <a:latin typeface="Verdana"/>
                <a:cs typeface="Verdana"/>
              </a:rPr>
              <a:t> </a:t>
            </a:r>
            <a:r>
              <a:rPr sz="2300" spc="-40" dirty="0">
                <a:latin typeface="Verdana"/>
                <a:cs typeface="Verdana"/>
              </a:rPr>
              <a:t>cities,</a:t>
            </a:r>
            <a:r>
              <a:rPr sz="2300" spc="20" dirty="0">
                <a:latin typeface="Verdana"/>
                <a:cs typeface="Verdana"/>
              </a:rPr>
              <a:t> </a:t>
            </a:r>
            <a:r>
              <a:rPr sz="2300" spc="-105" dirty="0">
                <a:latin typeface="Verdana"/>
                <a:cs typeface="Verdana"/>
              </a:rPr>
              <a:t>years,</a:t>
            </a:r>
            <a:r>
              <a:rPr sz="2300" spc="15" dirty="0">
                <a:latin typeface="Verdana"/>
                <a:cs typeface="Verdana"/>
              </a:rPr>
              <a:t> </a:t>
            </a:r>
            <a:r>
              <a:rPr sz="2300" spc="5" dirty="0">
                <a:latin typeface="Verdana"/>
                <a:cs typeface="Verdana"/>
              </a:rPr>
              <a:t>or</a:t>
            </a:r>
            <a:r>
              <a:rPr sz="2300" spc="20" dirty="0">
                <a:latin typeface="Verdana"/>
                <a:cs typeface="Verdana"/>
              </a:rPr>
              <a:t> rating</a:t>
            </a:r>
            <a:r>
              <a:rPr sz="2300" spc="15" dirty="0">
                <a:latin typeface="Verdana"/>
                <a:cs typeface="Verdana"/>
              </a:rPr>
              <a:t> </a:t>
            </a:r>
            <a:r>
              <a:rPr sz="2300" spc="-40" dirty="0">
                <a:latin typeface="Verdana"/>
                <a:cs typeface="Verdana"/>
              </a:rPr>
              <a:t>ranges,</a:t>
            </a:r>
            <a:r>
              <a:rPr sz="2300" spc="15" dirty="0">
                <a:latin typeface="Verdana"/>
                <a:cs typeface="Verdana"/>
              </a:rPr>
              <a:t> </a:t>
            </a:r>
            <a:r>
              <a:rPr sz="2300" spc="85" dirty="0">
                <a:latin typeface="Verdana"/>
                <a:cs typeface="Verdana"/>
              </a:rPr>
              <a:t>making</a:t>
            </a:r>
            <a:r>
              <a:rPr sz="2300" spc="20" dirty="0">
                <a:latin typeface="Verdana"/>
                <a:cs typeface="Verdana"/>
              </a:rPr>
              <a:t> </a:t>
            </a:r>
            <a:r>
              <a:rPr sz="2300" spc="15" dirty="0">
                <a:latin typeface="Verdana"/>
                <a:cs typeface="Verdana"/>
              </a:rPr>
              <a:t>it</a:t>
            </a:r>
            <a:r>
              <a:rPr lang="en-IN" sz="2300" spc="15" dirty="0">
                <a:latin typeface="Verdana"/>
                <a:cs typeface="Verdana"/>
              </a:rPr>
              <a:t> </a:t>
            </a:r>
            <a:r>
              <a:rPr sz="2300" spc="-20" dirty="0">
                <a:latin typeface="Verdana"/>
                <a:cs typeface="Verdana"/>
              </a:rPr>
              <a:t>easier</a:t>
            </a:r>
            <a:r>
              <a:rPr sz="2300" spc="-200" dirty="0">
                <a:latin typeface="Verdana"/>
                <a:cs typeface="Verdana"/>
              </a:rPr>
              <a:t> </a:t>
            </a:r>
            <a:r>
              <a:rPr sz="2300" spc="25" dirty="0">
                <a:latin typeface="Verdana"/>
                <a:cs typeface="Verdana"/>
              </a:rPr>
              <a:t>to</a:t>
            </a:r>
            <a:r>
              <a:rPr sz="2300" spc="-200" dirty="0">
                <a:latin typeface="Verdana"/>
                <a:cs typeface="Verdana"/>
              </a:rPr>
              <a:t> </a:t>
            </a:r>
            <a:r>
              <a:rPr sz="2300" spc="10" dirty="0">
                <a:latin typeface="Verdana"/>
                <a:cs typeface="Verdana"/>
              </a:rPr>
              <a:t>drill</a:t>
            </a:r>
            <a:r>
              <a:rPr sz="2300" spc="-200" dirty="0">
                <a:latin typeface="Verdana"/>
                <a:cs typeface="Verdana"/>
              </a:rPr>
              <a:t> </a:t>
            </a:r>
            <a:r>
              <a:rPr sz="2300" spc="110" dirty="0">
                <a:latin typeface="Verdana"/>
                <a:cs typeface="Verdana"/>
              </a:rPr>
              <a:t>down</a:t>
            </a:r>
            <a:r>
              <a:rPr sz="2300" spc="-200" dirty="0">
                <a:latin typeface="Verdana"/>
                <a:cs typeface="Verdana"/>
              </a:rPr>
              <a:t> </a:t>
            </a:r>
            <a:r>
              <a:rPr sz="2300" spc="40" dirty="0">
                <a:latin typeface="Verdana"/>
                <a:cs typeface="Verdana"/>
              </a:rPr>
              <a:t>into</a:t>
            </a:r>
            <a:r>
              <a:rPr sz="2300" spc="-200" dirty="0">
                <a:latin typeface="Verdana"/>
                <a:cs typeface="Verdana"/>
              </a:rPr>
              <a:t> </a:t>
            </a:r>
            <a:r>
              <a:rPr sz="2300" spc="60" dirty="0">
                <a:latin typeface="Verdana"/>
                <a:cs typeface="Verdana"/>
              </a:rPr>
              <a:t>the</a:t>
            </a:r>
            <a:r>
              <a:rPr sz="2300" spc="-200" dirty="0">
                <a:latin typeface="Verdana"/>
                <a:cs typeface="Verdana"/>
              </a:rPr>
              <a:t> </a:t>
            </a:r>
            <a:r>
              <a:rPr sz="2300" spc="40" dirty="0">
                <a:latin typeface="Verdana"/>
                <a:cs typeface="Verdana"/>
              </a:rPr>
              <a:t>data</a:t>
            </a:r>
            <a:r>
              <a:rPr sz="2300" spc="-200" dirty="0">
                <a:latin typeface="Verdana"/>
                <a:cs typeface="Verdana"/>
              </a:rPr>
              <a:t> </a:t>
            </a:r>
            <a:r>
              <a:rPr sz="2300" spc="-15" dirty="0">
                <a:latin typeface="Verdana"/>
                <a:cs typeface="Verdana"/>
              </a:rPr>
              <a:t>for</a:t>
            </a:r>
            <a:r>
              <a:rPr sz="2300" spc="-200" dirty="0">
                <a:latin typeface="Verdana"/>
                <a:cs typeface="Verdana"/>
              </a:rPr>
              <a:t> </a:t>
            </a:r>
            <a:r>
              <a:rPr sz="2300" spc="60" dirty="0">
                <a:latin typeface="Verdana"/>
                <a:cs typeface="Verdana"/>
              </a:rPr>
              <a:t>more</a:t>
            </a:r>
            <a:r>
              <a:rPr sz="2300" spc="-200" dirty="0">
                <a:latin typeface="Verdana"/>
                <a:cs typeface="Verdana"/>
              </a:rPr>
              <a:t> </a:t>
            </a:r>
            <a:r>
              <a:rPr sz="2300" spc="45" dirty="0">
                <a:latin typeface="Verdana"/>
                <a:cs typeface="Verdana"/>
              </a:rPr>
              <a:t>detailed</a:t>
            </a:r>
            <a:r>
              <a:rPr sz="2300" spc="-200" dirty="0">
                <a:latin typeface="Verdana"/>
                <a:cs typeface="Verdana"/>
              </a:rPr>
              <a:t> </a:t>
            </a:r>
            <a:r>
              <a:rPr sz="2300" spc="-60" dirty="0">
                <a:latin typeface="Verdana"/>
                <a:cs typeface="Verdana"/>
              </a:rPr>
              <a:t>analysis.</a:t>
            </a:r>
            <a:endParaRPr sz="2300" dirty="0">
              <a:latin typeface="Verdana"/>
              <a:cs typeface="Verdana"/>
            </a:endParaRPr>
          </a:p>
          <a:p>
            <a:pPr marL="367030" marR="5715">
              <a:spcBef>
                <a:spcPts val="5"/>
              </a:spcBef>
            </a:pPr>
            <a:r>
              <a:rPr sz="2300" b="1" spc="30" dirty="0">
                <a:latin typeface="Tahoma"/>
                <a:cs typeface="Tahoma"/>
              </a:rPr>
              <a:t>Example:</a:t>
            </a:r>
            <a:r>
              <a:rPr sz="2300" b="1" spc="45" dirty="0">
                <a:latin typeface="Tahoma"/>
                <a:cs typeface="Tahoma"/>
              </a:rPr>
              <a:t> </a:t>
            </a:r>
            <a:r>
              <a:rPr sz="2300" dirty="0">
                <a:latin typeface="Verdana"/>
                <a:cs typeface="Verdana"/>
              </a:rPr>
              <a:t>Users</a:t>
            </a:r>
            <a:r>
              <a:rPr sz="2300" spc="-90" dirty="0">
                <a:latin typeface="Verdana"/>
                <a:cs typeface="Verdana"/>
              </a:rPr>
              <a:t> </a:t>
            </a:r>
            <a:r>
              <a:rPr sz="2300" spc="70" dirty="0">
                <a:latin typeface="Verdana"/>
                <a:cs typeface="Verdana"/>
              </a:rPr>
              <a:t>can</a:t>
            </a:r>
            <a:r>
              <a:rPr sz="2300" spc="-90" dirty="0">
                <a:latin typeface="Verdana"/>
                <a:cs typeface="Verdana"/>
              </a:rPr>
              <a:t> </a:t>
            </a:r>
            <a:r>
              <a:rPr sz="2300" spc="-10" dirty="0">
                <a:latin typeface="Verdana"/>
                <a:cs typeface="Verdana"/>
              </a:rPr>
              <a:t>ﬁlter</a:t>
            </a:r>
            <a:r>
              <a:rPr sz="2300" spc="-85" dirty="0">
                <a:latin typeface="Verdana"/>
                <a:cs typeface="Verdana"/>
              </a:rPr>
              <a:t> </a:t>
            </a:r>
            <a:r>
              <a:rPr sz="2300" spc="60" dirty="0">
                <a:latin typeface="Verdana"/>
                <a:cs typeface="Verdana"/>
              </a:rPr>
              <a:t>the</a:t>
            </a:r>
            <a:r>
              <a:rPr sz="2300" spc="-90" dirty="0">
                <a:latin typeface="Verdana"/>
                <a:cs typeface="Verdana"/>
              </a:rPr>
              <a:t> </a:t>
            </a:r>
            <a:r>
              <a:rPr sz="2300" spc="45" dirty="0">
                <a:latin typeface="Verdana"/>
                <a:cs typeface="Verdana"/>
              </a:rPr>
              <a:t>dashboard</a:t>
            </a:r>
            <a:r>
              <a:rPr sz="2300" spc="-90" dirty="0">
                <a:latin typeface="Verdana"/>
                <a:cs typeface="Verdana"/>
              </a:rPr>
              <a:t> </a:t>
            </a:r>
            <a:r>
              <a:rPr sz="2300" spc="25" dirty="0">
                <a:latin typeface="Verdana"/>
                <a:cs typeface="Verdana"/>
              </a:rPr>
              <a:t>to</a:t>
            </a:r>
            <a:r>
              <a:rPr sz="2300" spc="-85" dirty="0">
                <a:latin typeface="Verdana"/>
                <a:cs typeface="Verdana"/>
              </a:rPr>
              <a:t> </a:t>
            </a:r>
            <a:r>
              <a:rPr sz="2300" spc="15" dirty="0">
                <a:latin typeface="Verdana"/>
                <a:cs typeface="Verdana"/>
              </a:rPr>
              <a:t>view</a:t>
            </a:r>
            <a:r>
              <a:rPr sz="2300" spc="-90" dirty="0">
                <a:latin typeface="Verdana"/>
                <a:cs typeface="Verdana"/>
              </a:rPr>
              <a:t> </a:t>
            </a:r>
            <a:r>
              <a:rPr sz="2300" spc="15" dirty="0">
                <a:latin typeface="Verdana"/>
                <a:cs typeface="Verdana"/>
              </a:rPr>
              <a:t>only</a:t>
            </a:r>
            <a:r>
              <a:rPr sz="2300" spc="-90" dirty="0">
                <a:latin typeface="Verdana"/>
                <a:cs typeface="Verdana"/>
              </a:rPr>
              <a:t> </a:t>
            </a:r>
            <a:r>
              <a:rPr sz="2300" spc="20" dirty="0">
                <a:latin typeface="Verdana"/>
                <a:cs typeface="Verdana"/>
              </a:rPr>
              <a:t>high-rated</a:t>
            </a:r>
            <a:r>
              <a:rPr sz="2300" spc="-85" dirty="0">
                <a:latin typeface="Verdana"/>
                <a:cs typeface="Verdana"/>
              </a:rPr>
              <a:t> </a:t>
            </a:r>
            <a:r>
              <a:rPr sz="2300" spc="-10" dirty="0">
                <a:latin typeface="Verdana"/>
                <a:cs typeface="Verdana"/>
              </a:rPr>
              <a:t>restaurants</a:t>
            </a:r>
            <a:r>
              <a:rPr sz="2300" spc="-90" dirty="0">
                <a:latin typeface="Verdana"/>
                <a:cs typeface="Verdana"/>
              </a:rPr>
              <a:t> </a:t>
            </a:r>
            <a:r>
              <a:rPr sz="2300" spc="55" dirty="0">
                <a:latin typeface="Verdana"/>
                <a:cs typeface="Verdana"/>
              </a:rPr>
              <a:t>in</a:t>
            </a:r>
            <a:r>
              <a:rPr sz="2300" spc="-90" dirty="0">
                <a:latin typeface="Verdana"/>
                <a:cs typeface="Verdana"/>
              </a:rPr>
              <a:t> </a:t>
            </a:r>
            <a:r>
              <a:rPr sz="2300" spc="-10" dirty="0">
                <a:latin typeface="Verdana"/>
                <a:cs typeface="Verdana"/>
              </a:rPr>
              <a:t>a</a:t>
            </a:r>
            <a:r>
              <a:rPr sz="2300" spc="-85" dirty="0">
                <a:latin typeface="Verdana"/>
                <a:cs typeface="Verdana"/>
              </a:rPr>
              <a:t> </a:t>
            </a:r>
            <a:r>
              <a:rPr sz="2300" spc="25" dirty="0">
                <a:latin typeface="Verdana"/>
                <a:cs typeface="Verdana"/>
              </a:rPr>
              <a:t>particular</a:t>
            </a:r>
            <a:r>
              <a:rPr sz="2300" spc="-90" dirty="0">
                <a:latin typeface="Verdana"/>
                <a:cs typeface="Verdana"/>
              </a:rPr>
              <a:t> city, </a:t>
            </a:r>
            <a:r>
              <a:rPr sz="2300" spc="75" dirty="0">
                <a:latin typeface="Verdana"/>
                <a:cs typeface="Verdana"/>
              </a:rPr>
              <a:t>helping</a:t>
            </a:r>
            <a:r>
              <a:rPr sz="2300" spc="-85" dirty="0">
                <a:latin typeface="Verdana"/>
                <a:cs typeface="Verdana"/>
              </a:rPr>
              <a:t> </a:t>
            </a:r>
            <a:r>
              <a:rPr sz="2300" spc="25" dirty="0">
                <a:latin typeface="Verdana"/>
                <a:cs typeface="Verdana"/>
              </a:rPr>
              <a:t>to</a:t>
            </a:r>
            <a:r>
              <a:rPr sz="2300" spc="-90" dirty="0">
                <a:latin typeface="Verdana"/>
                <a:cs typeface="Verdana"/>
              </a:rPr>
              <a:t> </a:t>
            </a:r>
            <a:r>
              <a:rPr sz="2300" spc="30" dirty="0">
                <a:latin typeface="Verdana"/>
                <a:cs typeface="Verdana"/>
              </a:rPr>
              <a:t>focus</a:t>
            </a:r>
            <a:r>
              <a:rPr lang="en-IN" sz="2300" spc="30" dirty="0">
                <a:latin typeface="Verdana"/>
                <a:cs typeface="Verdana"/>
              </a:rPr>
              <a:t> </a:t>
            </a:r>
            <a:r>
              <a:rPr sz="2300" spc="85" dirty="0">
                <a:latin typeface="Verdana"/>
                <a:cs typeface="Verdana"/>
              </a:rPr>
              <a:t>on</a:t>
            </a:r>
            <a:r>
              <a:rPr sz="2300" spc="-200" dirty="0">
                <a:latin typeface="Verdana"/>
                <a:cs typeface="Verdana"/>
              </a:rPr>
              <a:t> </a:t>
            </a:r>
            <a:r>
              <a:rPr sz="2300" spc="45" dirty="0">
                <a:latin typeface="Verdana"/>
                <a:cs typeface="Verdana"/>
              </a:rPr>
              <a:t>top-performing</a:t>
            </a:r>
            <a:r>
              <a:rPr sz="2300" spc="-200" dirty="0">
                <a:latin typeface="Verdana"/>
                <a:cs typeface="Verdana"/>
              </a:rPr>
              <a:t> </a:t>
            </a:r>
            <a:r>
              <a:rPr sz="2300" spc="-35" dirty="0">
                <a:latin typeface="Verdana"/>
                <a:cs typeface="Verdana"/>
              </a:rPr>
              <a:t>areas</a:t>
            </a:r>
            <a:r>
              <a:rPr sz="2300" spc="-200" dirty="0">
                <a:latin typeface="Verdana"/>
                <a:cs typeface="Verdana"/>
              </a:rPr>
              <a:t> </a:t>
            </a:r>
            <a:r>
              <a:rPr sz="2300" spc="-15" dirty="0">
                <a:latin typeface="Verdana"/>
                <a:cs typeface="Verdana"/>
              </a:rPr>
              <a:t>for</a:t>
            </a:r>
            <a:r>
              <a:rPr sz="2300" spc="-200" dirty="0">
                <a:latin typeface="Verdana"/>
                <a:cs typeface="Verdana"/>
              </a:rPr>
              <a:t> </a:t>
            </a:r>
            <a:r>
              <a:rPr sz="2300" spc="10" dirty="0">
                <a:latin typeface="Verdana"/>
                <a:cs typeface="Verdana"/>
              </a:rPr>
              <a:t>strategic</a:t>
            </a:r>
            <a:r>
              <a:rPr sz="2300" spc="-200" dirty="0">
                <a:latin typeface="Verdana"/>
                <a:cs typeface="Verdana"/>
              </a:rPr>
              <a:t> </a:t>
            </a:r>
            <a:r>
              <a:rPr sz="2300" spc="20" dirty="0">
                <a:latin typeface="Verdana"/>
                <a:cs typeface="Verdana"/>
              </a:rPr>
              <a:t>decision-making.</a:t>
            </a:r>
            <a:endParaRPr sz="2300" dirty="0">
              <a:latin typeface="Verdana"/>
              <a:cs typeface="Verdana"/>
            </a:endParaRPr>
          </a:p>
          <a:p>
            <a:pPr>
              <a:spcBef>
                <a:spcPts val="35"/>
              </a:spcBef>
            </a:pPr>
            <a:endParaRPr sz="2800" dirty="0">
              <a:latin typeface="Verdana"/>
              <a:cs typeface="Verdana"/>
            </a:endParaRPr>
          </a:p>
          <a:p>
            <a:pPr marL="12700"/>
            <a:r>
              <a:rPr sz="3000" b="1" spc="45" dirty="0">
                <a:solidFill>
                  <a:srgbClr val="FE0000"/>
                </a:solidFill>
                <a:latin typeface="Tahoma"/>
                <a:cs typeface="Tahoma"/>
              </a:rPr>
              <a:t>Relevance</a:t>
            </a:r>
            <a:r>
              <a:rPr sz="3000" b="1" spc="-65" dirty="0">
                <a:solidFill>
                  <a:srgbClr val="FE0000"/>
                </a:solidFill>
                <a:latin typeface="Tahoma"/>
                <a:cs typeface="Tahoma"/>
              </a:rPr>
              <a:t> </a:t>
            </a:r>
            <a:r>
              <a:rPr sz="3000" b="1" spc="25" dirty="0">
                <a:solidFill>
                  <a:srgbClr val="FE0000"/>
                </a:solidFill>
                <a:latin typeface="Tahoma"/>
                <a:cs typeface="Tahoma"/>
              </a:rPr>
              <a:t>to</a:t>
            </a:r>
            <a:r>
              <a:rPr sz="3000" b="1" spc="-60" dirty="0">
                <a:solidFill>
                  <a:srgbClr val="FE0000"/>
                </a:solidFill>
                <a:latin typeface="Tahoma"/>
                <a:cs typeface="Tahoma"/>
              </a:rPr>
              <a:t> </a:t>
            </a:r>
            <a:r>
              <a:rPr sz="3000" b="1" spc="40" dirty="0">
                <a:solidFill>
                  <a:srgbClr val="FE0000"/>
                </a:solidFill>
                <a:latin typeface="Tahoma"/>
                <a:cs typeface="Tahoma"/>
              </a:rPr>
              <a:t>Decision-Making:</a:t>
            </a:r>
            <a:endParaRPr sz="3000" dirty="0">
              <a:latin typeface="Tahoma"/>
              <a:cs typeface="Tahoma"/>
            </a:endParaRPr>
          </a:p>
          <a:p>
            <a:pPr marL="390525" marR="5080">
              <a:spcBef>
                <a:spcPts val="2525"/>
              </a:spcBef>
              <a:tabLst>
                <a:tab pos="2050414" algn="l"/>
                <a:tab pos="3642360" algn="l"/>
              </a:tabLst>
            </a:pPr>
            <a:r>
              <a:rPr sz="2450" b="1" spc="30" dirty="0">
                <a:latin typeface="Tahoma"/>
                <a:cs typeface="Tahoma"/>
              </a:rPr>
              <a:t>Informed	</a:t>
            </a:r>
            <a:r>
              <a:rPr sz="2450" b="1" spc="-10" dirty="0">
                <a:latin typeface="Tahoma"/>
                <a:cs typeface="Tahoma"/>
              </a:rPr>
              <a:t>Strategy:	</a:t>
            </a:r>
            <a:r>
              <a:rPr sz="2450" spc="5" dirty="0">
                <a:latin typeface="Verdana"/>
                <a:cs typeface="Verdana"/>
              </a:rPr>
              <a:t>These</a:t>
            </a:r>
            <a:r>
              <a:rPr sz="2450" spc="325" dirty="0">
                <a:latin typeface="Verdana"/>
                <a:cs typeface="Verdana"/>
              </a:rPr>
              <a:t> </a:t>
            </a:r>
            <a:r>
              <a:rPr sz="2450" dirty="0">
                <a:latin typeface="Verdana"/>
                <a:cs typeface="Verdana"/>
              </a:rPr>
              <a:t>visualizations</a:t>
            </a:r>
            <a:r>
              <a:rPr sz="2450" spc="330" dirty="0">
                <a:latin typeface="Verdana"/>
                <a:cs typeface="Verdana"/>
              </a:rPr>
              <a:t> </a:t>
            </a:r>
            <a:r>
              <a:rPr sz="2450" spc="20" dirty="0">
                <a:latin typeface="Verdana"/>
                <a:cs typeface="Verdana"/>
              </a:rPr>
              <a:t>provide</a:t>
            </a:r>
            <a:r>
              <a:rPr sz="2450" spc="325" dirty="0">
                <a:latin typeface="Verdana"/>
                <a:cs typeface="Verdana"/>
              </a:rPr>
              <a:t> </a:t>
            </a:r>
            <a:r>
              <a:rPr sz="2450" spc="-15" dirty="0">
                <a:latin typeface="Verdana"/>
                <a:cs typeface="Verdana"/>
              </a:rPr>
              <a:t>a</a:t>
            </a:r>
            <a:r>
              <a:rPr sz="2450" spc="330" dirty="0">
                <a:latin typeface="Verdana"/>
                <a:cs typeface="Verdana"/>
              </a:rPr>
              <a:t> </a:t>
            </a:r>
            <a:r>
              <a:rPr sz="2450" dirty="0">
                <a:latin typeface="Verdana"/>
                <a:cs typeface="Verdana"/>
              </a:rPr>
              <a:t>clear</a:t>
            </a:r>
            <a:r>
              <a:rPr sz="2450" spc="325" dirty="0">
                <a:latin typeface="Verdana"/>
                <a:cs typeface="Verdana"/>
              </a:rPr>
              <a:t> </a:t>
            </a:r>
            <a:r>
              <a:rPr sz="2450" spc="65" dirty="0">
                <a:latin typeface="Verdana"/>
                <a:cs typeface="Verdana"/>
              </a:rPr>
              <a:t>understanding</a:t>
            </a:r>
            <a:r>
              <a:rPr sz="2450" spc="330" dirty="0">
                <a:latin typeface="Verdana"/>
                <a:cs typeface="Verdana"/>
              </a:rPr>
              <a:t> </a:t>
            </a:r>
            <a:r>
              <a:rPr sz="2450" spc="20" dirty="0">
                <a:latin typeface="Verdana"/>
                <a:cs typeface="Verdana"/>
              </a:rPr>
              <a:t>of</a:t>
            </a:r>
            <a:r>
              <a:rPr sz="2450" spc="330" dirty="0">
                <a:latin typeface="Verdana"/>
                <a:cs typeface="Verdana"/>
              </a:rPr>
              <a:t> </a:t>
            </a:r>
            <a:r>
              <a:rPr sz="2450" spc="35" dirty="0">
                <a:latin typeface="Verdana"/>
                <a:cs typeface="Verdana"/>
              </a:rPr>
              <a:t>market</a:t>
            </a:r>
            <a:r>
              <a:rPr sz="2450" spc="325" dirty="0">
                <a:latin typeface="Verdana"/>
                <a:cs typeface="Verdana"/>
              </a:rPr>
              <a:t> </a:t>
            </a:r>
            <a:r>
              <a:rPr sz="2450" spc="5" dirty="0">
                <a:latin typeface="Verdana"/>
                <a:cs typeface="Verdana"/>
              </a:rPr>
              <a:t>dynamics,</a:t>
            </a:r>
            <a:r>
              <a:rPr sz="2450" spc="330" dirty="0">
                <a:latin typeface="Verdana"/>
                <a:cs typeface="Verdana"/>
              </a:rPr>
              <a:t> </a:t>
            </a:r>
            <a:r>
              <a:rPr sz="2450" spc="70" dirty="0">
                <a:latin typeface="Verdana"/>
                <a:cs typeface="Verdana"/>
              </a:rPr>
              <a:t>enabling</a:t>
            </a:r>
            <a:r>
              <a:rPr lang="en-IN" sz="2450" spc="70" dirty="0">
                <a:latin typeface="Verdana"/>
                <a:cs typeface="Verdana"/>
              </a:rPr>
              <a:t> </a:t>
            </a:r>
            <a:r>
              <a:rPr sz="2450" spc="5" dirty="0">
                <a:latin typeface="Verdana"/>
                <a:cs typeface="Verdana"/>
              </a:rPr>
              <a:t>data-driven</a:t>
            </a:r>
            <a:r>
              <a:rPr sz="2450" spc="-215" dirty="0">
                <a:latin typeface="Verdana"/>
                <a:cs typeface="Verdana"/>
              </a:rPr>
              <a:t> </a:t>
            </a:r>
            <a:r>
              <a:rPr sz="2450" spc="35" dirty="0">
                <a:latin typeface="Verdana"/>
                <a:cs typeface="Verdana"/>
              </a:rPr>
              <a:t>decisions</a:t>
            </a:r>
            <a:r>
              <a:rPr sz="2450" spc="-215" dirty="0">
                <a:latin typeface="Verdana"/>
                <a:cs typeface="Verdana"/>
              </a:rPr>
              <a:t> </a:t>
            </a:r>
            <a:r>
              <a:rPr sz="2450" spc="-15" dirty="0">
                <a:latin typeface="Verdana"/>
                <a:cs typeface="Verdana"/>
              </a:rPr>
              <a:t>for</a:t>
            </a:r>
            <a:r>
              <a:rPr sz="2450" spc="-215" dirty="0">
                <a:latin typeface="Verdana"/>
                <a:cs typeface="Verdana"/>
              </a:rPr>
              <a:t> </a:t>
            </a:r>
            <a:r>
              <a:rPr sz="2450" spc="-15" dirty="0">
                <a:latin typeface="Verdana"/>
                <a:cs typeface="Verdana"/>
              </a:rPr>
              <a:t>expansion,</a:t>
            </a:r>
            <a:r>
              <a:rPr sz="2450" spc="-215" dirty="0">
                <a:latin typeface="Verdana"/>
                <a:cs typeface="Verdana"/>
              </a:rPr>
              <a:t> </a:t>
            </a:r>
            <a:r>
              <a:rPr sz="2450" spc="20" dirty="0">
                <a:latin typeface="Verdana"/>
                <a:cs typeface="Verdana"/>
              </a:rPr>
              <a:t>quality</a:t>
            </a:r>
            <a:r>
              <a:rPr sz="2450" spc="-215" dirty="0">
                <a:latin typeface="Verdana"/>
                <a:cs typeface="Verdana"/>
              </a:rPr>
              <a:t> </a:t>
            </a:r>
            <a:r>
              <a:rPr sz="2450" spc="25" dirty="0">
                <a:latin typeface="Verdana"/>
                <a:cs typeface="Verdana"/>
              </a:rPr>
              <a:t>improvement,</a:t>
            </a:r>
            <a:r>
              <a:rPr sz="2450" spc="-210" dirty="0">
                <a:latin typeface="Verdana"/>
                <a:cs typeface="Verdana"/>
              </a:rPr>
              <a:t> </a:t>
            </a:r>
            <a:r>
              <a:rPr sz="2450" spc="85" dirty="0">
                <a:latin typeface="Verdana"/>
                <a:cs typeface="Verdana"/>
              </a:rPr>
              <a:t>and</a:t>
            </a:r>
            <a:r>
              <a:rPr sz="2450" spc="-215" dirty="0">
                <a:latin typeface="Verdana"/>
                <a:cs typeface="Verdana"/>
              </a:rPr>
              <a:t> </a:t>
            </a:r>
            <a:r>
              <a:rPr sz="2450" spc="45" dirty="0">
                <a:latin typeface="Verdana"/>
                <a:cs typeface="Verdana"/>
              </a:rPr>
              <a:t>competitive</a:t>
            </a:r>
            <a:r>
              <a:rPr sz="2450" spc="-215" dirty="0">
                <a:latin typeface="Verdana"/>
                <a:cs typeface="Verdana"/>
              </a:rPr>
              <a:t> </a:t>
            </a:r>
            <a:r>
              <a:rPr sz="2450" spc="-60" dirty="0">
                <a:latin typeface="Verdana"/>
                <a:cs typeface="Verdana"/>
              </a:rPr>
              <a:t>analysis.</a:t>
            </a:r>
            <a:endParaRPr sz="2450" dirty="0">
              <a:latin typeface="Verdana"/>
              <a:cs typeface="Verdana"/>
            </a:endParaRPr>
          </a:p>
          <a:p>
            <a:pPr marL="390525" marR="5080">
              <a:spcBef>
                <a:spcPts val="30"/>
              </a:spcBef>
            </a:pPr>
            <a:r>
              <a:rPr sz="2450" b="1" spc="20" dirty="0">
                <a:latin typeface="Tahoma"/>
                <a:cs typeface="Tahoma"/>
              </a:rPr>
              <a:t>Real-Time</a:t>
            </a:r>
            <a:r>
              <a:rPr sz="2450" b="1" spc="280" dirty="0">
                <a:latin typeface="Tahoma"/>
                <a:cs typeface="Tahoma"/>
              </a:rPr>
              <a:t> </a:t>
            </a:r>
            <a:r>
              <a:rPr sz="2450" b="1" spc="-25" dirty="0">
                <a:latin typeface="Tahoma"/>
                <a:cs typeface="Tahoma"/>
              </a:rPr>
              <a:t>Insights:</a:t>
            </a:r>
            <a:r>
              <a:rPr sz="2450" b="1" spc="285" dirty="0">
                <a:latin typeface="Tahoma"/>
                <a:cs typeface="Tahoma"/>
              </a:rPr>
              <a:t> </a:t>
            </a:r>
            <a:r>
              <a:rPr sz="2450" spc="-25" dirty="0">
                <a:latin typeface="Verdana"/>
                <a:cs typeface="Verdana"/>
              </a:rPr>
              <a:t>Interactive</a:t>
            </a:r>
            <a:r>
              <a:rPr sz="2450" spc="105" dirty="0">
                <a:latin typeface="Verdana"/>
                <a:cs typeface="Verdana"/>
              </a:rPr>
              <a:t> </a:t>
            </a:r>
            <a:r>
              <a:rPr sz="2450" spc="-5" dirty="0">
                <a:latin typeface="Verdana"/>
                <a:cs typeface="Verdana"/>
              </a:rPr>
              <a:t>features</a:t>
            </a:r>
            <a:r>
              <a:rPr sz="2450" spc="110" dirty="0">
                <a:latin typeface="Verdana"/>
                <a:cs typeface="Verdana"/>
              </a:rPr>
              <a:t> </a:t>
            </a:r>
            <a:r>
              <a:rPr sz="2450" spc="30" dirty="0">
                <a:latin typeface="Verdana"/>
                <a:cs typeface="Verdana"/>
              </a:rPr>
              <a:t>allow</a:t>
            </a:r>
            <a:r>
              <a:rPr sz="2450" spc="105" dirty="0">
                <a:latin typeface="Verdana"/>
                <a:cs typeface="Verdana"/>
              </a:rPr>
              <a:t> </a:t>
            </a:r>
            <a:r>
              <a:rPr sz="2450" spc="15" dirty="0">
                <a:latin typeface="Verdana"/>
                <a:cs typeface="Verdana"/>
              </a:rPr>
              <a:t>stakeholders</a:t>
            </a:r>
            <a:r>
              <a:rPr sz="2450" spc="110" dirty="0">
                <a:latin typeface="Verdana"/>
                <a:cs typeface="Verdana"/>
              </a:rPr>
              <a:t> </a:t>
            </a:r>
            <a:r>
              <a:rPr sz="2450" spc="25" dirty="0">
                <a:latin typeface="Verdana"/>
                <a:cs typeface="Verdana"/>
              </a:rPr>
              <a:t>to</a:t>
            </a:r>
            <a:r>
              <a:rPr sz="2450" spc="105" dirty="0">
                <a:latin typeface="Verdana"/>
                <a:cs typeface="Verdana"/>
              </a:rPr>
              <a:t> </a:t>
            </a:r>
            <a:r>
              <a:rPr sz="2450" dirty="0">
                <a:latin typeface="Verdana"/>
                <a:cs typeface="Verdana"/>
              </a:rPr>
              <a:t>explore</a:t>
            </a:r>
            <a:r>
              <a:rPr sz="2450" spc="110" dirty="0">
                <a:latin typeface="Verdana"/>
                <a:cs typeface="Verdana"/>
              </a:rPr>
              <a:t> </a:t>
            </a:r>
            <a:r>
              <a:rPr sz="2450" spc="25" dirty="0">
                <a:latin typeface="Verdana"/>
                <a:cs typeface="Verdana"/>
              </a:rPr>
              <a:t>different</a:t>
            </a:r>
            <a:r>
              <a:rPr sz="2450" spc="105" dirty="0">
                <a:latin typeface="Verdana"/>
                <a:cs typeface="Verdana"/>
              </a:rPr>
              <a:t> </a:t>
            </a:r>
            <a:r>
              <a:rPr sz="2450" spc="-30" dirty="0">
                <a:latin typeface="Verdana"/>
                <a:cs typeface="Verdana"/>
              </a:rPr>
              <a:t>scenarios,</a:t>
            </a:r>
            <a:r>
              <a:rPr sz="2450" spc="110" dirty="0">
                <a:latin typeface="Verdana"/>
                <a:cs typeface="Verdana"/>
              </a:rPr>
              <a:t> </a:t>
            </a:r>
            <a:r>
              <a:rPr sz="2450" spc="50" dirty="0">
                <a:latin typeface="Verdana"/>
                <a:cs typeface="Verdana"/>
              </a:rPr>
              <a:t>ensuring</a:t>
            </a:r>
            <a:r>
              <a:rPr sz="2450" spc="110" dirty="0">
                <a:latin typeface="Verdana"/>
                <a:cs typeface="Verdana"/>
              </a:rPr>
              <a:t> </a:t>
            </a:r>
            <a:r>
              <a:rPr sz="2450" spc="45" dirty="0">
                <a:latin typeface="Verdana"/>
                <a:cs typeface="Verdana"/>
              </a:rPr>
              <a:t>that</a:t>
            </a:r>
            <a:r>
              <a:rPr lang="en-IN" sz="2450" spc="45" dirty="0">
                <a:latin typeface="Verdana"/>
                <a:cs typeface="Verdana"/>
              </a:rPr>
              <a:t> </a:t>
            </a:r>
            <a:r>
              <a:rPr sz="2450" spc="65" dirty="0">
                <a:latin typeface="Verdana"/>
                <a:cs typeface="Verdana"/>
              </a:rPr>
              <a:t>the</a:t>
            </a:r>
            <a:r>
              <a:rPr sz="2450" spc="-215" dirty="0">
                <a:latin typeface="Verdana"/>
                <a:cs typeface="Verdana"/>
              </a:rPr>
              <a:t> </a:t>
            </a:r>
            <a:r>
              <a:rPr sz="2450" spc="65" dirty="0">
                <a:latin typeface="Verdana"/>
                <a:cs typeface="Verdana"/>
              </a:rPr>
              <a:t>recommendations</a:t>
            </a:r>
            <a:r>
              <a:rPr sz="2450" spc="-215" dirty="0">
                <a:latin typeface="Verdana"/>
                <a:cs typeface="Verdana"/>
              </a:rPr>
              <a:t> </a:t>
            </a:r>
            <a:r>
              <a:rPr sz="2450" spc="-25" dirty="0">
                <a:latin typeface="Verdana"/>
                <a:cs typeface="Verdana"/>
              </a:rPr>
              <a:t>are</a:t>
            </a:r>
            <a:r>
              <a:rPr sz="2450" spc="-215" dirty="0">
                <a:latin typeface="Verdana"/>
                <a:cs typeface="Verdana"/>
              </a:rPr>
              <a:t> </a:t>
            </a:r>
            <a:r>
              <a:rPr sz="2450" spc="60" dirty="0">
                <a:latin typeface="Verdana"/>
                <a:cs typeface="Verdana"/>
              </a:rPr>
              <a:t>aligned</a:t>
            </a:r>
            <a:r>
              <a:rPr sz="2450" spc="-215" dirty="0">
                <a:latin typeface="Verdana"/>
                <a:cs typeface="Verdana"/>
              </a:rPr>
              <a:t> </a:t>
            </a:r>
            <a:r>
              <a:rPr sz="2450" spc="80" dirty="0">
                <a:latin typeface="Verdana"/>
                <a:cs typeface="Verdana"/>
              </a:rPr>
              <a:t>with</a:t>
            </a:r>
            <a:r>
              <a:rPr sz="2450" spc="-215" dirty="0">
                <a:latin typeface="Verdana"/>
                <a:cs typeface="Verdana"/>
              </a:rPr>
              <a:t> </a:t>
            </a:r>
            <a:r>
              <a:rPr sz="2450" spc="65" dirty="0">
                <a:latin typeface="Verdana"/>
                <a:cs typeface="Verdana"/>
              </a:rPr>
              <a:t>the</a:t>
            </a:r>
            <a:r>
              <a:rPr sz="2450" spc="-215" dirty="0">
                <a:latin typeface="Verdana"/>
                <a:cs typeface="Verdana"/>
              </a:rPr>
              <a:t> </a:t>
            </a:r>
            <a:r>
              <a:rPr sz="2450" spc="-5" dirty="0">
                <a:latin typeface="Verdana"/>
                <a:cs typeface="Verdana"/>
              </a:rPr>
              <a:t>latest</a:t>
            </a:r>
            <a:r>
              <a:rPr sz="2450" spc="-215" dirty="0">
                <a:latin typeface="Verdana"/>
                <a:cs typeface="Verdana"/>
              </a:rPr>
              <a:t> </a:t>
            </a:r>
            <a:r>
              <a:rPr sz="2450" spc="40" dirty="0">
                <a:latin typeface="Verdana"/>
                <a:cs typeface="Verdana"/>
              </a:rPr>
              <a:t>data</a:t>
            </a:r>
            <a:r>
              <a:rPr sz="2450" spc="-215" dirty="0">
                <a:latin typeface="Verdana"/>
                <a:cs typeface="Verdana"/>
              </a:rPr>
              <a:t> </a:t>
            </a:r>
            <a:r>
              <a:rPr sz="2450" spc="-25" dirty="0">
                <a:latin typeface="Verdana"/>
                <a:cs typeface="Verdana"/>
              </a:rPr>
              <a:t>trends.</a:t>
            </a:r>
            <a:endParaRPr sz="2450" dirty="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47734" y="642976"/>
            <a:ext cx="247396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>
                <a:solidFill>
                  <a:srgbClr val="FE0000"/>
                </a:solidFill>
              </a:rPr>
              <a:t>Interactivity: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248430" y="0"/>
            <a:ext cx="8010525" cy="10246995"/>
            <a:chOff x="10248430" y="0"/>
            <a:chExt cx="8010525" cy="10246995"/>
          </a:xfrm>
        </p:grpSpPr>
        <p:sp>
          <p:nvSpPr>
            <p:cNvPr id="3" name="object 3"/>
            <p:cNvSpPr/>
            <p:nvPr/>
          </p:nvSpPr>
          <p:spPr>
            <a:xfrm>
              <a:off x="10248430" y="0"/>
              <a:ext cx="8010525" cy="10246995"/>
            </a:xfrm>
            <a:custGeom>
              <a:avLst/>
              <a:gdLst/>
              <a:ahLst/>
              <a:cxnLst/>
              <a:rect l="l" t="t" r="r" b="b"/>
              <a:pathLst>
                <a:path w="8010525" h="10246995">
                  <a:moveTo>
                    <a:pt x="0" y="10246556"/>
                  </a:moveTo>
                  <a:lnTo>
                    <a:pt x="8010525" y="10246556"/>
                  </a:lnTo>
                  <a:lnTo>
                    <a:pt x="8010525" y="0"/>
                  </a:lnTo>
                  <a:lnTo>
                    <a:pt x="0" y="0"/>
                  </a:lnTo>
                  <a:lnTo>
                    <a:pt x="0" y="102465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284650" y="938987"/>
              <a:ext cx="7973059" cy="9305925"/>
            </a:xfrm>
            <a:custGeom>
              <a:avLst/>
              <a:gdLst/>
              <a:ahLst/>
              <a:cxnLst/>
              <a:rect l="l" t="t" r="r" b="b"/>
              <a:pathLst>
                <a:path w="7973059" h="9305925">
                  <a:moveTo>
                    <a:pt x="5158460" y="6551066"/>
                  </a:moveTo>
                  <a:lnTo>
                    <a:pt x="3434270" y="6551066"/>
                  </a:lnTo>
                  <a:lnTo>
                    <a:pt x="3434270" y="9305925"/>
                  </a:lnTo>
                  <a:lnTo>
                    <a:pt x="5158460" y="9305925"/>
                  </a:lnTo>
                  <a:lnTo>
                    <a:pt x="5158460" y="6551066"/>
                  </a:lnTo>
                  <a:close/>
                </a:path>
                <a:path w="7973059" h="9305925">
                  <a:moveTo>
                    <a:pt x="5158460" y="3447021"/>
                  </a:moveTo>
                  <a:lnTo>
                    <a:pt x="3434270" y="3447021"/>
                  </a:lnTo>
                  <a:lnTo>
                    <a:pt x="3434270" y="4137279"/>
                  </a:lnTo>
                  <a:lnTo>
                    <a:pt x="5158460" y="4137279"/>
                  </a:lnTo>
                  <a:lnTo>
                    <a:pt x="5158460" y="3447021"/>
                  </a:lnTo>
                  <a:close/>
                </a:path>
                <a:path w="7973059" h="9305925">
                  <a:moveTo>
                    <a:pt x="5158460" y="0"/>
                  </a:moveTo>
                  <a:lnTo>
                    <a:pt x="3434270" y="0"/>
                  </a:lnTo>
                  <a:lnTo>
                    <a:pt x="3434270" y="1033856"/>
                  </a:lnTo>
                  <a:lnTo>
                    <a:pt x="5158460" y="1033856"/>
                  </a:lnTo>
                  <a:lnTo>
                    <a:pt x="5158460" y="0"/>
                  </a:lnTo>
                  <a:close/>
                </a:path>
                <a:path w="7973059" h="9305925">
                  <a:moveTo>
                    <a:pt x="7227125" y="4482401"/>
                  </a:moveTo>
                  <a:lnTo>
                    <a:pt x="1018082" y="4482401"/>
                  </a:lnTo>
                  <a:lnTo>
                    <a:pt x="0" y="5344312"/>
                  </a:lnTo>
                  <a:lnTo>
                    <a:pt x="1018082" y="6206236"/>
                  </a:lnTo>
                  <a:lnTo>
                    <a:pt x="7227125" y="6206236"/>
                  </a:lnTo>
                  <a:lnTo>
                    <a:pt x="6377876" y="5344312"/>
                  </a:lnTo>
                  <a:lnTo>
                    <a:pt x="7227125" y="4482401"/>
                  </a:lnTo>
                  <a:close/>
                </a:path>
                <a:path w="7973059" h="9305925">
                  <a:moveTo>
                    <a:pt x="7972488" y="2240902"/>
                  </a:moveTo>
                  <a:lnTo>
                    <a:pt x="7000938" y="1379296"/>
                  </a:lnTo>
                  <a:lnTo>
                    <a:pt x="1021461" y="1379296"/>
                  </a:lnTo>
                  <a:lnTo>
                    <a:pt x="1838807" y="2240902"/>
                  </a:lnTo>
                  <a:lnTo>
                    <a:pt x="1021461" y="3102800"/>
                  </a:lnTo>
                  <a:lnTo>
                    <a:pt x="7000938" y="3102800"/>
                  </a:lnTo>
                  <a:lnTo>
                    <a:pt x="7972488" y="2240902"/>
                  </a:lnTo>
                  <a:close/>
                </a:path>
              </a:pathLst>
            </a:custGeom>
            <a:solidFill>
              <a:srgbClr val="C9C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30277" y="2568895"/>
              <a:ext cx="5219700" cy="119657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42662" y="5620880"/>
              <a:ext cx="5543550" cy="136832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378212" y="1436179"/>
            <a:ext cx="9665335" cy="7818755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 marR="5080">
              <a:lnSpc>
                <a:spcPct val="103299"/>
              </a:lnSpc>
              <a:spcBef>
                <a:spcPts val="30"/>
              </a:spcBef>
            </a:pPr>
            <a:r>
              <a:rPr sz="2300" b="1" spc="25" dirty="0">
                <a:latin typeface="Tahoma"/>
                <a:cs typeface="Tahoma"/>
              </a:rPr>
              <a:t>This </a:t>
            </a:r>
            <a:r>
              <a:rPr sz="2300" b="1" spc="20" dirty="0">
                <a:latin typeface="Tahoma"/>
                <a:cs typeface="Tahoma"/>
              </a:rPr>
              <a:t>analysis </a:t>
            </a:r>
            <a:r>
              <a:rPr sz="2300" b="1" spc="25" dirty="0">
                <a:latin typeface="Tahoma"/>
                <a:cs typeface="Tahoma"/>
              </a:rPr>
              <a:t>of </a:t>
            </a:r>
            <a:r>
              <a:rPr sz="2300" b="1" spc="50" dirty="0">
                <a:latin typeface="Tahoma"/>
                <a:cs typeface="Tahoma"/>
              </a:rPr>
              <a:t>Zomato’s </a:t>
            </a:r>
            <a:r>
              <a:rPr sz="2300" b="1" spc="25" dirty="0">
                <a:latin typeface="Tahoma"/>
                <a:cs typeface="Tahoma"/>
              </a:rPr>
              <a:t>restaurant </a:t>
            </a:r>
            <a:r>
              <a:rPr sz="2300" b="1" spc="60" dirty="0">
                <a:latin typeface="Tahoma"/>
                <a:cs typeface="Tahoma"/>
              </a:rPr>
              <a:t>data </a:t>
            </a:r>
            <a:r>
              <a:rPr sz="2300" b="1" spc="5" dirty="0">
                <a:latin typeface="Tahoma"/>
                <a:cs typeface="Tahoma"/>
              </a:rPr>
              <a:t>reveals </a:t>
            </a:r>
            <a:r>
              <a:rPr sz="2300" b="1" dirty="0">
                <a:latin typeface="Tahoma"/>
                <a:cs typeface="Tahoma"/>
              </a:rPr>
              <a:t>several </a:t>
            </a:r>
            <a:r>
              <a:rPr sz="2300" b="1" spc="25" dirty="0">
                <a:latin typeface="Tahoma"/>
                <a:cs typeface="Tahoma"/>
              </a:rPr>
              <a:t>critical </a:t>
            </a:r>
            <a:r>
              <a:rPr sz="2300" b="1" spc="-660" dirty="0">
                <a:latin typeface="Tahoma"/>
                <a:cs typeface="Tahoma"/>
              </a:rPr>
              <a:t> </a:t>
            </a:r>
            <a:r>
              <a:rPr sz="2300" b="1" spc="15" dirty="0">
                <a:latin typeface="Tahoma"/>
                <a:cs typeface="Tahoma"/>
              </a:rPr>
              <a:t>insights:</a:t>
            </a:r>
            <a:endParaRPr sz="2300">
              <a:latin typeface="Tahoma"/>
              <a:cs typeface="Tahoma"/>
            </a:endParaRPr>
          </a:p>
          <a:p>
            <a:pPr marL="366395" marR="5080" indent="-347345" algn="just">
              <a:lnSpc>
                <a:spcPct val="100499"/>
              </a:lnSpc>
              <a:spcBef>
                <a:spcPts val="5"/>
              </a:spcBef>
            </a:pPr>
            <a:r>
              <a:rPr sz="2300" dirty="0">
                <a:latin typeface="Verdana"/>
                <a:cs typeface="Verdana"/>
              </a:rPr>
              <a:t>L. </a:t>
            </a:r>
            <a:r>
              <a:rPr sz="2300" b="1" spc="45" dirty="0">
                <a:latin typeface="Tahoma"/>
                <a:cs typeface="Tahoma"/>
              </a:rPr>
              <a:t>Global</a:t>
            </a:r>
            <a:r>
              <a:rPr sz="2300" b="1" spc="50" dirty="0">
                <a:latin typeface="Tahoma"/>
                <a:cs typeface="Tahoma"/>
              </a:rPr>
              <a:t> </a:t>
            </a:r>
            <a:r>
              <a:rPr sz="2300" b="1" spc="70" dirty="0">
                <a:latin typeface="Tahoma"/>
                <a:cs typeface="Tahoma"/>
              </a:rPr>
              <a:t>Reach</a:t>
            </a:r>
            <a:r>
              <a:rPr sz="2300" b="1" spc="75" dirty="0">
                <a:latin typeface="Tahoma"/>
                <a:cs typeface="Tahoma"/>
              </a:rPr>
              <a:t> </a:t>
            </a:r>
            <a:r>
              <a:rPr sz="2300" b="1" spc="100" dirty="0">
                <a:latin typeface="Tahoma"/>
                <a:cs typeface="Tahoma"/>
              </a:rPr>
              <a:t>and</a:t>
            </a:r>
            <a:r>
              <a:rPr sz="2300" b="1" spc="105" dirty="0">
                <a:latin typeface="Tahoma"/>
                <a:cs typeface="Tahoma"/>
              </a:rPr>
              <a:t> </a:t>
            </a:r>
            <a:r>
              <a:rPr sz="2300" b="1" spc="-5" dirty="0">
                <a:latin typeface="Tahoma"/>
                <a:cs typeface="Tahoma"/>
              </a:rPr>
              <a:t>Diversity:</a:t>
            </a:r>
            <a:r>
              <a:rPr sz="2300" b="1" dirty="0">
                <a:latin typeface="Tahoma"/>
                <a:cs typeface="Tahoma"/>
              </a:rPr>
              <a:t> </a:t>
            </a:r>
            <a:r>
              <a:rPr sz="2300" spc="100" dirty="0">
                <a:latin typeface="Verdana"/>
                <a:cs typeface="Verdana"/>
              </a:rPr>
              <a:t>With </a:t>
            </a:r>
            <a:r>
              <a:rPr sz="2300" spc="-35" dirty="0">
                <a:latin typeface="Verdana"/>
                <a:cs typeface="Verdana"/>
              </a:rPr>
              <a:t>over</a:t>
            </a:r>
            <a:r>
              <a:rPr sz="2300" spc="-30" dirty="0">
                <a:latin typeface="Verdana"/>
                <a:cs typeface="Verdana"/>
              </a:rPr>
              <a:t> </a:t>
            </a:r>
            <a:r>
              <a:rPr sz="2300" spc="-85" dirty="0">
                <a:latin typeface="Verdana"/>
                <a:cs typeface="Verdana"/>
              </a:rPr>
              <a:t>9,500</a:t>
            </a:r>
            <a:r>
              <a:rPr sz="2300" spc="-80" dirty="0">
                <a:latin typeface="Verdana"/>
                <a:cs typeface="Verdana"/>
              </a:rPr>
              <a:t> </a:t>
            </a:r>
            <a:r>
              <a:rPr sz="2300" spc="-10" dirty="0">
                <a:latin typeface="Verdana"/>
                <a:cs typeface="Verdana"/>
              </a:rPr>
              <a:t>restaurants </a:t>
            </a:r>
            <a:r>
              <a:rPr sz="2300" spc="-5" dirty="0">
                <a:latin typeface="Verdana"/>
                <a:cs typeface="Verdana"/>
              </a:rPr>
              <a:t> </a:t>
            </a:r>
            <a:r>
              <a:rPr sz="2300" spc="-10" dirty="0">
                <a:latin typeface="Verdana"/>
                <a:cs typeface="Verdana"/>
              </a:rPr>
              <a:t>across </a:t>
            </a:r>
            <a:r>
              <a:rPr sz="2300" spc="-385" dirty="0">
                <a:latin typeface="Verdana"/>
                <a:cs typeface="Verdana"/>
              </a:rPr>
              <a:t>15</a:t>
            </a:r>
            <a:r>
              <a:rPr sz="2300" spc="-380" dirty="0">
                <a:latin typeface="Verdana"/>
                <a:cs typeface="Verdana"/>
              </a:rPr>
              <a:t> </a:t>
            </a:r>
            <a:r>
              <a:rPr sz="2300" spc="30" dirty="0">
                <a:latin typeface="Verdana"/>
                <a:cs typeface="Verdana"/>
              </a:rPr>
              <a:t>countries </a:t>
            </a:r>
            <a:r>
              <a:rPr sz="2300" spc="80" dirty="0">
                <a:latin typeface="Verdana"/>
                <a:cs typeface="Verdana"/>
              </a:rPr>
              <a:t>and </a:t>
            </a:r>
            <a:r>
              <a:rPr sz="2300" spc="-415" dirty="0">
                <a:latin typeface="Verdana"/>
                <a:cs typeface="Verdana"/>
              </a:rPr>
              <a:t>141</a:t>
            </a:r>
            <a:r>
              <a:rPr sz="2300" spc="-409" dirty="0">
                <a:latin typeface="Verdana"/>
                <a:cs typeface="Verdana"/>
              </a:rPr>
              <a:t> </a:t>
            </a:r>
            <a:r>
              <a:rPr sz="2300" spc="-40" dirty="0">
                <a:latin typeface="Verdana"/>
                <a:cs typeface="Verdana"/>
              </a:rPr>
              <a:t>cities, </a:t>
            </a:r>
            <a:r>
              <a:rPr sz="2300" spc="35" dirty="0">
                <a:latin typeface="Verdana"/>
                <a:cs typeface="Verdana"/>
              </a:rPr>
              <a:t>Zomato </a:t>
            </a:r>
            <a:r>
              <a:rPr sz="2300" spc="10" dirty="0">
                <a:latin typeface="Verdana"/>
                <a:cs typeface="Verdana"/>
              </a:rPr>
              <a:t>has </a:t>
            </a:r>
            <a:r>
              <a:rPr sz="2300" spc="30" dirty="0">
                <a:latin typeface="Verdana"/>
                <a:cs typeface="Verdana"/>
              </a:rPr>
              <a:t>established </a:t>
            </a:r>
            <a:r>
              <a:rPr sz="2300" spc="-10" dirty="0">
                <a:latin typeface="Verdana"/>
                <a:cs typeface="Verdana"/>
              </a:rPr>
              <a:t>a </a:t>
            </a:r>
            <a:r>
              <a:rPr sz="2300" spc="-5" dirty="0">
                <a:latin typeface="Verdana"/>
                <a:cs typeface="Verdana"/>
              </a:rPr>
              <a:t> </a:t>
            </a:r>
            <a:r>
              <a:rPr sz="2300" spc="40" dirty="0">
                <a:latin typeface="Verdana"/>
                <a:cs typeface="Verdana"/>
              </a:rPr>
              <a:t>signiﬁcant</a:t>
            </a:r>
            <a:r>
              <a:rPr sz="2300" spc="-65" dirty="0">
                <a:latin typeface="Verdana"/>
                <a:cs typeface="Verdana"/>
              </a:rPr>
              <a:t> </a:t>
            </a:r>
            <a:r>
              <a:rPr sz="2300" spc="55" dirty="0">
                <a:latin typeface="Verdana"/>
                <a:cs typeface="Verdana"/>
              </a:rPr>
              <a:t>global</a:t>
            </a:r>
            <a:r>
              <a:rPr sz="2300" spc="-60" dirty="0">
                <a:latin typeface="Verdana"/>
                <a:cs typeface="Verdana"/>
              </a:rPr>
              <a:t> </a:t>
            </a:r>
            <a:r>
              <a:rPr sz="2300" spc="-5" dirty="0">
                <a:latin typeface="Verdana"/>
                <a:cs typeface="Verdana"/>
              </a:rPr>
              <a:t>presence.</a:t>
            </a:r>
            <a:r>
              <a:rPr sz="2300" spc="-65" dirty="0">
                <a:latin typeface="Verdana"/>
                <a:cs typeface="Verdana"/>
              </a:rPr>
              <a:t> </a:t>
            </a:r>
            <a:r>
              <a:rPr sz="2300" spc="20" dirty="0">
                <a:latin typeface="Verdana"/>
                <a:cs typeface="Verdana"/>
              </a:rPr>
              <a:t>The</a:t>
            </a:r>
            <a:r>
              <a:rPr sz="2300" spc="-60" dirty="0">
                <a:latin typeface="Verdana"/>
                <a:cs typeface="Verdana"/>
              </a:rPr>
              <a:t> </a:t>
            </a:r>
            <a:r>
              <a:rPr sz="2300" spc="-10" dirty="0">
                <a:latin typeface="Verdana"/>
                <a:cs typeface="Verdana"/>
              </a:rPr>
              <a:t>diverse</a:t>
            </a:r>
            <a:r>
              <a:rPr sz="2300" spc="-65" dirty="0">
                <a:latin typeface="Verdana"/>
                <a:cs typeface="Verdana"/>
              </a:rPr>
              <a:t> </a:t>
            </a:r>
            <a:r>
              <a:rPr sz="2300" spc="25" dirty="0">
                <a:latin typeface="Verdana"/>
                <a:cs typeface="Verdana"/>
              </a:rPr>
              <a:t>range</a:t>
            </a:r>
            <a:r>
              <a:rPr sz="2300" spc="-60" dirty="0">
                <a:latin typeface="Verdana"/>
                <a:cs typeface="Verdana"/>
              </a:rPr>
              <a:t> </a:t>
            </a:r>
            <a:r>
              <a:rPr sz="2300" spc="20" dirty="0">
                <a:latin typeface="Verdana"/>
                <a:cs typeface="Verdana"/>
              </a:rPr>
              <a:t>of</a:t>
            </a:r>
            <a:r>
              <a:rPr sz="2300" spc="-65" dirty="0">
                <a:latin typeface="Verdana"/>
                <a:cs typeface="Verdana"/>
              </a:rPr>
              <a:t> </a:t>
            </a:r>
            <a:r>
              <a:rPr sz="2300" spc="-225" dirty="0">
                <a:latin typeface="Verdana"/>
                <a:cs typeface="Verdana"/>
              </a:rPr>
              <a:t>1,826</a:t>
            </a:r>
            <a:r>
              <a:rPr sz="2300" spc="-60" dirty="0">
                <a:latin typeface="Verdana"/>
                <a:cs typeface="Verdana"/>
              </a:rPr>
              <a:t> </a:t>
            </a:r>
            <a:r>
              <a:rPr sz="2300" spc="25" dirty="0">
                <a:latin typeface="Verdana"/>
                <a:cs typeface="Verdana"/>
              </a:rPr>
              <a:t>cuisines </a:t>
            </a:r>
            <a:r>
              <a:rPr sz="2300" spc="-795" dirty="0">
                <a:latin typeface="Verdana"/>
                <a:cs typeface="Verdana"/>
              </a:rPr>
              <a:t> </a:t>
            </a:r>
            <a:r>
              <a:rPr sz="2300" spc="25" dirty="0">
                <a:latin typeface="Verdana"/>
                <a:cs typeface="Verdana"/>
              </a:rPr>
              <a:t>underscores</a:t>
            </a:r>
            <a:r>
              <a:rPr sz="2300" spc="-200" dirty="0">
                <a:latin typeface="Verdana"/>
                <a:cs typeface="Verdana"/>
              </a:rPr>
              <a:t> </a:t>
            </a:r>
            <a:r>
              <a:rPr sz="2300" spc="-15" dirty="0">
                <a:latin typeface="Verdana"/>
                <a:cs typeface="Verdana"/>
              </a:rPr>
              <a:t>its</a:t>
            </a:r>
            <a:r>
              <a:rPr sz="2300" spc="-200" dirty="0">
                <a:latin typeface="Verdana"/>
                <a:cs typeface="Verdana"/>
              </a:rPr>
              <a:t> </a:t>
            </a:r>
            <a:r>
              <a:rPr sz="2300" spc="40" dirty="0">
                <a:latin typeface="Verdana"/>
                <a:cs typeface="Verdana"/>
              </a:rPr>
              <a:t>appeal</a:t>
            </a:r>
            <a:r>
              <a:rPr sz="2300" spc="-200" dirty="0">
                <a:latin typeface="Verdana"/>
                <a:cs typeface="Verdana"/>
              </a:rPr>
              <a:t> </a:t>
            </a:r>
            <a:r>
              <a:rPr sz="2300" spc="25" dirty="0">
                <a:latin typeface="Verdana"/>
                <a:cs typeface="Verdana"/>
              </a:rPr>
              <a:t>to</a:t>
            </a:r>
            <a:r>
              <a:rPr sz="2300" spc="-200" dirty="0">
                <a:latin typeface="Verdana"/>
                <a:cs typeface="Verdana"/>
              </a:rPr>
              <a:t> </a:t>
            </a:r>
            <a:r>
              <a:rPr sz="2300" spc="-10" dirty="0">
                <a:latin typeface="Verdana"/>
                <a:cs typeface="Verdana"/>
              </a:rPr>
              <a:t>a</a:t>
            </a:r>
            <a:r>
              <a:rPr sz="2300" spc="-200" dirty="0">
                <a:latin typeface="Verdana"/>
                <a:cs typeface="Verdana"/>
              </a:rPr>
              <a:t> </a:t>
            </a:r>
            <a:r>
              <a:rPr sz="2300" spc="80" dirty="0">
                <a:latin typeface="Verdana"/>
                <a:cs typeface="Verdana"/>
              </a:rPr>
              <a:t>wide</a:t>
            </a:r>
            <a:r>
              <a:rPr sz="2300" spc="-200" dirty="0">
                <a:latin typeface="Verdana"/>
                <a:cs typeface="Verdana"/>
              </a:rPr>
              <a:t> </a:t>
            </a:r>
            <a:r>
              <a:rPr sz="2300" spc="-40" dirty="0">
                <a:latin typeface="Verdana"/>
                <a:cs typeface="Verdana"/>
              </a:rPr>
              <a:t>variety</a:t>
            </a:r>
            <a:r>
              <a:rPr sz="2300" spc="-200" dirty="0">
                <a:latin typeface="Verdana"/>
                <a:cs typeface="Verdana"/>
              </a:rPr>
              <a:t> </a:t>
            </a:r>
            <a:r>
              <a:rPr sz="2300" spc="20" dirty="0">
                <a:latin typeface="Verdana"/>
                <a:cs typeface="Verdana"/>
              </a:rPr>
              <a:t>of</a:t>
            </a:r>
            <a:r>
              <a:rPr sz="2300" spc="-200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customers.</a:t>
            </a:r>
            <a:endParaRPr sz="2300">
              <a:latin typeface="Verdana"/>
              <a:cs typeface="Verdana"/>
            </a:endParaRPr>
          </a:p>
          <a:p>
            <a:pPr marL="366395" marR="5080" indent="-347345" algn="just">
              <a:lnSpc>
                <a:spcPct val="100499"/>
              </a:lnSpc>
              <a:spcBef>
                <a:spcPts val="75"/>
              </a:spcBef>
              <a:buFont typeface="Verdana"/>
              <a:buAutoNum type="arabicPeriod" startAt="2"/>
              <a:tabLst>
                <a:tab pos="367030" algn="l"/>
              </a:tabLst>
            </a:pPr>
            <a:r>
              <a:rPr sz="2300" b="1" spc="75" dirty="0">
                <a:latin typeface="Tahoma"/>
                <a:cs typeface="Tahoma"/>
              </a:rPr>
              <a:t>Customer</a:t>
            </a:r>
            <a:r>
              <a:rPr sz="2300" b="1" spc="80" dirty="0">
                <a:latin typeface="Tahoma"/>
                <a:cs typeface="Tahoma"/>
              </a:rPr>
              <a:t> Engagement:</a:t>
            </a:r>
            <a:r>
              <a:rPr sz="2300" b="1" spc="85" dirty="0">
                <a:latin typeface="Tahoma"/>
                <a:cs typeface="Tahoma"/>
              </a:rPr>
              <a:t> </a:t>
            </a:r>
            <a:r>
              <a:rPr sz="2300" spc="20" dirty="0">
                <a:latin typeface="Verdana"/>
                <a:cs typeface="Verdana"/>
              </a:rPr>
              <a:t>The</a:t>
            </a:r>
            <a:r>
              <a:rPr sz="2300" spc="25" dirty="0">
                <a:latin typeface="Verdana"/>
                <a:cs typeface="Verdana"/>
              </a:rPr>
              <a:t> </a:t>
            </a:r>
            <a:r>
              <a:rPr sz="2300" spc="10" dirty="0">
                <a:latin typeface="Verdana"/>
                <a:cs typeface="Verdana"/>
              </a:rPr>
              <a:t>platform's</a:t>
            </a:r>
            <a:r>
              <a:rPr sz="2300" spc="15" dirty="0">
                <a:latin typeface="Verdana"/>
                <a:cs typeface="Verdana"/>
              </a:rPr>
              <a:t> </a:t>
            </a:r>
            <a:r>
              <a:rPr sz="2300" spc="25" dirty="0">
                <a:latin typeface="Verdana"/>
                <a:cs typeface="Verdana"/>
              </a:rPr>
              <a:t>substantial</a:t>
            </a:r>
            <a:r>
              <a:rPr sz="2300" spc="30" dirty="0">
                <a:latin typeface="Verdana"/>
                <a:cs typeface="Verdana"/>
              </a:rPr>
              <a:t> </a:t>
            </a:r>
            <a:r>
              <a:rPr sz="2300" spc="5" dirty="0">
                <a:latin typeface="Verdana"/>
                <a:cs typeface="Verdana"/>
              </a:rPr>
              <a:t>user </a:t>
            </a:r>
            <a:r>
              <a:rPr sz="2300" spc="10" dirty="0">
                <a:latin typeface="Verdana"/>
                <a:cs typeface="Verdana"/>
              </a:rPr>
              <a:t> </a:t>
            </a:r>
            <a:r>
              <a:rPr sz="2300" spc="90" dirty="0">
                <a:latin typeface="Verdana"/>
                <a:cs typeface="Verdana"/>
              </a:rPr>
              <a:t>engagement </a:t>
            </a:r>
            <a:r>
              <a:rPr sz="2300" spc="-35" dirty="0">
                <a:latin typeface="Verdana"/>
                <a:cs typeface="Verdana"/>
              </a:rPr>
              <a:t>is </a:t>
            </a:r>
            <a:r>
              <a:rPr sz="2300" spc="30" dirty="0">
                <a:latin typeface="Verdana"/>
                <a:cs typeface="Verdana"/>
              </a:rPr>
              <a:t>reﬂected </a:t>
            </a:r>
            <a:r>
              <a:rPr sz="2300" spc="55" dirty="0">
                <a:latin typeface="Verdana"/>
                <a:cs typeface="Verdana"/>
              </a:rPr>
              <a:t>in </a:t>
            </a:r>
            <a:r>
              <a:rPr sz="2300" spc="-15" dirty="0">
                <a:latin typeface="Verdana"/>
                <a:cs typeface="Verdana"/>
              </a:rPr>
              <a:t>nearly </a:t>
            </a:r>
            <a:r>
              <a:rPr sz="2300" spc="-375" dirty="0">
                <a:latin typeface="Verdana"/>
                <a:cs typeface="Verdana"/>
              </a:rPr>
              <a:t>1.5</a:t>
            </a:r>
            <a:r>
              <a:rPr sz="2300" spc="-370" dirty="0">
                <a:latin typeface="Verdana"/>
                <a:cs typeface="Verdana"/>
              </a:rPr>
              <a:t> </a:t>
            </a:r>
            <a:r>
              <a:rPr sz="2300" spc="55" dirty="0">
                <a:latin typeface="Verdana"/>
                <a:cs typeface="Verdana"/>
              </a:rPr>
              <a:t>million </a:t>
            </a:r>
            <a:r>
              <a:rPr sz="2300" spc="-80" dirty="0">
                <a:latin typeface="Verdana"/>
                <a:cs typeface="Verdana"/>
              </a:rPr>
              <a:t>votes. </a:t>
            </a:r>
            <a:r>
              <a:rPr sz="2300" spc="-25" dirty="0">
                <a:latin typeface="Verdana"/>
                <a:cs typeface="Verdana"/>
              </a:rPr>
              <a:t>However, </a:t>
            </a:r>
            <a:r>
              <a:rPr sz="2300" spc="-20" dirty="0">
                <a:latin typeface="Verdana"/>
                <a:cs typeface="Verdana"/>
              </a:rPr>
              <a:t> </a:t>
            </a:r>
            <a:r>
              <a:rPr sz="2300" spc="60" dirty="0">
                <a:latin typeface="Verdana"/>
                <a:cs typeface="Verdana"/>
              </a:rPr>
              <a:t>the </a:t>
            </a:r>
            <a:r>
              <a:rPr sz="2300" spc="-25" dirty="0">
                <a:latin typeface="Verdana"/>
                <a:cs typeface="Verdana"/>
              </a:rPr>
              <a:t>relatively </a:t>
            </a:r>
            <a:r>
              <a:rPr sz="2300" spc="60" dirty="0">
                <a:latin typeface="Verdana"/>
                <a:cs typeface="Verdana"/>
              </a:rPr>
              <a:t>low </a:t>
            </a:r>
            <a:r>
              <a:rPr sz="2300" spc="-20" dirty="0">
                <a:latin typeface="Verdana"/>
                <a:cs typeface="Verdana"/>
              </a:rPr>
              <a:t>average </a:t>
            </a:r>
            <a:r>
              <a:rPr sz="2300" spc="20" dirty="0">
                <a:latin typeface="Verdana"/>
                <a:cs typeface="Verdana"/>
              </a:rPr>
              <a:t>rating of </a:t>
            </a:r>
            <a:r>
              <a:rPr sz="2300" spc="-120" dirty="0">
                <a:latin typeface="Verdana"/>
                <a:cs typeface="Verdana"/>
              </a:rPr>
              <a:t>2.89 </a:t>
            </a:r>
            <a:r>
              <a:rPr sz="2300" spc="35" dirty="0">
                <a:latin typeface="Verdana"/>
                <a:cs typeface="Verdana"/>
              </a:rPr>
              <a:t>suggests </a:t>
            </a:r>
            <a:r>
              <a:rPr sz="2300" spc="65" dirty="0">
                <a:latin typeface="Verdana"/>
                <a:cs typeface="Verdana"/>
              </a:rPr>
              <a:t>room </a:t>
            </a:r>
            <a:r>
              <a:rPr sz="2300" spc="-15" dirty="0">
                <a:latin typeface="Verdana"/>
                <a:cs typeface="Verdana"/>
              </a:rPr>
              <a:t>for </a:t>
            </a:r>
            <a:r>
              <a:rPr sz="2300" spc="-10" dirty="0">
                <a:latin typeface="Verdana"/>
                <a:cs typeface="Verdana"/>
              </a:rPr>
              <a:t> </a:t>
            </a:r>
            <a:r>
              <a:rPr sz="2300" spc="55" dirty="0">
                <a:latin typeface="Verdana"/>
                <a:cs typeface="Verdana"/>
              </a:rPr>
              <a:t>improvement in </a:t>
            </a:r>
            <a:r>
              <a:rPr sz="2300" spc="50" dirty="0">
                <a:latin typeface="Verdana"/>
                <a:cs typeface="Verdana"/>
              </a:rPr>
              <a:t>customer </a:t>
            </a:r>
            <a:r>
              <a:rPr sz="2300" spc="-15" dirty="0">
                <a:latin typeface="Verdana"/>
                <a:cs typeface="Verdana"/>
              </a:rPr>
              <a:t>satisfaction, </a:t>
            </a:r>
            <a:r>
              <a:rPr sz="2300" spc="10" dirty="0">
                <a:latin typeface="Verdana"/>
                <a:cs typeface="Verdana"/>
              </a:rPr>
              <a:t>particularly </a:t>
            </a:r>
            <a:r>
              <a:rPr sz="2300" spc="55" dirty="0">
                <a:latin typeface="Verdana"/>
                <a:cs typeface="Verdana"/>
              </a:rPr>
              <a:t>in </a:t>
            </a:r>
            <a:r>
              <a:rPr sz="2300" spc="40" dirty="0">
                <a:latin typeface="Verdana"/>
                <a:cs typeface="Verdana"/>
              </a:rPr>
              <a:t>speciﬁc </a:t>
            </a:r>
            <a:r>
              <a:rPr sz="2300" spc="45" dirty="0">
                <a:latin typeface="Verdana"/>
                <a:cs typeface="Verdana"/>
              </a:rPr>
              <a:t> </a:t>
            </a:r>
            <a:r>
              <a:rPr sz="2300" spc="30" dirty="0">
                <a:latin typeface="Verdana"/>
                <a:cs typeface="Verdana"/>
              </a:rPr>
              <a:t>regions</a:t>
            </a:r>
            <a:r>
              <a:rPr sz="2300" spc="-204" dirty="0">
                <a:latin typeface="Verdana"/>
                <a:cs typeface="Verdana"/>
              </a:rPr>
              <a:t> </a:t>
            </a:r>
            <a:r>
              <a:rPr sz="2300" spc="5" dirty="0">
                <a:latin typeface="Verdana"/>
                <a:cs typeface="Verdana"/>
              </a:rPr>
              <a:t>or</a:t>
            </a:r>
            <a:r>
              <a:rPr sz="2300" spc="-200" dirty="0">
                <a:latin typeface="Verdana"/>
                <a:cs typeface="Verdana"/>
              </a:rPr>
              <a:t> </a:t>
            </a:r>
            <a:r>
              <a:rPr sz="2300" spc="-15" dirty="0">
                <a:latin typeface="Verdana"/>
                <a:cs typeface="Verdana"/>
              </a:rPr>
              <a:t>cuisines.</a:t>
            </a:r>
            <a:endParaRPr sz="2300">
              <a:latin typeface="Verdana"/>
              <a:cs typeface="Verdana"/>
            </a:endParaRPr>
          </a:p>
          <a:p>
            <a:pPr marL="366395" indent="-347345" algn="just">
              <a:lnSpc>
                <a:spcPct val="100000"/>
              </a:lnSpc>
              <a:spcBef>
                <a:spcPts val="15"/>
              </a:spcBef>
              <a:buFont typeface="Verdana"/>
              <a:buAutoNum type="arabicPeriod" startAt="2"/>
              <a:tabLst>
                <a:tab pos="367030" algn="l"/>
              </a:tabLst>
            </a:pPr>
            <a:r>
              <a:rPr sz="2300" b="1" spc="35" dirty="0">
                <a:latin typeface="Tahoma"/>
                <a:cs typeface="Tahoma"/>
              </a:rPr>
              <a:t>Key</a:t>
            </a:r>
            <a:r>
              <a:rPr sz="2300" b="1" spc="254" dirty="0">
                <a:latin typeface="Tahoma"/>
                <a:cs typeface="Tahoma"/>
              </a:rPr>
              <a:t> </a:t>
            </a:r>
            <a:r>
              <a:rPr sz="2300" b="1" dirty="0">
                <a:latin typeface="Tahoma"/>
                <a:cs typeface="Tahoma"/>
              </a:rPr>
              <a:t>Trends:</a:t>
            </a:r>
            <a:r>
              <a:rPr sz="2300" b="1" spc="260" dirty="0">
                <a:latin typeface="Tahoma"/>
                <a:cs typeface="Tahoma"/>
              </a:rPr>
              <a:t> </a:t>
            </a:r>
            <a:r>
              <a:rPr sz="2300" spc="20" dirty="0">
                <a:latin typeface="Verdana"/>
                <a:cs typeface="Verdana"/>
              </a:rPr>
              <a:t>The</a:t>
            </a:r>
            <a:r>
              <a:rPr sz="2300" spc="90" dirty="0">
                <a:latin typeface="Verdana"/>
                <a:cs typeface="Verdana"/>
              </a:rPr>
              <a:t> </a:t>
            </a:r>
            <a:r>
              <a:rPr sz="2300" spc="70" dirty="0">
                <a:latin typeface="Verdana"/>
                <a:cs typeface="Verdana"/>
              </a:rPr>
              <a:t>growth</a:t>
            </a:r>
            <a:r>
              <a:rPr sz="2300" spc="95" dirty="0">
                <a:latin typeface="Verdana"/>
                <a:cs typeface="Verdana"/>
              </a:rPr>
              <a:t> </a:t>
            </a:r>
            <a:r>
              <a:rPr sz="2300" spc="45" dirty="0">
                <a:latin typeface="Verdana"/>
                <a:cs typeface="Verdana"/>
              </a:rPr>
              <a:t>trend</a:t>
            </a:r>
            <a:r>
              <a:rPr sz="2300" spc="90" dirty="0">
                <a:latin typeface="Verdana"/>
                <a:cs typeface="Verdana"/>
              </a:rPr>
              <a:t> </a:t>
            </a:r>
            <a:r>
              <a:rPr sz="2300" spc="30" dirty="0">
                <a:latin typeface="Verdana"/>
                <a:cs typeface="Verdana"/>
              </a:rPr>
              <a:t>shows</a:t>
            </a:r>
            <a:r>
              <a:rPr sz="2300" spc="90" dirty="0">
                <a:latin typeface="Verdana"/>
                <a:cs typeface="Verdana"/>
              </a:rPr>
              <a:t> </a:t>
            </a:r>
            <a:r>
              <a:rPr sz="2300" spc="-10" dirty="0">
                <a:latin typeface="Verdana"/>
                <a:cs typeface="Verdana"/>
              </a:rPr>
              <a:t>a</a:t>
            </a:r>
            <a:r>
              <a:rPr sz="2300" spc="95" dirty="0">
                <a:latin typeface="Verdana"/>
                <a:cs typeface="Verdana"/>
              </a:rPr>
              <a:t> </a:t>
            </a:r>
            <a:r>
              <a:rPr sz="2300" spc="30" dirty="0">
                <a:latin typeface="Verdana"/>
                <a:cs typeface="Verdana"/>
              </a:rPr>
              <a:t>consistent</a:t>
            </a:r>
            <a:r>
              <a:rPr sz="2300" spc="90" dirty="0">
                <a:latin typeface="Verdana"/>
                <a:cs typeface="Verdana"/>
              </a:rPr>
              <a:t> </a:t>
            </a:r>
            <a:r>
              <a:rPr sz="2300" spc="10" dirty="0">
                <a:latin typeface="Verdana"/>
                <a:cs typeface="Verdana"/>
              </a:rPr>
              <a:t>increase</a:t>
            </a:r>
            <a:r>
              <a:rPr sz="2300" spc="90" dirty="0">
                <a:latin typeface="Verdana"/>
                <a:cs typeface="Verdana"/>
              </a:rPr>
              <a:t> </a:t>
            </a:r>
            <a:r>
              <a:rPr sz="2300" spc="55" dirty="0">
                <a:latin typeface="Verdana"/>
                <a:cs typeface="Verdana"/>
              </a:rPr>
              <a:t>in</a:t>
            </a:r>
            <a:endParaRPr sz="2300">
              <a:latin typeface="Verdana"/>
              <a:cs typeface="Verdana"/>
            </a:endParaRPr>
          </a:p>
          <a:p>
            <a:pPr marL="366395" marR="5080" algn="just">
              <a:lnSpc>
                <a:spcPct val="100499"/>
              </a:lnSpc>
              <a:spcBef>
                <a:spcPts val="75"/>
              </a:spcBef>
            </a:pPr>
            <a:r>
              <a:rPr sz="2300" dirty="0">
                <a:latin typeface="Verdana"/>
                <a:cs typeface="Verdana"/>
              </a:rPr>
              <a:t>restaurant </a:t>
            </a:r>
            <a:r>
              <a:rPr sz="2300" spc="45" dirty="0">
                <a:latin typeface="Verdana"/>
                <a:cs typeface="Verdana"/>
              </a:rPr>
              <a:t>additions </a:t>
            </a:r>
            <a:r>
              <a:rPr sz="2300" spc="110" dirty="0">
                <a:latin typeface="Verdana"/>
                <a:cs typeface="Verdana"/>
              </a:rPr>
              <a:t>month </a:t>
            </a:r>
            <a:r>
              <a:rPr sz="2300" spc="-35" dirty="0">
                <a:latin typeface="Verdana"/>
                <a:cs typeface="Verdana"/>
              </a:rPr>
              <a:t>over </a:t>
            </a:r>
            <a:r>
              <a:rPr sz="2300" spc="35" dirty="0">
                <a:latin typeface="Verdana"/>
                <a:cs typeface="Verdana"/>
              </a:rPr>
              <a:t>month, </a:t>
            </a:r>
            <a:r>
              <a:rPr sz="2300" spc="60" dirty="0">
                <a:latin typeface="Verdana"/>
                <a:cs typeface="Verdana"/>
              </a:rPr>
              <a:t>peaking </a:t>
            </a:r>
            <a:r>
              <a:rPr sz="2300" spc="55" dirty="0">
                <a:latin typeface="Verdana"/>
                <a:cs typeface="Verdana"/>
              </a:rPr>
              <a:t>in </a:t>
            </a:r>
            <a:r>
              <a:rPr sz="2300" spc="-45" dirty="0">
                <a:latin typeface="Verdana"/>
                <a:cs typeface="Verdana"/>
              </a:rPr>
              <a:t>mid-year. </a:t>
            </a:r>
            <a:r>
              <a:rPr sz="2300" spc="-795" dirty="0">
                <a:latin typeface="Verdana"/>
                <a:cs typeface="Verdana"/>
              </a:rPr>
              <a:t> </a:t>
            </a:r>
            <a:r>
              <a:rPr sz="2300" spc="20" dirty="0">
                <a:latin typeface="Verdana"/>
                <a:cs typeface="Verdana"/>
              </a:rPr>
              <a:t>The</a:t>
            </a:r>
            <a:r>
              <a:rPr sz="2300" spc="25" dirty="0">
                <a:latin typeface="Verdana"/>
                <a:cs typeface="Verdana"/>
              </a:rPr>
              <a:t> </a:t>
            </a:r>
            <a:r>
              <a:rPr sz="2300" spc="105" dirty="0">
                <a:latin typeface="Verdana"/>
                <a:cs typeface="Verdana"/>
              </a:rPr>
              <a:t>UK </a:t>
            </a:r>
            <a:r>
              <a:rPr sz="2300" spc="80" dirty="0">
                <a:latin typeface="Verdana"/>
                <a:cs typeface="Verdana"/>
              </a:rPr>
              <a:t>and </a:t>
            </a:r>
            <a:r>
              <a:rPr sz="2300" spc="105" dirty="0">
                <a:latin typeface="Verdana"/>
                <a:cs typeface="Verdana"/>
              </a:rPr>
              <a:t>UAE </a:t>
            </a:r>
            <a:r>
              <a:rPr sz="2300" spc="-20" dirty="0">
                <a:latin typeface="Verdana"/>
                <a:cs typeface="Verdana"/>
              </a:rPr>
              <a:t>are</a:t>
            </a:r>
            <a:r>
              <a:rPr sz="2300" spc="-15" dirty="0">
                <a:latin typeface="Verdana"/>
                <a:cs typeface="Verdana"/>
              </a:rPr>
              <a:t> </a:t>
            </a:r>
            <a:r>
              <a:rPr sz="2300" spc="55" dirty="0">
                <a:latin typeface="Verdana"/>
                <a:cs typeface="Verdana"/>
              </a:rPr>
              <a:t>leading</a:t>
            </a:r>
            <a:r>
              <a:rPr sz="2300" spc="60" dirty="0">
                <a:latin typeface="Verdana"/>
                <a:cs typeface="Verdana"/>
              </a:rPr>
              <a:t> </a:t>
            </a:r>
            <a:r>
              <a:rPr sz="2300" spc="-25" dirty="0">
                <a:latin typeface="Verdana"/>
                <a:cs typeface="Verdana"/>
              </a:rPr>
              <a:t>markets,</a:t>
            </a:r>
            <a:r>
              <a:rPr sz="2300" spc="-20" dirty="0">
                <a:latin typeface="Verdana"/>
                <a:cs typeface="Verdana"/>
              </a:rPr>
              <a:t> </a:t>
            </a:r>
            <a:r>
              <a:rPr sz="2300" spc="75" dirty="0">
                <a:latin typeface="Verdana"/>
                <a:cs typeface="Verdana"/>
              </a:rPr>
              <a:t>with </a:t>
            </a:r>
            <a:r>
              <a:rPr sz="2300" spc="60" dirty="0">
                <a:latin typeface="Verdana"/>
                <a:cs typeface="Verdana"/>
              </a:rPr>
              <a:t>the</a:t>
            </a:r>
            <a:r>
              <a:rPr sz="2300" spc="65" dirty="0">
                <a:latin typeface="Verdana"/>
                <a:cs typeface="Verdana"/>
              </a:rPr>
              <a:t> </a:t>
            </a:r>
            <a:r>
              <a:rPr sz="2300" spc="55" dirty="0">
                <a:latin typeface="Verdana"/>
                <a:cs typeface="Verdana"/>
              </a:rPr>
              <a:t>highest </a:t>
            </a:r>
            <a:r>
              <a:rPr sz="2300" spc="60" dirty="0">
                <a:latin typeface="Verdana"/>
                <a:cs typeface="Verdana"/>
              </a:rPr>
              <a:t> </a:t>
            </a:r>
            <a:r>
              <a:rPr sz="2300" spc="95" dirty="0">
                <a:latin typeface="Verdana"/>
                <a:cs typeface="Verdana"/>
              </a:rPr>
              <a:t>number </a:t>
            </a:r>
            <a:r>
              <a:rPr sz="2300" spc="20" dirty="0">
                <a:latin typeface="Verdana"/>
                <a:cs typeface="Verdana"/>
              </a:rPr>
              <a:t>of </a:t>
            </a:r>
            <a:r>
              <a:rPr sz="2300" spc="-35" dirty="0">
                <a:latin typeface="Verdana"/>
                <a:cs typeface="Verdana"/>
              </a:rPr>
              <a:t>restaurants. </a:t>
            </a:r>
            <a:r>
              <a:rPr sz="2300" dirty="0">
                <a:latin typeface="Verdana"/>
                <a:cs typeface="Verdana"/>
              </a:rPr>
              <a:t>Additionally, </a:t>
            </a:r>
            <a:r>
              <a:rPr sz="2300" spc="50" dirty="0">
                <a:latin typeface="Verdana"/>
                <a:cs typeface="Verdana"/>
              </a:rPr>
              <a:t>online </a:t>
            </a:r>
            <a:r>
              <a:rPr sz="2300" spc="-10" dirty="0">
                <a:latin typeface="Verdana"/>
                <a:cs typeface="Verdana"/>
              </a:rPr>
              <a:t>delivery </a:t>
            </a:r>
            <a:r>
              <a:rPr sz="2300" spc="80" dirty="0">
                <a:latin typeface="Verdana"/>
                <a:cs typeface="Verdana"/>
              </a:rPr>
              <a:t>and </a:t>
            </a:r>
            <a:r>
              <a:rPr sz="2300" spc="40" dirty="0">
                <a:latin typeface="Verdana"/>
                <a:cs typeface="Verdana"/>
              </a:rPr>
              <a:t>table </a:t>
            </a:r>
            <a:r>
              <a:rPr sz="2300" spc="-795" dirty="0">
                <a:latin typeface="Verdana"/>
                <a:cs typeface="Verdana"/>
              </a:rPr>
              <a:t> </a:t>
            </a:r>
            <a:r>
              <a:rPr sz="2300" spc="80" dirty="0">
                <a:latin typeface="Verdana"/>
                <a:cs typeface="Verdana"/>
              </a:rPr>
              <a:t>booking </a:t>
            </a:r>
            <a:r>
              <a:rPr sz="2300" spc="-15" dirty="0">
                <a:latin typeface="Verdana"/>
                <a:cs typeface="Verdana"/>
              </a:rPr>
              <a:t>services </a:t>
            </a:r>
            <a:r>
              <a:rPr sz="2300" spc="-20" dirty="0">
                <a:latin typeface="Verdana"/>
                <a:cs typeface="Verdana"/>
              </a:rPr>
              <a:t>are </a:t>
            </a:r>
            <a:r>
              <a:rPr sz="2300" spc="-30" dirty="0">
                <a:latin typeface="Verdana"/>
                <a:cs typeface="Verdana"/>
              </a:rPr>
              <a:t>essential, </a:t>
            </a:r>
            <a:r>
              <a:rPr sz="2300" spc="75" dirty="0">
                <a:latin typeface="Verdana"/>
                <a:cs typeface="Verdana"/>
              </a:rPr>
              <a:t>with </a:t>
            </a:r>
            <a:r>
              <a:rPr sz="2300" dirty="0">
                <a:latin typeface="Verdana"/>
                <a:cs typeface="Verdana"/>
              </a:rPr>
              <a:t>extremely </a:t>
            </a:r>
            <a:r>
              <a:rPr sz="2300" spc="95" dirty="0">
                <a:latin typeface="Verdana"/>
                <a:cs typeface="Verdana"/>
              </a:rPr>
              <a:t>high </a:t>
            </a:r>
            <a:r>
              <a:rPr sz="2300" spc="65" dirty="0">
                <a:latin typeface="Verdana"/>
                <a:cs typeface="Verdana"/>
              </a:rPr>
              <a:t>adoption </a:t>
            </a:r>
            <a:r>
              <a:rPr sz="2300" spc="70" dirty="0">
                <a:latin typeface="Verdana"/>
                <a:cs typeface="Verdana"/>
              </a:rPr>
              <a:t> </a:t>
            </a:r>
            <a:r>
              <a:rPr sz="2300" spc="-160" dirty="0">
                <a:latin typeface="Verdana"/>
                <a:cs typeface="Verdana"/>
              </a:rPr>
              <a:t>r</a:t>
            </a:r>
            <a:r>
              <a:rPr sz="2300" spc="15" dirty="0">
                <a:latin typeface="Verdana"/>
                <a:cs typeface="Verdana"/>
              </a:rPr>
              <a:t>a</a:t>
            </a:r>
            <a:r>
              <a:rPr sz="2300" spc="-35" dirty="0">
                <a:latin typeface="Verdana"/>
                <a:cs typeface="Verdana"/>
              </a:rPr>
              <a:t>t</a:t>
            </a:r>
            <a:r>
              <a:rPr sz="2300" spc="-15" dirty="0">
                <a:latin typeface="Verdana"/>
                <a:cs typeface="Verdana"/>
              </a:rPr>
              <a:t>es</a:t>
            </a:r>
            <a:r>
              <a:rPr sz="2300" spc="-200" dirty="0">
                <a:latin typeface="Verdana"/>
                <a:cs typeface="Verdana"/>
              </a:rPr>
              <a:t> </a:t>
            </a:r>
            <a:r>
              <a:rPr sz="2300" spc="110" dirty="0">
                <a:latin typeface="Verdana"/>
                <a:cs typeface="Verdana"/>
              </a:rPr>
              <a:t>among</a:t>
            </a:r>
            <a:r>
              <a:rPr sz="2300" spc="-200" dirty="0">
                <a:latin typeface="Verdana"/>
                <a:cs typeface="Verdana"/>
              </a:rPr>
              <a:t> </a:t>
            </a:r>
            <a:r>
              <a:rPr sz="2300" spc="5" dirty="0">
                <a:latin typeface="Verdana"/>
                <a:cs typeface="Verdana"/>
              </a:rPr>
              <a:t>use</a:t>
            </a:r>
            <a:r>
              <a:rPr sz="2300" dirty="0">
                <a:latin typeface="Verdana"/>
                <a:cs typeface="Verdana"/>
              </a:rPr>
              <a:t>r</a:t>
            </a:r>
            <a:r>
              <a:rPr sz="2300" spc="-204" dirty="0">
                <a:latin typeface="Verdana"/>
                <a:cs typeface="Verdana"/>
              </a:rPr>
              <a:t>s.</a:t>
            </a:r>
            <a:endParaRPr sz="2300">
              <a:latin typeface="Verdana"/>
              <a:cs typeface="Verdana"/>
            </a:endParaRPr>
          </a:p>
          <a:p>
            <a:pPr marL="366395" marR="5080" indent="-347345" algn="just">
              <a:lnSpc>
                <a:spcPct val="100499"/>
              </a:lnSpc>
              <a:spcBef>
                <a:spcPts val="75"/>
              </a:spcBef>
            </a:pPr>
            <a:r>
              <a:rPr sz="2300" spc="110" dirty="0">
                <a:latin typeface="Verdana"/>
                <a:cs typeface="Verdana"/>
              </a:rPr>
              <a:t>“. </a:t>
            </a:r>
            <a:r>
              <a:rPr sz="2300" b="1" spc="30" dirty="0">
                <a:latin typeface="Tahoma"/>
                <a:cs typeface="Tahoma"/>
              </a:rPr>
              <a:t>Strategic </a:t>
            </a:r>
            <a:r>
              <a:rPr sz="2300" b="1" spc="90" dirty="0">
                <a:latin typeface="Tahoma"/>
                <a:cs typeface="Tahoma"/>
              </a:rPr>
              <a:t>Focus </a:t>
            </a:r>
            <a:r>
              <a:rPr sz="2300" b="1" spc="-10" dirty="0">
                <a:latin typeface="Tahoma"/>
                <a:cs typeface="Tahoma"/>
              </a:rPr>
              <a:t>Areas: </a:t>
            </a:r>
            <a:r>
              <a:rPr sz="2300" spc="20" dirty="0">
                <a:latin typeface="Verdana"/>
                <a:cs typeface="Verdana"/>
              </a:rPr>
              <a:t>The </a:t>
            </a:r>
            <a:r>
              <a:rPr sz="2300" spc="25" dirty="0">
                <a:latin typeface="Verdana"/>
                <a:cs typeface="Verdana"/>
              </a:rPr>
              <a:t>popularity </a:t>
            </a:r>
            <a:r>
              <a:rPr sz="2300" spc="20" dirty="0">
                <a:latin typeface="Verdana"/>
                <a:cs typeface="Verdana"/>
              </a:rPr>
              <a:t>of </a:t>
            </a:r>
            <a:r>
              <a:rPr sz="2300" spc="30" dirty="0">
                <a:latin typeface="Verdana"/>
                <a:cs typeface="Verdana"/>
              </a:rPr>
              <a:t>certain </a:t>
            </a:r>
            <a:r>
              <a:rPr sz="2300" spc="25" dirty="0">
                <a:latin typeface="Verdana"/>
                <a:cs typeface="Verdana"/>
              </a:rPr>
              <a:t>cuisines </a:t>
            </a:r>
            <a:r>
              <a:rPr sz="2300" dirty="0">
                <a:latin typeface="Verdana"/>
                <a:cs typeface="Verdana"/>
              </a:rPr>
              <a:t>like </a:t>
            </a:r>
            <a:r>
              <a:rPr sz="2300" spc="5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Turkish </a:t>
            </a:r>
            <a:r>
              <a:rPr sz="2300" spc="80" dirty="0">
                <a:latin typeface="Verdana"/>
                <a:cs typeface="Verdana"/>
              </a:rPr>
              <a:t>and </a:t>
            </a:r>
            <a:r>
              <a:rPr sz="2300" spc="5" dirty="0">
                <a:latin typeface="Verdana"/>
                <a:cs typeface="Verdana"/>
              </a:rPr>
              <a:t>Brazilian </a:t>
            </a:r>
            <a:r>
              <a:rPr sz="2300" spc="-15" dirty="0">
                <a:latin typeface="Verdana"/>
                <a:cs typeface="Verdana"/>
              </a:rPr>
              <a:t>offers </a:t>
            </a:r>
            <a:r>
              <a:rPr sz="2300" spc="-10" dirty="0">
                <a:latin typeface="Verdana"/>
                <a:cs typeface="Verdana"/>
              </a:rPr>
              <a:t>a </a:t>
            </a:r>
            <a:r>
              <a:rPr sz="2300" spc="30" dirty="0">
                <a:latin typeface="Verdana"/>
                <a:cs typeface="Verdana"/>
              </a:rPr>
              <a:t>pathway </a:t>
            </a:r>
            <a:r>
              <a:rPr sz="2300" spc="-15" dirty="0">
                <a:latin typeface="Verdana"/>
                <a:cs typeface="Verdana"/>
              </a:rPr>
              <a:t>for </a:t>
            </a:r>
            <a:r>
              <a:rPr sz="2300" spc="35" dirty="0">
                <a:latin typeface="Verdana"/>
                <a:cs typeface="Verdana"/>
              </a:rPr>
              <a:t>targeted </a:t>
            </a:r>
            <a:r>
              <a:rPr sz="2300" spc="50" dirty="0">
                <a:latin typeface="Verdana"/>
                <a:cs typeface="Verdana"/>
              </a:rPr>
              <a:t>marketing </a:t>
            </a:r>
            <a:r>
              <a:rPr sz="2300" spc="-795" dirty="0">
                <a:latin typeface="Verdana"/>
                <a:cs typeface="Verdana"/>
              </a:rPr>
              <a:t> </a:t>
            </a:r>
            <a:r>
              <a:rPr sz="2300" spc="80" dirty="0">
                <a:latin typeface="Verdana"/>
                <a:cs typeface="Verdana"/>
              </a:rPr>
              <a:t>and</a:t>
            </a:r>
            <a:r>
              <a:rPr sz="2300" spc="85" dirty="0">
                <a:latin typeface="Verdana"/>
                <a:cs typeface="Verdana"/>
              </a:rPr>
              <a:t> </a:t>
            </a:r>
            <a:r>
              <a:rPr sz="2300" spc="-15" dirty="0">
                <a:latin typeface="Verdana"/>
                <a:cs typeface="Verdana"/>
              </a:rPr>
              <a:t>expansion.</a:t>
            </a:r>
            <a:r>
              <a:rPr sz="2300" spc="-10" dirty="0">
                <a:latin typeface="Verdana"/>
                <a:cs typeface="Verdana"/>
              </a:rPr>
              <a:t> </a:t>
            </a:r>
            <a:r>
              <a:rPr sz="2300" spc="30" dirty="0">
                <a:latin typeface="Verdana"/>
                <a:cs typeface="Verdana"/>
              </a:rPr>
              <a:t>Meanwhile,</a:t>
            </a:r>
            <a:r>
              <a:rPr sz="2300" spc="35" dirty="0">
                <a:latin typeface="Verdana"/>
                <a:cs typeface="Verdana"/>
              </a:rPr>
              <a:t> </a:t>
            </a:r>
            <a:r>
              <a:rPr sz="2300" spc="60" dirty="0">
                <a:latin typeface="Verdana"/>
                <a:cs typeface="Verdana"/>
              </a:rPr>
              <a:t>the</a:t>
            </a:r>
            <a:r>
              <a:rPr sz="2300" spc="65" dirty="0">
                <a:latin typeface="Verdana"/>
                <a:cs typeface="Verdana"/>
              </a:rPr>
              <a:t> </a:t>
            </a:r>
            <a:r>
              <a:rPr sz="2300" spc="40" dirty="0">
                <a:latin typeface="Verdana"/>
                <a:cs typeface="Verdana"/>
              </a:rPr>
              <a:t>distribution</a:t>
            </a:r>
            <a:r>
              <a:rPr sz="2300" spc="45" dirty="0">
                <a:latin typeface="Verdana"/>
                <a:cs typeface="Verdana"/>
              </a:rPr>
              <a:t> </a:t>
            </a:r>
            <a:r>
              <a:rPr sz="2300" spc="20" dirty="0">
                <a:latin typeface="Verdana"/>
                <a:cs typeface="Verdana"/>
              </a:rPr>
              <a:t>of</a:t>
            </a:r>
            <a:r>
              <a:rPr sz="2300" spc="25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restaurant </a:t>
            </a:r>
            <a:r>
              <a:rPr sz="2300" spc="5" dirty="0">
                <a:latin typeface="Verdana"/>
                <a:cs typeface="Verdana"/>
              </a:rPr>
              <a:t> </a:t>
            </a:r>
            <a:r>
              <a:rPr sz="2300" spc="10" dirty="0">
                <a:latin typeface="Verdana"/>
                <a:cs typeface="Verdana"/>
              </a:rPr>
              <a:t>ratings </a:t>
            </a:r>
            <a:r>
              <a:rPr sz="2300" spc="5" dirty="0">
                <a:latin typeface="Verdana"/>
                <a:cs typeface="Verdana"/>
              </a:rPr>
              <a:t>calls </a:t>
            </a:r>
            <a:r>
              <a:rPr sz="2300" spc="-15" dirty="0">
                <a:latin typeface="Verdana"/>
                <a:cs typeface="Verdana"/>
              </a:rPr>
              <a:t>for </a:t>
            </a:r>
            <a:r>
              <a:rPr sz="2300" spc="20" dirty="0">
                <a:latin typeface="Verdana"/>
                <a:cs typeface="Verdana"/>
              </a:rPr>
              <a:t>quality </a:t>
            </a:r>
            <a:r>
              <a:rPr sz="2300" spc="55" dirty="0">
                <a:latin typeface="Verdana"/>
                <a:cs typeface="Verdana"/>
              </a:rPr>
              <a:t>improvement </a:t>
            </a:r>
            <a:r>
              <a:rPr sz="2300" spc="-30" dirty="0">
                <a:latin typeface="Verdana"/>
                <a:cs typeface="Verdana"/>
              </a:rPr>
              <a:t>initiatives, </a:t>
            </a:r>
            <a:r>
              <a:rPr sz="2300" spc="10" dirty="0">
                <a:latin typeface="Verdana"/>
                <a:cs typeface="Verdana"/>
              </a:rPr>
              <a:t>especially </a:t>
            </a:r>
            <a:r>
              <a:rPr sz="2300" spc="-15" dirty="0">
                <a:latin typeface="Verdana"/>
                <a:cs typeface="Verdana"/>
              </a:rPr>
              <a:t>for </a:t>
            </a:r>
            <a:r>
              <a:rPr sz="2300" spc="-10" dirty="0">
                <a:latin typeface="Verdana"/>
                <a:cs typeface="Verdana"/>
              </a:rPr>
              <a:t> </a:t>
            </a:r>
            <a:r>
              <a:rPr sz="2300" spc="-85" dirty="0">
                <a:latin typeface="Verdana"/>
                <a:cs typeface="Verdana"/>
              </a:rPr>
              <a:t>r</a:t>
            </a:r>
            <a:r>
              <a:rPr sz="2300" spc="20" dirty="0">
                <a:latin typeface="Verdana"/>
                <a:cs typeface="Verdana"/>
              </a:rPr>
              <a:t>estau</a:t>
            </a:r>
            <a:r>
              <a:rPr sz="2300" spc="-160" dirty="0">
                <a:latin typeface="Verdana"/>
                <a:cs typeface="Verdana"/>
              </a:rPr>
              <a:t>r</a:t>
            </a:r>
            <a:r>
              <a:rPr sz="2300" spc="20" dirty="0">
                <a:latin typeface="Verdana"/>
                <a:cs typeface="Verdana"/>
              </a:rPr>
              <a:t>ants</a:t>
            </a:r>
            <a:r>
              <a:rPr sz="2300" spc="-200" dirty="0">
                <a:latin typeface="Verdana"/>
                <a:cs typeface="Verdana"/>
              </a:rPr>
              <a:t> </a:t>
            </a:r>
            <a:r>
              <a:rPr sz="2300" spc="75" dirty="0">
                <a:latin typeface="Verdana"/>
                <a:cs typeface="Verdana"/>
              </a:rPr>
              <a:t>with</a:t>
            </a:r>
            <a:r>
              <a:rPr sz="2300" spc="-200" dirty="0">
                <a:latin typeface="Verdana"/>
                <a:cs typeface="Verdana"/>
              </a:rPr>
              <a:t> </a:t>
            </a:r>
            <a:r>
              <a:rPr sz="2300" spc="15" dirty="0">
                <a:latin typeface="Verdana"/>
                <a:cs typeface="Verdana"/>
              </a:rPr>
              <a:t>l</a:t>
            </a:r>
            <a:r>
              <a:rPr sz="2300" dirty="0">
                <a:latin typeface="Verdana"/>
                <a:cs typeface="Verdana"/>
              </a:rPr>
              <a:t>o</a:t>
            </a:r>
            <a:r>
              <a:rPr sz="2300" spc="125" dirty="0">
                <a:latin typeface="Verdana"/>
                <a:cs typeface="Verdana"/>
              </a:rPr>
              <a:t>w</a:t>
            </a:r>
            <a:r>
              <a:rPr sz="2300" spc="-10" dirty="0">
                <a:latin typeface="Verdana"/>
                <a:cs typeface="Verdana"/>
              </a:rPr>
              <a:t>er</a:t>
            </a:r>
            <a:r>
              <a:rPr sz="2300" spc="-200" dirty="0">
                <a:latin typeface="Verdana"/>
                <a:cs typeface="Verdana"/>
              </a:rPr>
              <a:t> </a:t>
            </a:r>
            <a:r>
              <a:rPr sz="2300" spc="-160" dirty="0">
                <a:latin typeface="Verdana"/>
                <a:cs typeface="Verdana"/>
              </a:rPr>
              <a:t>r</a:t>
            </a:r>
            <a:r>
              <a:rPr sz="2300" spc="-20" dirty="0">
                <a:latin typeface="Verdana"/>
                <a:cs typeface="Verdana"/>
              </a:rPr>
              <a:t>atings.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860344" y="386740"/>
            <a:ext cx="4001770" cy="8597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450" spc="229" dirty="0">
                <a:solidFill>
                  <a:srgbClr val="000000"/>
                </a:solidFill>
              </a:rPr>
              <a:t>C</a:t>
            </a:r>
            <a:r>
              <a:rPr sz="5450" spc="210" dirty="0">
                <a:solidFill>
                  <a:srgbClr val="000000"/>
                </a:solidFill>
              </a:rPr>
              <a:t>o</a:t>
            </a:r>
            <a:r>
              <a:rPr sz="5450" spc="220" dirty="0">
                <a:solidFill>
                  <a:srgbClr val="000000"/>
                </a:solidFill>
              </a:rPr>
              <a:t>n</a:t>
            </a:r>
            <a:r>
              <a:rPr sz="5450" spc="275" dirty="0">
                <a:solidFill>
                  <a:srgbClr val="000000"/>
                </a:solidFill>
              </a:rPr>
              <a:t>c</a:t>
            </a:r>
            <a:r>
              <a:rPr sz="5450" spc="90" dirty="0">
                <a:solidFill>
                  <a:srgbClr val="000000"/>
                </a:solidFill>
              </a:rPr>
              <a:t>lusion</a:t>
            </a:r>
            <a:endParaRPr sz="545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81177" y="316116"/>
            <a:ext cx="7125970" cy="23056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950" spc="345" dirty="0">
                <a:solidFill>
                  <a:srgbClr val="FFFFFF"/>
                </a:solidFill>
                <a:latin typeface="Cambria"/>
                <a:cs typeface="Cambria"/>
              </a:rPr>
              <a:t>T</a:t>
            </a:r>
            <a:r>
              <a:rPr sz="14950" spc="-40" dirty="0">
                <a:solidFill>
                  <a:srgbClr val="FFFFFF"/>
                </a:solidFill>
                <a:latin typeface="Cambria"/>
                <a:cs typeface="Cambria"/>
              </a:rPr>
              <a:t>h</a:t>
            </a:r>
            <a:r>
              <a:rPr sz="14950" spc="-45" dirty="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sz="14950" spc="-150" dirty="0">
                <a:solidFill>
                  <a:srgbClr val="FFFFFF"/>
                </a:solidFill>
                <a:latin typeface="Cambria"/>
                <a:cs typeface="Cambria"/>
              </a:rPr>
              <a:t>nks!</a:t>
            </a:r>
            <a:endParaRPr sz="14950">
              <a:latin typeface="Cambria"/>
              <a:cs typeface="Cambri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10112" y="2438397"/>
            <a:ext cx="8867774" cy="7277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2496</Words>
  <Application>Microsoft Office PowerPoint</Application>
  <PresentationFormat>Custom</PresentationFormat>
  <Paragraphs>143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Cambria</vt:lpstr>
      <vt:lpstr>Tahoma</vt:lpstr>
      <vt:lpstr>Verdana</vt:lpstr>
      <vt:lpstr>Office Theme</vt:lpstr>
      <vt:lpstr>Zomato Restaurant  Analysis</vt:lpstr>
      <vt:lpstr>Introduction:</vt:lpstr>
      <vt:lpstr>Objectives:</vt:lpstr>
      <vt:lpstr>Content: Summary  of the Dataset</vt:lpstr>
      <vt:lpstr>Data Cleaning &amp; Preprocessing:</vt:lpstr>
      <vt:lpstr>Methodology</vt:lpstr>
      <vt:lpstr>Average votes per country</vt:lpstr>
      <vt:lpstr>Annual Restaurant Openings Overview:</vt:lpstr>
      <vt:lpstr>PowerPoint Presentation</vt:lpstr>
      <vt:lpstr>High-Rated Competitors:</vt:lpstr>
      <vt:lpstr>E pand in High-Rating Areas</vt:lpstr>
      <vt:lpstr>Improve Performance in Low-Rating Areas</vt:lpstr>
      <vt:lpstr>Leverage Customer Feedback and Benchmarking</vt:lpstr>
      <vt:lpstr>Dashboard and Visualizations</vt:lpstr>
      <vt:lpstr>Showcase:</vt:lpstr>
      <vt:lpstr>PowerPoint Presentation</vt:lpstr>
      <vt:lpstr>Interactivity:</vt:lpstr>
      <vt:lpstr>Conclusion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Rajeeb Sahu</cp:lastModifiedBy>
  <cp:revision>1</cp:revision>
  <dcterms:created xsi:type="dcterms:W3CDTF">2024-08-21T05:47:04Z</dcterms:created>
  <dcterms:modified xsi:type="dcterms:W3CDTF">2024-08-21T06:06:49Z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2024-08-21T00:00:00Z</vt:filetime>
  </property>
  <property fmtid="{D5CDD505-2E9C-101B-9397-08002B2CF9AE}" pid="3" name="Creator">
    <vt:lpwstr>Chromium</vt:lpwstr>
  </property>
  <property fmtid="{D5CDD505-2E9C-101B-9397-08002B2CF9AE}" pid="4" name="LastSaved">
    <vt:filetime>2024-08-21T00:00:00Z</vt:filetime>
  </property>
</Properties>
</file>